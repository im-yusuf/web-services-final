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0"/>
            <a:ext cx="7315200" cy="1371600"/>
          </a:xfrm>
          <a:prstGeom prst="rect">
            <a:avLst/>
          </a:prstGeom>
          <a:noFill/>
        </p:spPr>
        <p:txBody>
          <a:bodyPr wrap="square">
            <a:spAutoFit/>
          </a:bodyPr>
          <a:lstStyle/>
          <a:p>
            <a:pPr algn="l"/>
            <a:r>
              <a:rPr sz="6000" b="1">
                <a:solidFill>
                  <a:srgbClr val="FFFFFF"/>
                </a:solidFill>
              </a:rPr>
              <a:t>EcoNest</a:t>
            </a:r>
          </a:p>
        </p:txBody>
      </p:sp>
      <p:sp>
        <p:nvSpPr>
          <p:cNvPr id="4" name="TextBox 3"/>
          <p:cNvSpPr txBox="1"/>
          <p:nvPr/>
        </p:nvSpPr>
        <p:spPr>
          <a:xfrm>
            <a:off x="457200" y="2651760"/>
            <a:ext cx="9144000" cy="731520"/>
          </a:xfrm>
          <a:prstGeom prst="rect">
            <a:avLst/>
          </a:prstGeom>
          <a:noFill/>
        </p:spPr>
        <p:txBody>
          <a:bodyPr wrap="square">
            <a:spAutoFit/>
          </a:bodyPr>
          <a:lstStyle/>
          <a:p>
            <a:pPr algn="l"/>
            <a:r>
              <a:rPr sz="2600" b="0">
                <a:solidFill>
                  <a:srgbClr val="38BDF8"/>
                </a:solidFill>
              </a:rPr>
              <a:t>UK Housing Market Analytics API</a:t>
            </a:r>
          </a:p>
        </p:txBody>
      </p:sp>
      <p:sp>
        <p:nvSpPr>
          <p:cNvPr id="5" name="TextBox 4"/>
          <p:cNvSpPr txBox="1"/>
          <p:nvPr/>
        </p:nvSpPr>
        <p:spPr>
          <a:xfrm>
            <a:off x="457200" y="3383280"/>
            <a:ext cx="9144000" cy="457200"/>
          </a:xfrm>
          <a:prstGeom prst="rect">
            <a:avLst/>
          </a:prstGeom>
          <a:noFill/>
        </p:spPr>
        <p:txBody>
          <a:bodyPr wrap="square">
            <a:spAutoFit/>
          </a:bodyPr>
          <a:lstStyle/>
          <a:p>
            <a:pPr algn="l"/>
            <a:r>
              <a:rPr sz="1600" b="0">
                <a:solidFill>
                  <a:srgbClr val="94A3B8"/>
                </a:solidFill>
              </a:rPr>
              <a:t>COMP3011 — Web Services &amp; Web Data  |  March 2026</a:t>
            </a:r>
          </a:p>
        </p:txBody>
      </p:sp>
      <p:sp>
        <p:nvSpPr>
          <p:cNvPr id="6" name="Rectangle 5"/>
          <p:cNvSpPr/>
          <p:nvPr/>
        </p:nvSpPr>
        <p:spPr>
          <a:xfrm>
            <a:off x="457200" y="4206240"/>
            <a:ext cx="2286000" cy="41148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224528"/>
            <a:ext cx="2194560" cy="365760"/>
          </a:xfrm>
          <a:prstGeom prst="rect">
            <a:avLst/>
          </a:prstGeom>
          <a:noFill/>
        </p:spPr>
        <p:txBody>
          <a:bodyPr wrap="square">
            <a:spAutoFit/>
          </a:bodyPr>
          <a:lstStyle/>
          <a:p>
            <a:pPr algn="ctr"/>
            <a:r>
              <a:rPr sz="1300" b="0">
                <a:solidFill>
                  <a:srgbClr val="38BDF8"/>
                </a:solidFill>
              </a:rPr>
              <a:t>Express + TypeScript</a:t>
            </a:r>
          </a:p>
        </p:txBody>
      </p:sp>
      <p:sp>
        <p:nvSpPr>
          <p:cNvPr id="8" name="Rectangle 7"/>
          <p:cNvSpPr/>
          <p:nvPr/>
        </p:nvSpPr>
        <p:spPr>
          <a:xfrm>
            <a:off x="2926080" y="4206240"/>
            <a:ext cx="2286000" cy="41148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71800" y="4224528"/>
            <a:ext cx="2194560" cy="365760"/>
          </a:xfrm>
          <a:prstGeom prst="rect">
            <a:avLst/>
          </a:prstGeom>
          <a:noFill/>
        </p:spPr>
        <p:txBody>
          <a:bodyPr wrap="square">
            <a:spAutoFit/>
          </a:bodyPr>
          <a:lstStyle/>
          <a:p>
            <a:pPr algn="ctr"/>
            <a:r>
              <a:rPr sz="1300" b="0">
                <a:solidFill>
                  <a:srgbClr val="38BDF8"/>
                </a:solidFill>
              </a:rPr>
              <a:t>PostgreSQL + Prisma</a:t>
            </a:r>
          </a:p>
        </p:txBody>
      </p:sp>
      <p:sp>
        <p:nvSpPr>
          <p:cNvPr id="10" name="Rectangle 9"/>
          <p:cNvSpPr/>
          <p:nvPr/>
        </p:nvSpPr>
        <p:spPr>
          <a:xfrm>
            <a:off x="5394960" y="4206240"/>
            <a:ext cx="2286000" cy="41148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40680" y="4224528"/>
            <a:ext cx="2194560" cy="365760"/>
          </a:xfrm>
          <a:prstGeom prst="rect">
            <a:avLst/>
          </a:prstGeom>
          <a:noFill/>
        </p:spPr>
        <p:txBody>
          <a:bodyPr wrap="square">
            <a:spAutoFit/>
          </a:bodyPr>
          <a:lstStyle/>
          <a:p>
            <a:pPr algn="ctr"/>
            <a:r>
              <a:rPr sz="1300" b="0">
                <a:solidFill>
                  <a:srgbClr val="38BDF8"/>
                </a:solidFill>
              </a:rPr>
              <a:t>Vue 3 + Pinia</a:t>
            </a:r>
          </a:p>
        </p:txBody>
      </p:sp>
      <p:sp>
        <p:nvSpPr>
          <p:cNvPr id="12" name="Rectangle 11"/>
          <p:cNvSpPr/>
          <p:nvPr/>
        </p:nvSpPr>
        <p:spPr>
          <a:xfrm>
            <a:off x="7863840" y="4206240"/>
            <a:ext cx="2286000" cy="41148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4224528"/>
            <a:ext cx="2194560" cy="365760"/>
          </a:xfrm>
          <a:prstGeom prst="rect">
            <a:avLst/>
          </a:prstGeom>
          <a:noFill/>
        </p:spPr>
        <p:txBody>
          <a:bodyPr wrap="square">
            <a:spAutoFit/>
          </a:bodyPr>
          <a:lstStyle/>
          <a:p>
            <a:pPr algn="ctr"/>
            <a:r>
              <a:rPr sz="1300" b="0">
                <a:solidFill>
                  <a:srgbClr val="38BDF8"/>
                </a:solidFill>
              </a:rPr>
              <a:t>Land Registry Data</a:t>
            </a:r>
          </a:p>
        </p:txBody>
      </p:sp>
      <p:sp>
        <p:nvSpPr>
          <p:cNvPr id="14" name="TextBox 13"/>
          <p:cNvSpPr txBox="1"/>
          <p:nvPr/>
        </p:nvSpPr>
        <p:spPr>
          <a:xfrm>
            <a:off x="457200" y="6035040"/>
            <a:ext cx="10972800" cy="457200"/>
          </a:xfrm>
          <a:prstGeom prst="rect">
            <a:avLst/>
          </a:prstGeom>
          <a:noFill/>
        </p:spPr>
        <p:txBody>
          <a:bodyPr wrap="square">
            <a:spAutoFit/>
          </a:bodyPr>
          <a:lstStyle/>
          <a:p>
            <a:pPr algn="ctr"/>
            <a:r>
              <a:rPr sz="1100" b="0">
                <a:solidFill>
                  <a:srgbClr val="94A3B8"/>
                </a:solidFill>
              </a:rPr>
              <a:t>HM Land Registry Price Paid Data  •  2024–2025  •  Full-stack deployed application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9144000" cy="548640"/>
          </a:xfrm>
          <a:prstGeom prst="rect">
            <a:avLst/>
          </a:prstGeom>
          <a:noFill/>
        </p:spPr>
        <p:txBody>
          <a:bodyPr wrap="square">
            <a:spAutoFit/>
          </a:bodyPr>
          <a:lstStyle/>
          <a:p>
            <a:pPr algn="l"/>
            <a:r>
              <a:rPr sz="3200" b="1">
                <a:solidFill>
                  <a:srgbClr val="FFFFFF"/>
                </a:solidFill>
              </a:rPr>
              <a:t>Project Overview</a:t>
            </a:r>
          </a:p>
        </p:txBody>
      </p:sp>
      <p:sp>
        <p:nvSpPr>
          <p:cNvPr id="4" name="Rectangle 3"/>
          <p:cNvSpPr/>
          <p:nvPr/>
        </p:nvSpPr>
        <p:spPr>
          <a:xfrm>
            <a:off x="365760" y="868680"/>
            <a:ext cx="1145743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51560"/>
            <a:ext cx="5303520" cy="457200"/>
          </a:xfrm>
          <a:prstGeom prst="rect">
            <a:avLst/>
          </a:prstGeom>
          <a:noFill/>
        </p:spPr>
        <p:txBody>
          <a:bodyPr wrap="square">
            <a:spAutoFit/>
          </a:bodyPr>
          <a:lstStyle/>
          <a:p>
            <a:pPr algn="l"/>
            <a:r>
              <a:rPr sz="1800" b="1">
                <a:solidFill>
                  <a:srgbClr val="38BDF8"/>
                </a:solidFill>
              </a:rPr>
              <a:t>What is EcoNest?</a:t>
            </a:r>
          </a:p>
        </p:txBody>
      </p:sp>
      <p:sp>
        <p:nvSpPr>
          <p:cNvPr id="6" name="TextBox 5"/>
          <p:cNvSpPr txBox="1"/>
          <p:nvPr/>
        </p:nvSpPr>
        <p:spPr>
          <a:xfrm>
            <a:off x="457200" y="1554480"/>
            <a:ext cx="5303520" cy="2560320"/>
          </a:xfrm>
          <a:prstGeom prst="rect">
            <a:avLst/>
          </a:prstGeom>
          <a:noFill/>
        </p:spPr>
        <p:txBody>
          <a:bodyPr wrap="square">
            <a:spAutoFit/>
          </a:bodyPr>
          <a:lstStyle/>
          <a:p>
            <a:pPr algn="l"/>
            <a:r>
              <a:rPr sz="1400" b="0">
                <a:solidFill>
                  <a:srgbClr val="FFFFFF"/>
                </a:solidFill>
              </a:rPr>
              <a:t>A RESTful API and interactive web application that transforms raw HM Land Registry transaction records into actionable housing market intelligence.
Users can explore price trends, regional heatmaps, affordability metrics, and save property listings — all backed by real 2024–2025 transaction data.</a:t>
            </a:r>
          </a:p>
        </p:txBody>
      </p:sp>
      <p:sp>
        <p:nvSpPr>
          <p:cNvPr id="7" name="Rectangle 6"/>
          <p:cNvSpPr/>
          <p:nvPr/>
        </p:nvSpPr>
        <p:spPr>
          <a:xfrm>
            <a:off x="6217920" y="1005840"/>
            <a:ext cx="5577840" cy="502920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188720"/>
            <a:ext cx="5120640" cy="457200"/>
          </a:xfrm>
          <a:prstGeom prst="rect">
            <a:avLst/>
          </a:prstGeom>
          <a:noFill/>
        </p:spPr>
        <p:txBody>
          <a:bodyPr wrap="square">
            <a:spAutoFit/>
          </a:bodyPr>
          <a:lstStyle/>
          <a:p>
            <a:pPr algn="l"/>
            <a:r>
              <a:rPr sz="1800" b="1">
                <a:solidFill>
                  <a:srgbClr val="FBBF24"/>
                </a:solidFill>
              </a:rPr>
              <a:t>Why This Matters</a:t>
            </a:r>
          </a:p>
        </p:txBody>
      </p:sp>
      <p:sp>
        <p:nvSpPr>
          <p:cNvPr id="9" name="TextBox 8"/>
          <p:cNvSpPr txBox="1"/>
          <p:nvPr/>
        </p:nvSpPr>
        <p:spPr>
          <a:xfrm>
            <a:off x="6400800" y="1737360"/>
            <a:ext cx="5029200" cy="685800"/>
          </a:xfrm>
          <a:prstGeom prst="rect">
            <a:avLst/>
          </a:prstGeom>
          <a:noFill/>
        </p:spPr>
        <p:txBody>
          <a:bodyPr wrap="square">
            <a:spAutoFit/>
          </a:bodyPr>
          <a:lstStyle/>
          <a:p>
            <a:pPr algn="l"/>
            <a:r>
              <a:rPr sz="1300" b="0">
                <a:solidFill>
                  <a:srgbClr val="FFFFFF"/>
                </a:solidFill>
              </a:rPr>
              <a:t>🏠  Raw Land Registry CSVs are inaccessible to most users</a:t>
            </a:r>
          </a:p>
        </p:txBody>
      </p:sp>
      <p:sp>
        <p:nvSpPr>
          <p:cNvPr id="10" name="TextBox 9"/>
          <p:cNvSpPr txBox="1"/>
          <p:nvPr/>
        </p:nvSpPr>
        <p:spPr>
          <a:xfrm>
            <a:off x="6400800" y="2514600"/>
            <a:ext cx="5029200" cy="685800"/>
          </a:xfrm>
          <a:prstGeom prst="rect">
            <a:avLst/>
          </a:prstGeom>
          <a:noFill/>
        </p:spPr>
        <p:txBody>
          <a:bodyPr wrap="square">
            <a:spAutoFit/>
          </a:bodyPr>
          <a:lstStyle/>
          <a:p>
            <a:pPr algn="l"/>
            <a:r>
              <a:rPr sz="1300" b="0">
                <a:solidFill>
                  <a:srgbClr val="FFFFFF"/>
                </a:solidFill>
              </a:rPr>
              <a:t>📊  No free tool provides programmatic access to trend analytics</a:t>
            </a:r>
          </a:p>
        </p:txBody>
      </p:sp>
      <p:sp>
        <p:nvSpPr>
          <p:cNvPr id="11" name="TextBox 10"/>
          <p:cNvSpPr txBox="1"/>
          <p:nvPr/>
        </p:nvSpPr>
        <p:spPr>
          <a:xfrm>
            <a:off x="6400800" y="3291839"/>
            <a:ext cx="5029200" cy="685800"/>
          </a:xfrm>
          <a:prstGeom prst="rect">
            <a:avLst/>
          </a:prstGeom>
          <a:noFill/>
        </p:spPr>
        <p:txBody>
          <a:bodyPr wrap="square">
            <a:spAutoFit/>
          </a:bodyPr>
          <a:lstStyle/>
          <a:p>
            <a:pPr algn="l"/>
            <a:r>
              <a:rPr sz="1300" b="0">
                <a:solidFill>
                  <a:srgbClr val="FFFFFF"/>
                </a:solidFill>
              </a:rPr>
              <a:t>💷  Affordability is a critical policy and personal finance question</a:t>
            </a:r>
          </a:p>
        </p:txBody>
      </p:sp>
      <p:sp>
        <p:nvSpPr>
          <p:cNvPr id="12" name="TextBox 11"/>
          <p:cNvSpPr txBox="1"/>
          <p:nvPr/>
        </p:nvSpPr>
        <p:spPr>
          <a:xfrm>
            <a:off x="6400800" y="4069079"/>
            <a:ext cx="5029200" cy="685800"/>
          </a:xfrm>
          <a:prstGeom prst="rect">
            <a:avLst/>
          </a:prstGeom>
          <a:noFill/>
        </p:spPr>
        <p:txBody>
          <a:bodyPr wrap="square">
            <a:spAutoFit/>
          </a:bodyPr>
          <a:lstStyle/>
          <a:p>
            <a:pPr algn="l"/>
            <a:r>
              <a:rPr sz="1300" b="0">
                <a:solidFill>
                  <a:srgbClr val="FFFFFF"/>
                </a:solidFill>
              </a:rPr>
              <a:t>🔍  Multi-year data enables genuine growth rate calculations</a:t>
            </a:r>
          </a:p>
        </p:txBody>
      </p:sp>
      <p:sp>
        <p:nvSpPr>
          <p:cNvPr id="13" name="TextBox 12"/>
          <p:cNvSpPr txBox="1"/>
          <p:nvPr/>
        </p:nvSpPr>
        <p:spPr>
          <a:xfrm>
            <a:off x="6400800" y="4846320"/>
            <a:ext cx="5029200" cy="685800"/>
          </a:xfrm>
          <a:prstGeom prst="rect">
            <a:avLst/>
          </a:prstGeom>
          <a:noFill/>
        </p:spPr>
        <p:txBody>
          <a:bodyPr wrap="square">
            <a:spAutoFit/>
          </a:bodyPr>
          <a:lstStyle/>
          <a:p>
            <a:pPr algn="l"/>
            <a:r>
              <a:rPr sz="1300" b="0">
                <a:solidFill>
                  <a:srgbClr val="FFFFFF"/>
                </a:solidFill>
              </a:rPr>
              <a:t>🛡️  Authenticated multi-user system with real session management</a:t>
            </a:r>
          </a:p>
        </p:txBody>
      </p:sp>
      <p:sp>
        <p:nvSpPr>
          <p:cNvPr id="14" name="Rectangle 13"/>
          <p:cNvSpPr/>
          <p:nvPr/>
        </p:nvSpPr>
        <p:spPr>
          <a:xfrm>
            <a:off x="457200" y="4389120"/>
            <a:ext cx="5303520" cy="64008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434840"/>
            <a:ext cx="5120640" cy="502920"/>
          </a:xfrm>
          <a:prstGeom prst="rect">
            <a:avLst/>
          </a:prstGeom>
          <a:noFill/>
        </p:spPr>
        <p:txBody>
          <a:bodyPr wrap="square">
            <a:spAutoFit/>
          </a:bodyPr>
          <a:lstStyle/>
          <a:p>
            <a:pPr algn="l"/>
            <a:r>
              <a:rPr sz="1200" b="0">
                <a:solidFill>
                  <a:srgbClr val="34D399"/>
                </a:solidFill>
              </a:rPr>
              <a:t>📁  Data Source: HM Land Registry Price Paid  •  ~500k+ transactions  •  2024–2025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9144000" cy="548640"/>
          </a:xfrm>
          <a:prstGeom prst="rect">
            <a:avLst/>
          </a:prstGeom>
          <a:noFill/>
        </p:spPr>
        <p:txBody>
          <a:bodyPr wrap="square">
            <a:spAutoFit/>
          </a:bodyPr>
          <a:lstStyle/>
          <a:p>
            <a:pPr algn="l"/>
            <a:r>
              <a:rPr sz="3200" b="1">
                <a:solidFill>
                  <a:srgbClr val="FFFFFF"/>
                </a:solidFill>
              </a:rPr>
              <a:t>System Architecture</a:t>
            </a:r>
          </a:p>
        </p:txBody>
      </p:sp>
      <p:sp>
        <p:nvSpPr>
          <p:cNvPr id="4" name="Rectangle 3"/>
          <p:cNvSpPr/>
          <p:nvPr/>
        </p:nvSpPr>
        <p:spPr>
          <a:xfrm>
            <a:off x="365760" y="868680"/>
            <a:ext cx="1145743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80160"/>
            <a:ext cx="3291840" cy="146304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3108960" cy="502920"/>
          </a:xfrm>
          <a:prstGeom prst="rect">
            <a:avLst/>
          </a:prstGeom>
          <a:noFill/>
        </p:spPr>
        <p:txBody>
          <a:bodyPr wrap="square">
            <a:spAutoFit/>
          </a:bodyPr>
          <a:lstStyle/>
          <a:p>
            <a:pPr algn="ctr"/>
            <a:r>
              <a:rPr sz="1600" b="1">
                <a:solidFill>
                  <a:srgbClr val="38BDF8"/>
                </a:solidFill>
              </a:rPr>
              <a:t>👤  Browser</a:t>
            </a:r>
          </a:p>
        </p:txBody>
      </p:sp>
      <p:sp>
        <p:nvSpPr>
          <p:cNvPr id="7" name="TextBox 6"/>
          <p:cNvSpPr txBox="1"/>
          <p:nvPr/>
        </p:nvSpPr>
        <p:spPr>
          <a:xfrm>
            <a:off x="640080" y="1828800"/>
            <a:ext cx="3108960" cy="731520"/>
          </a:xfrm>
          <a:prstGeom prst="rect">
            <a:avLst/>
          </a:prstGeom>
          <a:noFill/>
        </p:spPr>
        <p:txBody>
          <a:bodyPr wrap="square">
            <a:spAutoFit/>
          </a:bodyPr>
          <a:lstStyle/>
          <a:p>
            <a:pPr algn="ctr"/>
            <a:r>
              <a:rPr sz="1300" b="0">
                <a:solidFill>
                  <a:srgbClr val="FFFFFF"/>
                </a:solidFill>
              </a:rPr>
              <a:t>Vue 3 SPA
Vercel CDN</a:t>
            </a:r>
          </a:p>
        </p:txBody>
      </p:sp>
      <p:sp>
        <p:nvSpPr>
          <p:cNvPr id="8" name="TextBox 7"/>
          <p:cNvSpPr txBox="1"/>
          <p:nvPr/>
        </p:nvSpPr>
        <p:spPr>
          <a:xfrm>
            <a:off x="3840480" y="1828800"/>
            <a:ext cx="822960" cy="457200"/>
          </a:xfrm>
          <a:prstGeom prst="rect">
            <a:avLst/>
          </a:prstGeom>
          <a:noFill/>
        </p:spPr>
        <p:txBody>
          <a:bodyPr wrap="square">
            <a:spAutoFit/>
          </a:bodyPr>
          <a:lstStyle/>
          <a:p>
            <a:pPr algn="ctr"/>
            <a:r>
              <a:rPr sz="2000" b="0">
                <a:solidFill>
                  <a:srgbClr val="94A3B8"/>
                </a:solidFill>
              </a:rPr>
              <a:t>──────►</a:t>
            </a:r>
          </a:p>
        </p:txBody>
      </p:sp>
      <p:sp>
        <p:nvSpPr>
          <p:cNvPr id="9" name="Rectangle 8"/>
          <p:cNvSpPr/>
          <p:nvPr/>
        </p:nvSpPr>
        <p:spPr>
          <a:xfrm>
            <a:off x="4389120" y="1280160"/>
            <a:ext cx="3291840" cy="146304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371600"/>
            <a:ext cx="3108960" cy="502920"/>
          </a:xfrm>
          <a:prstGeom prst="rect">
            <a:avLst/>
          </a:prstGeom>
          <a:noFill/>
        </p:spPr>
        <p:txBody>
          <a:bodyPr wrap="square">
            <a:spAutoFit/>
          </a:bodyPr>
          <a:lstStyle/>
          <a:p>
            <a:pPr algn="ctr"/>
            <a:r>
              <a:rPr sz="1600" b="1">
                <a:solidFill>
                  <a:srgbClr val="34D399"/>
                </a:solidFill>
              </a:rPr>
              <a:t>⚡  API Layer</a:t>
            </a:r>
          </a:p>
        </p:txBody>
      </p:sp>
      <p:sp>
        <p:nvSpPr>
          <p:cNvPr id="11" name="TextBox 10"/>
          <p:cNvSpPr txBox="1"/>
          <p:nvPr/>
        </p:nvSpPr>
        <p:spPr>
          <a:xfrm>
            <a:off x="4480560" y="1828800"/>
            <a:ext cx="3108960" cy="731520"/>
          </a:xfrm>
          <a:prstGeom prst="rect">
            <a:avLst/>
          </a:prstGeom>
          <a:noFill/>
        </p:spPr>
        <p:txBody>
          <a:bodyPr wrap="square">
            <a:spAutoFit/>
          </a:bodyPr>
          <a:lstStyle/>
          <a:p>
            <a:pPr algn="ctr"/>
            <a:r>
              <a:rPr sz="1300" b="0">
                <a:solidFill>
                  <a:srgbClr val="FFFFFF"/>
                </a:solidFill>
              </a:rPr>
              <a:t>Express + TypeScript
Railway Cloud</a:t>
            </a:r>
          </a:p>
        </p:txBody>
      </p:sp>
      <p:sp>
        <p:nvSpPr>
          <p:cNvPr id="12" name="TextBox 11"/>
          <p:cNvSpPr txBox="1"/>
          <p:nvPr/>
        </p:nvSpPr>
        <p:spPr>
          <a:xfrm>
            <a:off x="7680960" y="1828800"/>
            <a:ext cx="822960" cy="457200"/>
          </a:xfrm>
          <a:prstGeom prst="rect">
            <a:avLst/>
          </a:prstGeom>
          <a:noFill/>
        </p:spPr>
        <p:txBody>
          <a:bodyPr wrap="square">
            <a:spAutoFit/>
          </a:bodyPr>
          <a:lstStyle/>
          <a:p>
            <a:pPr algn="ctr"/>
            <a:r>
              <a:rPr sz="2000" b="0">
                <a:solidFill>
                  <a:srgbClr val="94A3B8"/>
                </a:solidFill>
              </a:rPr>
              <a:t>──────►</a:t>
            </a:r>
          </a:p>
        </p:txBody>
      </p:sp>
      <p:sp>
        <p:nvSpPr>
          <p:cNvPr id="13" name="Rectangle 12"/>
          <p:cNvSpPr/>
          <p:nvPr/>
        </p:nvSpPr>
        <p:spPr>
          <a:xfrm>
            <a:off x="8229600" y="1280160"/>
            <a:ext cx="3291840" cy="146304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1371600"/>
            <a:ext cx="3108960" cy="502920"/>
          </a:xfrm>
          <a:prstGeom prst="rect">
            <a:avLst/>
          </a:prstGeom>
          <a:noFill/>
        </p:spPr>
        <p:txBody>
          <a:bodyPr wrap="square">
            <a:spAutoFit/>
          </a:bodyPr>
          <a:lstStyle/>
          <a:p>
            <a:pPr algn="ctr"/>
            <a:r>
              <a:rPr sz="1600" b="1">
                <a:solidFill>
                  <a:srgbClr val="FBBF24"/>
                </a:solidFill>
              </a:rPr>
              <a:t>🗄️  Data Layer</a:t>
            </a:r>
          </a:p>
        </p:txBody>
      </p:sp>
      <p:sp>
        <p:nvSpPr>
          <p:cNvPr id="15" name="TextBox 14"/>
          <p:cNvSpPr txBox="1"/>
          <p:nvPr/>
        </p:nvSpPr>
        <p:spPr>
          <a:xfrm>
            <a:off x="8321040" y="1828800"/>
            <a:ext cx="3108960" cy="731520"/>
          </a:xfrm>
          <a:prstGeom prst="rect">
            <a:avLst/>
          </a:prstGeom>
          <a:noFill/>
        </p:spPr>
        <p:txBody>
          <a:bodyPr wrap="square">
            <a:spAutoFit/>
          </a:bodyPr>
          <a:lstStyle/>
          <a:p>
            <a:pPr algn="ctr"/>
            <a:r>
              <a:rPr sz="1300" b="0">
                <a:solidFill>
                  <a:srgbClr val="FFFFFF"/>
                </a:solidFill>
              </a:rPr>
              <a:t>PostgreSQL 17
Prisma ORM</a:t>
            </a:r>
          </a:p>
        </p:txBody>
      </p:sp>
      <p:sp>
        <p:nvSpPr>
          <p:cNvPr id="16" name="TextBox 15"/>
          <p:cNvSpPr txBox="1"/>
          <p:nvPr/>
        </p:nvSpPr>
        <p:spPr>
          <a:xfrm>
            <a:off x="457200" y="2926080"/>
            <a:ext cx="10972800" cy="411480"/>
          </a:xfrm>
          <a:prstGeom prst="rect">
            <a:avLst/>
          </a:prstGeom>
          <a:noFill/>
        </p:spPr>
        <p:txBody>
          <a:bodyPr wrap="square">
            <a:spAutoFit/>
          </a:bodyPr>
          <a:lstStyle/>
          <a:p>
            <a:pPr algn="l"/>
            <a:r>
              <a:rPr sz="1700" b="1">
                <a:solidFill>
                  <a:srgbClr val="38BDF8"/>
                </a:solidFill>
              </a:rPr>
              <a:t>Backend Request Pipeline</a:t>
            </a:r>
          </a:p>
        </p:txBody>
      </p:sp>
      <p:sp>
        <p:nvSpPr>
          <p:cNvPr id="17" name="Rectangle 16"/>
          <p:cNvSpPr/>
          <p:nvPr/>
        </p:nvSpPr>
        <p:spPr>
          <a:xfrm>
            <a:off x="457200" y="3429000"/>
            <a:ext cx="2743200" cy="109728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493008"/>
            <a:ext cx="2560320" cy="365760"/>
          </a:xfrm>
          <a:prstGeom prst="rect">
            <a:avLst/>
          </a:prstGeom>
          <a:noFill/>
        </p:spPr>
        <p:txBody>
          <a:bodyPr wrap="square">
            <a:spAutoFit/>
          </a:bodyPr>
          <a:lstStyle/>
          <a:p>
            <a:pPr algn="ctr"/>
            <a:r>
              <a:rPr sz="1400" b="1">
                <a:solidFill>
                  <a:srgbClr val="38BDF8"/>
                </a:solidFill>
              </a:rPr>
              <a:t>Routes</a:t>
            </a:r>
          </a:p>
        </p:txBody>
      </p:sp>
      <p:sp>
        <p:nvSpPr>
          <p:cNvPr id="19" name="TextBox 18"/>
          <p:cNvSpPr txBox="1"/>
          <p:nvPr/>
        </p:nvSpPr>
        <p:spPr>
          <a:xfrm>
            <a:off x="548640" y="3840480"/>
            <a:ext cx="2560320" cy="594360"/>
          </a:xfrm>
          <a:prstGeom prst="rect">
            <a:avLst/>
          </a:prstGeom>
          <a:noFill/>
        </p:spPr>
        <p:txBody>
          <a:bodyPr wrap="square">
            <a:spAutoFit/>
          </a:bodyPr>
          <a:lstStyle/>
          <a:p>
            <a:pPr algn="ctr"/>
            <a:r>
              <a:rPr sz="1100" b="0">
                <a:solidFill>
                  <a:srgbClr val="94A3B8"/>
                </a:solidFill>
              </a:rPr>
              <a:t>URL pattern → controller mapping</a:t>
            </a:r>
          </a:p>
        </p:txBody>
      </p:sp>
      <p:sp>
        <p:nvSpPr>
          <p:cNvPr id="20" name="TextBox 19"/>
          <p:cNvSpPr txBox="1"/>
          <p:nvPr/>
        </p:nvSpPr>
        <p:spPr>
          <a:xfrm>
            <a:off x="3200400" y="3749039"/>
            <a:ext cx="274320" cy="365760"/>
          </a:xfrm>
          <a:prstGeom prst="rect">
            <a:avLst/>
          </a:prstGeom>
          <a:noFill/>
        </p:spPr>
        <p:txBody>
          <a:bodyPr wrap="square">
            <a:spAutoFit/>
          </a:bodyPr>
          <a:lstStyle/>
          <a:p>
            <a:pPr algn="ctr"/>
            <a:r>
              <a:rPr sz="2000" b="0">
                <a:solidFill>
                  <a:srgbClr val="94A3B8"/>
                </a:solidFill>
              </a:rPr>
              <a:t>→</a:t>
            </a:r>
          </a:p>
        </p:txBody>
      </p:sp>
      <p:sp>
        <p:nvSpPr>
          <p:cNvPr id="21" name="Rectangle 20"/>
          <p:cNvSpPr/>
          <p:nvPr/>
        </p:nvSpPr>
        <p:spPr>
          <a:xfrm>
            <a:off x="3337560" y="3429000"/>
            <a:ext cx="2743200" cy="109728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29000" y="3493008"/>
            <a:ext cx="2560320" cy="365760"/>
          </a:xfrm>
          <a:prstGeom prst="rect">
            <a:avLst/>
          </a:prstGeom>
          <a:noFill/>
        </p:spPr>
        <p:txBody>
          <a:bodyPr wrap="square">
            <a:spAutoFit/>
          </a:bodyPr>
          <a:lstStyle/>
          <a:p>
            <a:pPr algn="ctr"/>
            <a:r>
              <a:rPr sz="1400" b="1">
                <a:solidFill>
                  <a:srgbClr val="38BDF8"/>
                </a:solidFill>
              </a:rPr>
              <a:t>Middleware</a:t>
            </a:r>
          </a:p>
        </p:txBody>
      </p:sp>
      <p:sp>
        <p:nvSpPr>
          <p:cNvPr id="23" name="TextBox 22"/>
          <p:cNvSpPr txBox="1"/>
          <p:nvPr/>
        </p:nvSpPr>
        <p:spPr>
          <a:xfrm>
            <a:off x="3429000" y="3840480"/>
            <a:ext cx="2560320" cy="594360"/>
          </a:xfrm>
          <a:prstGeom prst="rect">
            <a:avLst/>
          </a:prstGeom>
          <a:noFill/>
        </p:spPr>
        <p:txBody>
          <a:bodyPr wrap="square">
            <a:spAutoFit/>
          </a:bodyPr>
          <a:lstStyle/>
          <a:p>
            <a:pPr algn="ctr"/>
            <a:r>
              <a:rPr sz="1100" b="0">
                <a:solidFill>
                  <a:srgbClr val="94A3B8"/>
                </a:solidFill>
              </a:rPr>
              <a:t>Auth check → Zod validation → error handler</a:t>
            </a:r>
          </a:p>
        </p:txBody>
      </p:sp>
      <p:sp>
        <p:nvSpPr>
          <p:cNvPr id="24" name="TextBox 23"/>
          <p:cNvSpPr txBox="1"/>
          <p:nvPr/>
        </p:nvSpPr>
        <p:spPr>
          <a:xfrm>
            <a:off x="6080760" y="3749039"/>
            <a:ext cx="274320" cy="365760"/>
          </a:xfrm>
          <a:prstGeom prst="rect">
            <a:avLst/>
          </a:prstGeom>
          <a:noFill/>
        </p:spPr>
        <p:txBody>
          <a:bodyPr wrap="square">
            <a:spAutoFit/>
          </a:bodyPr>
          <a:lstStyle/>
          <a:p>
            <a:pPr algn="ctr"/>
            <a:r>
              <a:rPr sz="2000" b="0">
                <a:solidFill>
                  <a:srgbClr val="94A3B8"/>
                </a:solidFill>
              </a:rPr>
              <a:t>→</a:t>
            </a:r>
          </a:p>
        </p:txBody>
      </p:sp>
      <p:sp>
        <p:nvSpPr>
          <p:cNvPr id="25" name="Rectangle 24"/>
          <p:cNvSpPr/>
          <p:nvPr/>
        </p:nvSpPr>
        <p:spPr>
          <a:xfrm>
            <a:off x="6217920" y="3429000"/>
            <a:ext cx="2743200" cy="109728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3493008"/>
            <a:ext cx="2560320" cy="365760"/>
          </a:xfrm>
          <a:prstGeom prst="rect">
            <a:avLst/>
          </a:prstGeom>
          <a:noFill/>
        </p:spPr>
        <p:txBody>
          <a:bodyPr wrap="square">
            <a:spAutoFit/>
          </a:bodyPr>
          <a:lstStyle/>
          <a:p>
            <a:pPr algn="ctr"/>
            <a:r>
              <a:rPr sz="1400" b="1">
                <a:solidFill>
                  <a:srgbClr val="38BDF8"/>
                </a:solidFill>
              </a:rPr>
              <a:t>Controllers</a:t>
            </a:r>
          </a:p>
        </p:txBody>
      </p:sp>
      <p:sp>
        <p:nvSpPr>
          <p:cNvPr id="27" name="TextBox 26"/>
          <p:cNvSpPr txBox="1"/>
          <p:nvPr/>
        </p:nvSpPr>
        <p:spPr>
          <a:xfrm>
            <a:off x="6309360" y="3840480"/>
            <a:ext cx="2560320" cy="594360"/>
          </a:xfrm>
          <a:prstGeom prst="rect">
            <a:avLst/>
          </a:prstGeom>
          <a:noFill/>
        </p:spPr>
        <p:txBody>
          <a:bodyPr wrap="square">
            <a:spAutoFit/>
          </a:bodyPr>
          <a:lstStyle/>
          <a:p>
            <a:pPr algn="ctr"/>
            <a:r>
              <a:rPr sz="1100" b="0">
                <a:solidFill>
                  <a:srgbClr val="94A3B8"/>
                </a:solidFill>
              </a:rPr>
              <a:t>HTTP adapter: parse inputs, call service, format response</a:t>
            </a:r>
          </a:p>
        </p:txBody>
      </p:sp>
      <p:sp>
        <p:nvSpPr>
          <p:cNvPr id="28" name="TextBox 27"/>
          <p:cNvSpPr txBox="1"/>
          <p:nvPr/>
        </p:nvSpPr>
        <p:spPr>
          <a:xfrm>
            <a:off x="8961120" y="3749039"/>
            <a:ext cx="274320" cy="365760"/>
          </a:xfrm>
          <a:prstGeom prst="rect">
            <a:avLst/>
          </a:prstGeom>
          <a:noFill/>
        </p:spPr>
        <p:txBody>
          <a:bodyPr wrap="square">
            <a:spAutoFit/>
          </a:bodyPr>
          <a:lstStyle/>
          <a:p>
            <a:pPr algn="ctr"/>
            <a:r>
              <a:rPr sz="2000" b="0">
                <a:solidFill>
                  <a:srgbClr val="94A3B8"/>
                </a:solidFill>
              </a:rPr>
              <a:t>→</a:t>
            </a:r>
          </a:p>
        </p:txBody>
      </p:sp>
      <p:sp>
        <p:nvSpPr>
          <p:cNvPr id="29" name="Rectangle 28"/>
          <p:cNvSpPr/>
          <p:nvPr/>
        </p:nvSpPr>
        <p:spPr>
          <a:xfrm>
            <a:off x="9098280" y="3429000"/>
            <a:ext cx="2743200" cy="109728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89720" y="3493008"/>
            <a:ext cx="2560320" cy="365760"/>
          </a:xfrm>
          <a:prstGeom prst="rect">
            <a:avLst/>
          </a:prstGeom>
          <a:noFill/>
        </p:spPr>
        <p:txBody>
          <a:bodyPr wrap="square">
            <a:spAutoFit/>
          </a:bodyPr>
          <a:lstStyle/>
          <a:p>
            <a:pPr algn="ctr"/>
            <a:r>
              <a:rPr sz="1400" b="1">
                <a:solidFill>
                  <a:srgbClr val="38BDF8"/>
                </a:solidFill>
              </a:rPr>
              <a:t>Services</a:t>
            </a:r>
          </a:p>
        </p:txBody>
      </p:sp>
      <p:sp>
        <p:nvSpPr>
          <p:cNvPr id="31" name="TextBox 30"/>
          <p:cNvSpPr txBox="1"/>
          <p:nvPr/>
        </p:nvSpPr>
        <p:spPr>
          <a:xfrm>
            <a:off x="9189720" y="3840480"/>
            <a:ext cx="2560320" cy="594360"/>
          </a:xfrm>
          <a:prstGeom prst="rect">
            <a:avLst/>
          </a:prstGeom>
          <a:noFill/>
        </p:spPr>
        <p:txBody>
          <a:bodyPr wrap="square">
            <a:spAutoFit/>
          </a:bodyPr>
          <a:lstStyle/>
          <a:p>
            <a:pPr algn="ctr"/>
            <a:r>
              <a:rPr sz="1100" b="0">
                <a:solidFill>
                  <a:srgbClr val="94A3B8"/>
                </a:solidFill>
              </a:rPr>
              <a:t>Business logic: DB queries, aggregations, signal classification</a:t>
            </a:r>
          </a:p>
        </p:txBody>
      </p:sp>
      <p:sp>
        <p:nvSpPr>
          <p:cNvPr id="32" name="TextBox 31"/>
          <p:cNvSpPr txBox="1"/>
          <p:nvPr/>
        </p:nvSpPr>
        <p:spPr>
          <a:xfrm>
            <a:off x="457200" y="4754880"/>
            <a:ext cx="11247120" cy="457200"/>
          </a:xfrm>
          <a:prstGeom prst="rect">
            <a:avLst/>
          </a:prstGeom>
          <a:noFill/>
        </p:spPr>
        <p:txBody>
          <a:bodyPr wrap="square">
            <a:spAutoFit/>
          </a:bodyPr>
          <a:lstStyle/>
          <a:p>
            <a:pPr algn="ctr"/>
            <a:r>
              <a:rPr sz="1200" b="0">
                <a:solidFill>
                  <a:srgbClr val="94A3B8"/>
                </a:solidFill>
              </a:rPr>
              <a:t>Key Design Decision: Controller–Service split keeps HTTP concerns out of business logic, enabling isolated testing.</a:t>
            </a:r>
          </a:p>
        </p:txBody>
      </p:sp>
      <p:sp>
        <p:nvSpPr>
          <p:cNvPr id="33" name="Rectangle 32"/>
          <p:cNvSpPr/>
          <p:nvPr/>
        </p:nvSpPr>
        <p:spPr>
          <a:xfrm>
            <a:off x="457200" y="5349240"/>
            <a:ext cx="11247120" cy="68580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5394960"/>
            <a:ext cx="11064240" cy="594360"/>
          </a:xfrm>
          <a:prstGeom prst="rect">
            <a:avLst/>
          </a:prstGeom>
          <a:noFill/>
        </p:spPr>
        <p:txBody>
          <a:bodyPr wrap="square">
            <a:spAutoFit/>
          </a:bodyPr>
          <a:lstStyle/>
          <a:p>
            <a:pPr algn="ctr"/>
            <a:r>
              <a:rPr sz="1100" b="0">
                <a:solidFill>
                  <a:srgbClr val="34D399"/>
                </a:solidFill>
              </a:rPr>
              <a:t>Session tokens stored in DB (not JWTs) → instant revocation on logout  •  CORS: whitelist + *.vercel.app regex for preview deploys  •  Global error handler prevents stack trace leakage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548640"/>
          </a:xfrm>
          <a:prstGeom prst="rect">
            <a:avLst/>
          </a:prstGeom>
          <a:noFill/>
        </p:spPr>
        <p:txBody>
          <a:bodyPr wrap="square">
            <a:spAutoFit/>
          </a:bodyPr>
          <a:lstStyle/>
          <a:p>
            <a:pPr algn="l"/>
            <a:r>
              <a:rPr sz="3200" b="1">
                <a:solidFill>
                  <a:srgbClr val="FFFFFF"/>
                </a:solidFill>
              </a:rPr>
              <a:t>Technology Stack &amp; Justification</a:t>
            </a:r>
          </a:p>
        </p:txBody>
      </p:sp>
      <p:sp>
        <p:nvSpPr>
          <p:cNvPr id="4" name="Rectangle 3"/>
          <p:cNvSpPr/>
          <p:nvPr/>
        </p:nvSpPr>
        <p:spPr>
          <a:xfrm>
            <a:off x="365760" y="868680"/>
            <a:ext cx="1145743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77840" cy="141732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43000"/>
            <a:ext cx="3200400" cy="365760"/>
          </a:xfrm>
          <a:prstGeom prst="rect">
            <a:avLst/>
          </a:prstGeom>
          <a:noFill/>
        </p:spPr>
        <p:txBody>
          <a:bodyPr wrap="square">
            <a:spAutoFit/>
          </a:bodyPr>
          <a:lstStyle/>
          <a:p>
            <a:pPr algn="l"/>
            <a:r>
              <a:rPr sz="1500" b="1">
                <a:solidFill>
                  <a:srgbClr val="38BDF8"/>
                </a:solidFill>
              </a:rPr>
              <a:t>Node.js + Express</a:t>
            </a:r>
          </a:p>
        </p:txBody>
      </p:sp>
      <p:sp>
        <p:nvSpPr>
          <p:cNvPr id="7" name="Rectangle 6"/>
          <p:cNvSpPr/>
          <p:nvPr/>
        </p:nvSpPr>
        <p:spPr>
          <a:xfrm>
            <a:off x="3931920" y="1124712"/>
            <a:ext cx="1920240" cy="3200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50208" y="1143000"/>
            <a:ext cx="1828800" cy="292608"/>
          </a:xfrm>
          <a:prstGeom prst="rect">
            <a:avLst/>
          </a:prstGeom>
          <a:noFill/>
        </p:spPr>
        <p:txBody>
          <a:bodyPr wrap="square">
            <a:spAutoFit/>
          </a:bodyPr>
          <a:lstStyle/>
          <a:p>
            <a:pPr algn="ctr"/>
            <a:r>
              <a:rPr sz="1100" b="0">
                <a:solidFill>
                  <a:srgbClr val="FBBF24"/>
                </a:solidFill>
              </a:rPr>
              <a:t>TypeScript</a:t>
            </a:r>
          </a:p>
        </p:txBody>
      </p:sp>
      <p:sp>
        <p:nvSpPr>
          <p:cNvPr id="9" name="TextBox 8"/>
          <p:cNvSpPr txBox="1"/>
          <p:nvPr/>
        </p:nvSpPr>
        <p:spPr>
          <a:xfrm>
            <a:off x="594360" y="1554480"/>
            <a:ext cx="5303520" cy="822960"/>
          </a:xfrm>
          <a:prstGeom prst="rect">
            <a:avLst/>
          </a:prstGeom>
          <a:noFill/>
        </p:spPr>
        <p:txBody>
          <a:bodyPr wrap="square">
            <a:spAutoFit/>
          </a:bodyPr>
          <a:lstStyle/>
          <a:p>
            <a:pPr algn="l"/>
            <a:r>
              <a:rPr sz="1100" b="0">
                <a:solidFill>
                  <a:srgbClr val="94A3B8"/>
                </a:solidFill>
              </a:rPr>
              <a:t>Async I/O for DB-heavy workloads; full end-to-end type safety; shared types between backend and frontend; npm ecosystem depth</a:t>
            </a:r>
          </a:p>
        </p:txBody>
      </p:sp>
      <p:sp>
        <p:nvSpPr>
          <p:cNvPr id="10" name="Rectangle 9"/>
          <p:cNvSpPr/>
          <p:nvPr/>
        </p:nvSpPr>
        <p:spPr>
          <a:xfrm>
            <a:off x="6309360" y="1051560"/>
            <a:ext cx="5577840" cy="141732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143000"/>
            <a:ext cx="3200400" cy="365760"/>
          </a:xfrm>
          <a:prstGeom prst="rect">
            <a:avLst/>
          </a:prstGeom>
          <a:noFill/>
        </p:spPr>
        <p:txBody>
          <a:bodyPr wrap="square">
            <a:spAutoFit/>
          </a:bodyPr>
          <a:lstStyle/>
          <a:p>
            <a:pPr algn="l"/>
            <a:r>
              <a:rPr sz="1500" b="1">
                <a:solidFill>
                  <a:srgbClr val="38BDF8"/>
                </a:solidFill>
              </a:rPr>
              <a:t>Prisma ORM</a:t>
            </a:r>
          </a:p>
        </p:txBody>
      </p:sp>
      <p:sp>
        <p:nvSpPr>
          <p:cNvPr id="12" name="Rectangle 11"/>
          <p:cNvSpPr/>
          <p:nvPr/>
        </p:nvSpPr>
        <p:spPr>
          <a:xfrm>
            <a:off x="9784080" y="1124712"/>
            <a:ext cx="1920240" cy="3200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02368" y="1143000"/>
            <a:ext cx="1828800" cy="292608"/>
          </a:xfrm>
          <a:prstGeom prst="rect">
            <a:avLst/>
          </a:prstGeom>
          <a:noFill/>
        </p:spPr>
        <p:txBody>
          <a:bodyPr wrap="square">
            <a:spAutoFit/>
          </a:bodyPr>
          <a:lstStyle/>
          <a:p>
            <a:pPr algn="ctr"/>
            <a:r>
              <a:rPr sz="1100" b="0">
                <a:solidFill>
                  <a:srgbClr val="FBBF24"/>
                </a:solidFill>
              </a:rPr>
              <a:t>Schema-first</a:t>
            </a:r>
          </a:p>
        </p:txBody>
      </p:sp>
      <p:sp>
        <p:nvSpPr>
          <p:cNvPr id="14" name="TextBox 13"/>
          <p:cNvSpPr txBox="1"/>
          <p:nvPr/>
        </p:nvSpPr>
        <p:spPr>
          <a:xfrm>
            <a:off x="6446520" y="1554480"/>
            <a:ext cx="5303520" cy="822960"/>
          </a:xfrm>
          <a:prstGeom prst="rect">
            <a:avLst/>
          </a:prstGeom>
          <a:noFill/>
        </p:spPr>
        <p:txBody>
          <a:bodyPr wrap="square">
            <a:spAutoFit/>
          </a:bodyPr>
          <a:lstStyle/>
          <a:p>
            <a:pPr algn="l"/>
            <a:r>
              <a:rPr sz="1100" b="0">
                <a:solidFill>
                  <a:srgbClr val="94A3B8"/>
                </a:solidFill>
              </a:rPr>
              <a:t>Type-safe queries generated from schema; migration history for reproducible deploys; clean groupBy/aggregate API without raw SQL risks</a:t>
            </a:r>
          </a:p>
        </p:txBody>
      </p:sp>
      <p:sp>
        <p:nvSpPr>
          <p:cNvPr id="15" name="Rectangle 14"/>
          <p:cNvSpPr/>
          <p:nvPr/>
        </p:nvSpPr>
        <p:spPr>
          <a:xfrm>
            <a:off x="457200" y="2651760"/>
            <a:ext cx="5577840" cy="141732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743200"/>
            <a:ext cx="3200400" cy="365760"/>
          </a:xfrm>
          <a:prstGeom prst="rect">
            <a:avLst/>
          </a:prstGeom>
          <a:noFill/>
        </p:spPr>
        <p:txBody>
          <a:bodyPr wrap="square">
            <a:spAutoFit/>
          </a:bodyPr>
          <a:lstStyle/>
          <a:p>
            <a:pPr algn="l"/>
            <a:r>
              <a:rPr sz="1500" b="1">
                <a:solidFill>
                  <a:srgbClr val="38BDF8"/>
                </a:solidFill>
              </a:rPr>
              <a:t>PostgreSQL 17</a:t>
            </a:r>
          </a:p>
        </p:txBody>
      </p:sp>
      <p:sp>
        <p:nvSpPr>
          <p:cNvPr id="17" name="Rectangle 16"/>
          <p:cNvSpPr/>
          <p:nvPr/>
        </p:nvSpPr>
        <p:spPr>
          <a:xfrm>
            <a:off x="3931920" y="2724912"/>
            <a:ext cx="1920240" cy="3200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50208" y="2743200"/>
            <a:ext cx="1828800" cy="292608"/>
          </a:xfrm>
          <a:prstGeom prst="rect">
            <a:avLst/>
          </a:prstGeom>
          <a:noFill/>
        </p:spPr>
        <p:txBody>
          <a:bodyPr wrap="square">
            <a:spAutoFit/>
          </a:bodyPr>
          <a:lstStyle/>
          <a:p>
            <a:pPr algn="ctr"/>
            <a:r>
              <a:rPr sz="1100" b="0">
                <a:solidFill>
                  <a:srgbClr val="FBBF24"/>
                </a:solidFill>
              </a:rPr>
              <a:t>Relational DB</a:t>
            </a:r>
          </a:p>
        </p:txBody>
      </p:sp>
      <p:sp>
        <p:nvSpPr>
          <p:cNvPr id="19" name="TextBox 18"/>
          <p:cNvSpPr txBox="1"/>
          <p:nvPr/>
        </p:nvSpPr>
        <p:spPr>
          <a:xfrm>
            <a:off x="594360" y="3154680"/>
            <a:ext cx="5303520" cy="822960"/>
          </a:xfrm>
          <a:prstGeom prst="rect">
            <a:avLst/>
          </a:prstGeom>
          <a:noFill/>
        </p:spPr>
        <p:txBody>
          <a:bodyPr wrap="square">
            <a:spAutoFit/>
          </a:bodyPr>
          <a:lstStyle/>
          <a:p>
            <a:pPr algn="l"/>
            <a:r>
              <a:rPr sz="1100" b="0">
                <a:solidFill>
                  <a:srgbClr val="94A3B8"/>
                </a:solidFill>
              </a:rPr>
              <a:t>Composite indexes on 7 columns power sub-second analytics queries; ACID + unique constraints for idempotent imports; advanced aggregation</a:t>
            </a:r>
          </a:p>
        </p:txBody>
      </p:sp>
      <p:sp>
        <p:nvSpPr>
          <p:cNvPr id="20" name="Rectangle 19"/>
          <p:cNvSpPr/>
          <p:nvPr/>
        </p:nvSpPr>
        <p:spPr>
          <a:xfrm>
            <a:off x="6309360" y="2651760"/>
            <a:ext cx="5577840" cy="141732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2743200"/>
            <a:ext cx="3200400" cy="365760"/>
          </a:xfrm>
          <a:prstGeom prst="rect">
            <a:avLst/>
          </a:prstGeom>
          <a:noFill/>
        </p:spPr>
        <p:txBody>
          <a:bodyPr wrap="square">
            <a:spAutoFit/>
          </a:bodyPr>
          <a:lstStyle/>
          <a:p>
            <a:pPr algn="l"/>
            <a:r>
              <a:rPr sz="1500" b="1">
                <a:solidFill>
                  <a:srgbClr val="38BDF8"/>
                </a:solidFill>
              </a:rPr>
              <a:t>Vue 3 + Pinia</a:t>
            </a:r>
          </a:p>
        </p:txBody>
      </p:sp>
      <p:sp>
        <p:nvSpPr>
          <p:cNvPr id="22" name="Rectangle 21"/>
          <p:cNvSpPr/>
          <p:nvPr/>
        </p:nvSpPr>
        <p:spPr>
          <a:xfrm>
            <a:off x="9784080" y="2724912"/>
            <a:ext cx="1920240" cy="3200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02368" y="2743200"/>
            <a:ext cx="1828800" cy="292608"/>
          </a:xfrm>
          <a:prstGeom prst="rect">
            <a:avLst/>
          </a:prstGeom>
          <a:noFill/>
        </p:spPr>
        <p:txBody>
          <a:bodyPr wrap="square">
            <a:spAutoFit/>
          </a:bodyPr>
          <a:lstStyle/>
          <a:p>
            <a:pPr algn="ctr"/>
            <a:r>
              <a:rPr sz="1100" b="0">
                <a:solidFill>
                  <a:srgbClr val="FBBF24"/>
                </a:solidFill>
              </a:rPr>
              <a:t>Composition API</a:t>
            </a:r>
          </a:p>
        </p:txBody>
      </p:sp>
      <p:sp>
        <p:nvSpPr>
          <p:cNvPr id="24" name="TextBox 23"/>
          <p:cNvSpPr txBox="1"/>
          <p:nvPr/>
        </p:nvSpPr>
        <p:spPr>
          <a:xfrm>
            <a:off x="6446520" y="3154680"/>
            <a:ext cx="5303520" cy="822960"/>
          </a:xfrm>
          <a:prstGeom prst="rect">
            <a:avLst/>
          </a:prstGeom>
          <a:noFill/>
        </p:spPr>
        <p:txBody>
          <a:bodyPr wrap="square">
            <a:spAutoFit/>
          </a:bodyPr>
          <a:lstStyle/>
          <a:p>
            <a:pPr algn="l"/>
            <a:r>
              <a:rPr sz="1100" b="0">
                <a:solidFill>
                  <a:srgbClr val="94A3B8"/>
                </a:solidFill>
              </a:rPr>
              <a:t>Reactive state across 5 stores (auth, cache, filters, saved, comparison); dataCache store prevents redundant API calls</a:t>
            </a:r>
          </a:p>
        </p:txBody>
      </p:sp>
      <p:sp>
        <p:nvSpPr>
          <p:cNvPr id="25" name="Rectangle 24"/>
          <p:cNvSpPr/>
          <p:nvPr/>
        </p:nvSpPr>
        <p:spPr>
          <a:xfrm>
            <a:off x="457200" y="4251960"/>
            <a:ext cx="5577840" cy="141732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4343400"/>
            <a:ext cx="3200400" cy="365760"/>
          </a:xfrm>
          <a:prstGeom prst="rect">
            <a:avLst/>
          </a:prstGeom>
          <a:noFill/>
        </p:spPr>
        <p:txBody>
          <a:bodyPr wrap="square">
            <a:spAutoFit/>
          </a:bodyPr>
          <a:lstStyle/>
          <a:p>
            <a:pPr algn="l"/>
            <a:r>
              <a:rPr sz="1500" b="1">
                <a:solidFill>
                  <a:srgbClr val="38BDF8"/>
                </a:solidFill>
              </a:rPr>
              <a:t>Zod Validation</a:t>
            </a:r>
          </a:p>
        </p:txBody>
      </p:sp>
      <p:sp>
        <p:nvSpPr>
          <p:cNvPr id="27" name="Rectangle 26"/>
          <p:cNvSpPr/>
          <p:nvPr/>
        </p:nvSpPr>
        <p:spPr>
          <a:xfrm>
            <a:off x="3931920" y="4325112"/>
            <a:ext cx="1920240" cy="3200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50208" y="4343400"/>
            <a:ext cx="1828800" cy="292608"/>
          </a:xfrm>
          <a:prstGeom prst="rect">
            <a:avLst/>
          </a:prstGeom>
          <a:noFill/>
        </p:spPr>
        <p:txBody>
          <a:bodyPr wrap="square">
            <a:spAutoFit/>
          </a:bodyPr>
          <a:lstStyle/>
          <a:p>
            <a:pPr algn="ctr"/>
            <a:r>
              <a:rPr sz="1100" b="0">
                <a:solidFill>
                  <a:srgbClr val="FBBF24"/>
                </a:solidFill>
              </a:rPr>
              <a:t>Runtime safety</a:t>
            </a:r>
          </a:p>
        </p:txBody>
      </p:sp>
      <p:sp>
        <p:nvSpPr>
          <p:cNvPr id="29" name="TextBox 28"/>
          <p:cNvSpPr txBox="1"/>
          <p:nvPr/>
        </p:nvSpPr>
        <p:spPr>
          <a:xfrm>
            <a:off x="594360" y="4754880"/>
            <a:ext cx="5303520" cy="822960"/>
          </a:xfrm>
          <a:prstGeom prst="rect">
            <a:avLst/>
          </a:prstGeom>
          <a:noFill/>
        </p:spPr>
        <p:txBody>
          <a:bodyPr wrap="square">
            <a:spAutoFit/>
          </a:bodyPr>
          <a:lstStyle/>
          <a:p>
            <a:pPr algn="l"/>
            <a:r>
              <a:rPr sz="1100" b="0">
                <a:solidFill>
                  <a:srgbClr val="94A3B8"/>
                </a:solidFill>
              </a:rPr>
              <a:t>Schema validation at API boundaries only — no over-engineering of internal code paths; clear error messages to clients</a:t>
            </a:r>
          </a:p>
        </p:txBody>
      </p:sp>
      <p:sp>
        <p:nvSpPr>
          <p:cNvPr id="30" name="Rectangle 29"/>
          <p:cNvSpPr/>
          <p:nvPr/>
        </p:nvSpPr>
        <p:spPr>
          <a:xfrm>
            <a:off x="6309360" y="4251960"/>
            <a:ext cx="5577840" cy="141732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46520" y="4343400"/>
            <a:ext cx="3200400" cy="365760"/>
          </a:xfrm>
          <a:prstGeom prst="rect">
            <a:avLst/>
          </a:prstGeom>
          <a:noFill/>
        </p:spPr>
        <p:txBody>
          <a:bodyPr wrap="square">
            <a:spAutoFit/>
          </a:bodyPr>
          <a:lstStyle/>
          <a:p>
            <a:pPr algn="l"/>
            <a:r>
              <a:rPr sz="1500" b="1">
                <a:solidFill>
                  <a:srgbClr val="38BDF8"/>
                </a:solidFill>
              </a:rPr>
              <a:t>Vitest + Supertest</a:t>
            </a:r>
          </a:p>
        </p:txBody>
      </p:sp>
      <p:sp>
        <p:nvSpPr>
          <p:cNvPr id="32" name="Rectangle 31"/>
          <p:cNvSpPr/>
          <p:nvPr/>
        </p:nvSpPr>
        <p:spPr>
          <a:xfrm>
            <a:off x="9784080" y="4325112"/>
            <a:ext cx="1920240" cy="3200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02368" y="4343400"/>
            <a:ext cx="1828800" cy="292608"/>
          </a:xfrm>
          <a:prstGeom prst="rect">
            <a:avLst/>
          </a:prstGeom>
          <a:noFill/>
        </p:spPr>
        <p:txBody>
          <a:bodyPr wrap="square">
            <a:spAutoFit/>
          </a:bodyPr>
          <a:lstStyle/>
          <a:p>
            <a:pPr algn="ctr"/>
            <a:r>
              <a:rPr sz="1100" b="0">
                <a:solidFill>
                  <a:srgbClr val="FBBF24"/>
                </a:solidFill>
              </a:rPr>
              <a:t>Integration tests</a:t>
            </a:r>
          </a:p>
        </p:txBody>
      </p:sp>
      <p:sp>
        <p:nvSpPr>
          <p:cNvPr id="34" name="TextBox 33"/>
          <p:cNvSpPr txBox="1"/>
          <p:nvPr/>
        </p:nvSpPr>
        <p:spPr>
          <a:xfrm>
            <a:off x="6446520" y="4754880"/>
            <a:ext cx="5303520" cy="822960"/>
          </a:xfrm>
          <a:prstGeom prst="rect">
            <a:avLst/>
          </a:prstGeom>
          <a:noFill/>
        </p:spPr>
        <p:txBody>
          <a:bodyPr wrap="square">
            <a:spAutoFit/>
          </a:bodyPr>
          <a:lstStyle/>
          <a:p>
            <a:pPr algn="l"/>
            <a:r>
              <a:rPr sz="1100" b="0">
                <a:solidFill>
                  <a:srgbClr val="94A3B8"/>
                </a:solidFill>
              </a:rPr>
              <a:t>Full HTTP layer tested against real DB; chosen over unit tests because query construction bugs only surface at integration level</a:t>
            </a:r>
          </a:p>
        </p:txBody>
      </p:sp>
      <p:sp>
        <p:nvSpPr>
          <p:cNvPr id="35" name="TextBox 34"/>
          <p:cNvSpPr txBox="1"/>
          <p:nvPr/>
        </p:nvSpPr>
        <p:spPr>
          <a:xfrm>
            <a:off x="457200" y="6355080"/>
            <a:ext cx="11247120" cy="365760"/>
          </a:xfrm>
          <a:prstGeom prst="rect">
            <a:avLst/>
          </a:prstGeom>
          <a:noFill/>
        </p:spPr>
        <p:txBody>
          <a:bodyPr wrap="square">
            <a:spAutoFit/>
          </a:bodyPr>
          <a:lstStyle/>
          <a:p>
            <a:pPr algn="ctr"/>
            <a:r>
              <a:rPr sz="1100" b="0">
                <a:solidFill>
                  <a:srgbClr val="94A3B8"/>
                </a:solidFill>
              </a:rPr>
              <a:t>Alternatives evaluated: Python FastAPI, Go Fiber, React, Sequelize, JWT auth — rejected with documented rationale in technical report.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9144000" cy="548640"/>
          </a:xfrm>
          <a:prstGeom prst="rect">
            <a:avLst/>
          </a:prstGeom>
          <a:noFill/>
        </p:spPr>
        <p:txBody>
          <a:bodyPr wrap="square">
            <a:spAutoFit/>
          </a:bodyPr>
          <a:lstStyle/>
          <a:p>
            <a:pPr algn="l"/>
            <a:r>
              <a:rPr sz="3200" b="1">
                <a:solidFill>
                  <a:srgbClr val="FFFFFF"/>
                </a:solidFill>
              </a:rPr>
              <a:t>Key Features</a:t>
            </a:r>
          </a:p>
        </p:txBody>
      </p:sp>
      <p:sp>
        <p:nvSpPr>
          <p:cNvPr id="4" name="Rectangle 3"/>
          <p:cNvSpPr/>
          <p:nvPr/>
        </p:nvSpPr>
        <p:spPr>
          <a:xfrm>
            <a:off x="365760" y="868680"/>
            <a:ext cx="1145743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051560"/>
            <a:ext cx="2697480" cy="214884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1161288"/>
            <a:ext cx="2468880" cy="502920"/>
          </a:xfrm>
          <a:prstGeom prst="rect">
            <a:avLst/>
          </a:prstGeom>
          <a:noFill/>
        </p:spPr>
        <p:txBody>
          <a:bodyPr wrap="square">
            <a:spAutoFit/>
          </a:bodyPr>
          <a:lstStyle/>
          <a:p>
            <a:pPr algn="l"/>
            <a:r>
              <a:rPr sz="1300" b="1">
                <a:solidFill>
                  <a:srgbClr val="38BDF8"/>
                </a:solidFill>
              </a:rPr>
              <a:t>📈  Price Trends</a:t>
            </a:r>
          </a:p>
        </p:txBody>
      </p:sp>
      <p:sp>
        <p:nvSpPr>
          <p:cNvPr id="7" name="TextBox 6"/>
          <p:cNvSpPr txBox="1"/>
          <p:nvPr/>
        </p:nvSpPr>
        <p:spPr>
          <a:xfrm>
            <a:off x="475488" y="1691640"/>
            <a:ext cx="2468880" cy="1371600"/>
          </a:xfrm>
          <a:prstGeom prst="rect">
            <a:avLst/>
          </a:prstGeom>
          <a:noFill/>
        </p:spPr>
        <p:txBody>
          <a:bodyPr wrap="square">
            <a:spAutoFit/>
          </a:bodyPr>
          <a:lstStyle/>
          <a:p>
            <a:pPr algn="l"/>
            <a:r>
              <a:rPr sz="1100" b="0">
                <a:solidFill>
                  <a:srgbClr val="FFFFFF"/>
                </a:solidFill>
              </a:rPr>
              <a:t>Monthly avg price + MoM growth %
Filter by region, year, property type</a:t>
            </a:r>
          </a:p>
        </p:txBody>
      </p:sp>
      <p:sp>
        <p:nvSpPr>
          <p:cNvPr id="8" name="Rectangle 7"/>
          <p:cNvSpPr/>
          <p:nvPr/>
        </p:nvSpPr>
        <p:spPr>
          <a:xfrm>
            <a:off x="3218688" y="1051560"/>
            <a:ext cx="2697480" cy="214884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28416" y="1161288"/>
            <a:ext cx="2468880" cy="502920"/>
          </a:xfrm>
          <a:prstGeom prst="rect">
            <a:avLst/>
          </a:prstGeom>
          <a:noFill/>
        </p:spPr>
        <p:txBody>
          <a:bodyPr wrap="square">
            <a:spAutoFit/>
          </a:bodyPr>
          <a:lstStyle/>
          <a:p>
            <a:pPr algn="l"/>
            <a:r>
              <a:rPr sz="1300" b="1">
                <a:solidFill>
                  <a:srgbClr val="38BDF8"/>
                </a:solidFill>
              </a:rPr>
              <a:t>🗺️  Regional Heatmap</a:t>
            </a:r>
          </a:p>
        </p:txBody>
      </p:sp>
      <p:sp>
        <p:nvSpPr>
          <p:cNvPr id="10" name="TextBox 9"/>
          <p:cNvSpPr txBox="1"/>
          <p:nvPr/>
        </p:nvSpPr>
        <p:spPr>
          <a:xfrm>
            <a:off x="3328416" y="1691640"/>
            <a:ext cx="2468880" cy="1371600"/>
          </a:xfrm>
          <a:prstGeom prst="rect">
            <a:avLst/>
          </a:prstGeom>
          <a:noFill/>
        </p:spPr>
        <p:txBody>
          <a:bodyPr wrap="square">
            <a:spAutoFit/>
          </a:bodyPr>
          <a:lstStyle/>
          <a:p>
            <a:pPr algn="l"/>
            <a:r>
              <a:rPr sz="1100" b="0">
                <a:solidFill>
                  <a:srgbClr val="FFFFFF"/>
                </a:solidFill>
              </a:rPr>
              <a:t>County-level avg price + transaction
volume from DB groupBy aggregation</a:t>
            </a:r>
          </a:p>
        </p:txBody>
      </p:sp>
      <p:sp>
        <p:nvSpPr>
          <p:cNvPr id="11" name="Rectangle 10"/>
          <p:cNvSpPr/>
          <p:nvPr/>
        </p:nvSpPr>
        <p:spPr>
          <a:xfrm>
            <a:off x="6071616" y="1051560"/>
            <a:ext cx="2697480" cy="214884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1344" y="1161288"/>
            <a:ext cx="2468880" cy="502920"/>
          </a:xfrm>
          <a:prstGeom prst="rect">
            <a:avLst/>
          </a:prstGeom>
          <a:noFill/>
        </p:spPr>
        <p:txBody>
          <a:bodyPr wrap="square">
            <a:spAutoFit/>
          </a:bodyPr>
          <a:lstStyle/>
          <a:p>
            <a:pPr algn="l"/>
            <a:r>
              <a:rPr sz="1300" b="1">
                <a:solidFill>
                  <a:srgbClr val="38BDF8"/>
                </a:solidFill>
              </a:rPr>
              <a:t>🔍  Property Browser</a:t>
            </a:r>
          </a:p>
        </p:txBody>
      </p:sp>
      <p:sp>
        <p:nvSpPr>
          <p:cNvPr id="13" name="TextBox 12"/>
          <p:cNvSpPr txBox="1"/>
          <p:nvPr/>
        </p:nvSpPr>
        <p:spPr>
          <a:xfrm>
            <a:off x="6181344" y="1691640"/>
            <a:ext cx="2468880" cy="1371600"/>
          </a:xfrm>
          <a:prstGeom prst="rect">
            <a:avLst/>
          </a:prstGeom>
          <a:noFill/>
        </p:spPr>
        <p:txBody>
          <a:bodyPr wrap="square">
            <a:spAutoFit/>
          </a:bodyPr>
          <a:lstStyle/>
          <a:p>
            <a:pPr algn="l"/>
            <a:r>
              <a:rPr sz="1100" b="0">
                <a:solidFill>
                  <a:srgbClr val="FFFFFF"/>
                </a:solidFill>
              </a:rPr>
              <a:t>Paginated search: price range, type,
region — capped at 100/page</a:t>
            </a:r>
          </a:p>
        </p:txBody>
      </p:sp>
      <p:sp>
        <p:nvSpPr>
          <p:cNvPr id="14" name="Rectangle 13"/>
          <p:cNvSpPr/>
          <p:nvPr/>
        </p:nvSpPr>
        <p:spPr>
          <a:xfrm>
            <a:off x="8924544" y="1051560"/>
            <a:ext cx="2697480" cy="214884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34272" y="1161288"/>
            <a:ext cx="2468880" cy="502920"/>
          </a:xfrm>
          <a:prstGeom prst="rect">
            <a:avLst/>
          </a:prstGeom>
          <a:noFill/>
        </p:spPr>
        <p:txBody>
          <a:bodyPr wrap="square">
            <a:spAutoFit/>
          </a:bodyPr>
          <a:lstStyle/>
          <a:p>
            <a:pPr algn="l"/>
            <a:r>
              <a:rPr sz="1300" b="1">
                <a:solidFill>
                  <a:srgbClr val="38BDF8"/>
                </a:solidFill>
              </a:rPr>
              <a:t>💡  Market Insights</a:t>
            </a:r>
          </a:p>
        </p:txBody>
      </p:sp>
      <p:sp>
        <p:nvSpPr>
          <p:cNvPr id="16" name="TextBox 15"/>
          <p:cNvSpPr txBox="1"/>
          <p:nvPr/>
        </p:nvSpPr>
        <p:spPr>
          <a:xfrm>
            <a:off x="9034272" y="1691640"/>
            <a:ext cx="2468880" cy="1371600"/>
          </a:xfrm>
          <a:prstGeom prst="rect">
            <a:avLst/>
          </a:prstGeom>
          <a:noFill/>
        </p:spPr>
        <p:txBody>
          <a:bodyPr wrap="square">
            <a:spAutoFit/>
          </a:bodyPr>
          <a:lstStyle/>
          <a:p>
            <a:pPr algn="l"/>
            <a:r>
              <a:rPr sz="1100" b="0">
                <a:solidFill>
                  <a:srgbClr val="FFFFFF"/>
                </a:solidFill>
              </a:rPr>
              <a:t>9 parallel DB queries: affordability
ratio, 1yr/5yr growth, market signal</a:t>
            </a:r>
          </a:p>
        </p:txBody>
      </p:sp>
      <p:sp>
        <p:nvSpPr>
          <p:cNvPr id="17" name="Rectangle 16"/>
          <p:cNvSpPr/>
          <p:nvPr/>
        </p:nvSpPr>
        <p:spPr>
          <a:xfrm>
            <a:off x="365760" y="3429000"/>
            <a:ext cx="2697480" cy="214884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 y="3538728"/>
            <a:ext cx="2468880" cy="502920"/>
          </a:xfrm>
          <a:prstGeom prst="rect">
            <a:avLst/>
          </a:prstGeom>
          <a:noFill/>
        </p:spPr>
        <p:txBody>
          <a:bodyPr wrap="square">
            <a:spAutoFit/>
          </a:bodyPr>
          <a:lstStyle/>
          <a:p>
            <a:pPr algn="l"/>
            <a:r>
              <a:rPr sz="1300" b="1">
                <a:solidFill>
                  <a:srgbClr val="38BDF8"/>
                </a:solidFill>
              </a:rPr>
              <a:t>🔖  Saved Listings</a:t>
            </a:r>
          </a:p>
        </p:txBody>
      </p:sp>
      <p:sp>
        <p:nvSpPr>
          <p:cNvPr id="19" name="TextBox 18"/>
          <p:cNvSpPr txBox="1"/>
          <p:nvPr/>
        </p:nvSpPr>
        <p:spPr>
          <a:xfrm>
            <a:off x="475488" y="4069080"/>
            <a:ext cx="2468880" cy="1371600"/>
          </a:xfrm>
          <a:prstGeom prst="rect">
            <a:avLst/>
          </a:prstGeom>
          <a:noFill/>
        </p:spPr>
        <p:txBody>
          <a:bodyPr wrap="square">
            <a:spAutoFit/>
          </a:bodyPr>
          <a:lstStyle/>
          <a:p>
            <a:pPr algn="l"/>
            <a:r>
              <a:rPr sz="1100" b="0">
                <a:solidFill>
                  <a:srgbClr val="FFFFFF"/>
                </a:solidFill>
              </a:rPr>
              <a:t>Authenticated CRUD: save, annotate,
and manage bookmarked properties</a:t>
            </a:r>
          </a:p>
        </p:txBody>
      </p:sp>
      <p:sp>
        <p:nvSpPr>
          <p:cNvPr id="20" name="Rectangle 19"/>
          <p:cNvSpPr/>
          <p:nvPr/>
        </p:nvSpPr>
        <p:spPr>
          <a:xfrm>
            <a:off x="3218688" y="3429000"/>
            <a:ext cx="2697480" cy="214884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28416" y="3538728"/>
            <a:ext cx="2468880" cy="502920"/>
          </a:xfrm>
          <a:prstGeom prst="rect">
            <a:avLst/>
          </a:prstGeom>
          <a:noFill/>
        </p:spPr>
        <p:txBody>
          <a:bodyPr wrap="square">
            <a:spAutoFit/>
          </a:bodyPr>
          <a:lstStyle/>
          <a:p>
            <a:pPr algn="l"/>
            <a:r>
              <a:rPr sz="1300" b="1">
                <a:solidFill>
                  <a:srgbClr val="38BDF8"/>
                </a:solidFill>
              </a:rPr>
              <a:t>⚖️  Comparison View</a:t>
            </a:r>
          </a:p>
        </p:txBody>
      </p:sp>
      <p:sp>
        <p:nvSpPr>
          <p:cNvPr id="22" name="TextBox 21"/>
          <p:cNvSpPr txBox="1"/>
          <p:nvPr/>
        </p:nvSpPr>
        <p:spPr>
          <a:xfrm>
            <a:off x="3328416" y="4069080"/>
            <a:ext cx="2468880" cy="1371600"/>
          </a:xfrm>
          <a:prstGeom prst="rect">
            <a:avLst/>
          </a:prstGeom>
          <a:noFill/>
        </p:spPr>
        <p:txBody>
          <a:bodyPr wrap="square">
            <a:spAutoFit/>
          </a:bodyPr>
          <a:lstStyle/>
          <a:p>
            <a:pPr algn="l"/>
            <a:r>
              <a:rPr sz="1100" b="0">
                <a:solidFill>
                  <a:srgbClr val="FFFFFF"/>
                </a:solidFill>
              </a:rPr>
              <a:t>Side-by-side compare up to N properties
via client-side Pinia store</a:t>
            </a:r>
          </a:p>
        </p:txBody>
      </p:sp>
      <p:sp>
        <p:nvSpPr>
          <p:cNvPr id="23" name="Rectangle 22"/>
          <p:cNvSpPr/>
          <p:nvPr/>
        </p:nvSpPr>
        <p:spPr>
          <a:xfrm>
            <a:off x="6071616" y="3429000"/>
            <a:ext cx="2697480" cy="214884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81344" y="3538728"/>
            <a:ext cx="2468880" cy="502920"/>
          </a:xfrm>
          <a:prstGeom prst="rect">
            <a:avLst/>
          </a:prstGeom>
          <a:noFill/>
        </p:spPr>
        <p:txBody>
          <a:bodyPr wrap="square">
            <a:spAutoFit/>
          </a:bodyPr>
          <a:lstStyle/>
          <a:p>
            <a:pPr algn="l"/>
            <a:r>
              <a:rPr sz="1300" b="1">
                <a:solidFill>
                  <a:srgbClr val="38BDF8"/>
                </a:solidFill>
              </a:rPr>
              <a:t>🤖  Market Assistant</a:t>
            </a:r>
          </a:p>
        </p:txBody>
      </p:sp>
      <p:sp>
        <p:nvSpPr>
          <p:cNvPr id="25" name="TextBox 24"/>
          <p:cNvSpPr txBox="1"/>
          <p:nvPr/>
        </p:nvSpPr>
        <p:spPr>
          <a:xfrm>
            <a:off x="6181344" y="4069080"/>
            <a:ext cx="2468880" cy="1371600"/>
          </a:xfrm>
          <a:prstGeom prst="rect">
            <a:avLst/>
          </a:prstGeom>
          <a:noFill/>
        </p:spPr>
        <p:txBody>
          <a:bodyPr wrap="square">
            <a:spAutoFit/>
          </a:bodyPr>
          <a:lstStyle/>
          <a:p>
            <a:pPr algn="l"/>
            <a:r>
              <a:rPr sz="1100" b="0">
                <a:solidFill>
                  <a:srgbClr val="FFFFFF"/>
                </a:solidFill>
              </a:rPr>
              <a:t>AI-powered summary of regional
market conditions (Insights API)</a:t>
            </a:r>
          </a:p>
        </p:txBody>
      </p:sp>
      <p:sp>
        <p:nvSpPr>
          <p:cNvPr id="26" name="Rectangle 25"/>
          <p:cNvSpPr/>
          <p:nvPr/>
        </p:nvSpPr>
        <p:spPr>
          <a:xfrm>
            <a:off x="8924544" y="3429000"/>
            <a:ext cx="2697480" cy="214884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34272" y="3538728"/>
            <a:ext cx="2468880" cy="502920"/>
          </a:xfrm>
          <a:prstGeom prst="rect">
            <a:avLst/>
          </a:prstGeom>
          <a:noFill/>
        </p:spPr>
        <p:txBody>
          <a:bodyPr wrap="square">
            <a:spAutoFit/>
          </a:bodyPr>
          <a:lstStyle/>
          <a:p>
            <a:pPr algn="l"/>
            <a:r>
              <a:rPr sz="1300" b="1">
                <a:solidFill>
                  <a:srgbClr val="38BDF8"/>
                </a:solidFill>
              </a:rPr>
              <a:t>📊  Dashboard KPIs</a:t>
            </a:r>
          </a:p>
        </p:txBody>
      </p:sp>
      <p:sp>
        <p:nvSpPr>
          <p:cNvPr id="28" name="TextBox 27"/>
          <p:cNvSpPr txBox="1"/>
          <p:nvPr/>
        </p:nvSpPr>
        <p:spPr>
          <a:xfrm>
            <a:off x="9034272" y="4069080"/>
            <a:ext cx="2468880" cy="1371600"/>
          </a:xfrm>
          <a:prstGeom prst="rect">
            <a:avLst/>
          </a:prstGeom>
          <a:noFill/>
        </p:spPr>
        <p:txBody>
          <a:bodyPr wrap="square">
            <a:spAutoFit/>
          </a:bodyPr>
          <a:lstStyle/>
          <a:p>
            <a:pPr algn="l"/>
            <a:r>
              <a:rPr sz="1100" b="0">
                <a:solidFill>
                  <a:srgbClr val="FFFFFF"/>
                </a:solidFill>
              </a:rPr>
              <a:t>Stat cards: total properties, avg price,
regions tracked, latest data date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548640"/>
          </a:xfrm>
          <a:prstGeom prst="rect">
            <a:avLst/>
          </a:prstGeom>
          <a:noFill/>
        </p:spPr>
        <p:txBody>
          <a:bodyPr wrap="square">
            <a:spAutoFit/>
          </a:bodyPr>
          <a:lstStyle/>
          <a:p>
            <a:pPr algn="l"/>
            <a:r>
              <a:rPr sz="3200" b="1">
                <a:solidFill>
                  <a:srgbClr val="FFFFFF"/>
                </a:solidFill>
              </a:rPr>
              <a:t>API Design &amp; Documentation</a:t>
            </a:r>
          </a:p>
        </p:txBody>
      </p:sp>
      <p:sp>
        <p:nvSpPr>
          <p:cNvPr id="4" name="Rectangle 3"/>
          <p:cNvSpPr/>
          <p:nvPr/>
        </p:nvSpPr>
        <p:spPr>
          <a:xfrm>
            <a:off x="365760" y="868680"/>
            <a:ext cx="1145743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05840"/>
            <a:ext cx="6858000" cy="365760"/>
          </a:xfrm>
          <a:prstGeom prst="rect">
            <a:avLst/>
          </a:prstGeom>
          <a:noFill/>
        </p:spPr>
        <p:txBody>
          <a:bodyPr wrap="square">
            <a:spAutoFit/>
          </a:bodyPr>
          <a:lstStyle/>
          <a:p>
            <a:pPr algn="l"/>
            <a:r>
              <a:rPr sz="1800" b="1">
                <a:solidFill>
                  <a:srgbClr val="38BDF8"/>
                </a:solidFill>
              </a:rPr>
              <a:t>Endpoints</a:t>
            </a:r>
          </a:p>
        </p:txBody>
      </p:sp>
      <p:sp>
        <p:nvSpPr>
          <p:cNvPr id="6" name="Rectangle 5"/>
          <p:cNvSpPr/>
          <p:nvPr/>
        </p:nvSpPr>
        <p:spPr>
          <a:xfrm>
            <a:off x="365760" y="1417320"/>
            <a:ext cx="2788920" cy="32004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435608"/>
            <a:ext cx="2834640" cy="292608"/>
          </a:xfrm>
          <a:prstGeom prst="rect">
            <a:avLst/>
          </a:prstGeom>
          <a:noFill/>
        </p:spPr>
        <p:txBody>
          <a:bodyPr wrap="square">
            <a:spAutoFit/>
          </a:bodyPr>
          <a:lstStyle/>
          <a:p>
            <a:pPr algn="l"/>
            <a:r>
              <a:rPr sz="1100" b="1">
                <a:solidFill>
                  <a:srgbClr val="0F172A"/>
                </a:solidFill>
              </a:rPr>
              <a:t>  Endpoint</a:t>
            </a:r>
          </a:p>
        </p:txBody>
      </p:sp>
      <p:sp>
        <p:nvSpPr>
          <p:cNvPr id="8" name="Rectangle 7"/>
          <p:cNvSpPr/>
          <p:nvPr/>
        </p:nvSpPr>
        <p:spPr>
          <a:xfrm>
            <a:off x="3246120" y="1417320"/>
            <a:ext cx="594360" cy="32004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91840" y="1435608"/>
            <a:ext cx="640080" cy="292608"/>
          </a:xfrm>
          <a:prstGeom prst="rect">
            <a:avLst/>
          </a:prstGeom>
          <a:noFill/>
        </p:spPr>
        <p:txBody>
          <a:bodyPr wrap="square">
            <a:spAutoFit/>
          </a:bodyPr>
          <a:lstStyle/>
          <a:p>
            <a:pPr algn="l"/>
            <a:r>
              <a:rPr sz="1100" b="1">
                <a:solidFill>
                  <a:srgbClr val="0F172A"/>
                </a:solidFill>
              </a:rPr>
              <a:t>Status</a:t>
            </a:r>
          </a:p>
        </p:txBody>
      </p:sp>
      <p:sp>
        <p:nvSpPr>
          <p:cNvPr id="10" name="Rectangle 9"/>
          <p:cNvSpPr/>
          <p:nvPr/>
        </p:nvSpPr>
        <p:spPr>
          <a:xfrm>
            <a:off x="3931920" y="1417320"/>
            <a:ext cx="594360" cy="32004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77640" y="1435608"/>
            <a:ext cx="640080" cy="292608"/>
          </a:xfrm>
          <a:prstGeom prst="rect">
            <a:avLst/>
          </a:prstGeom>
          <a:noFill/>
        </p:spPr>
        <p:txBody>
          <a:bodyPr wrap="square">
            <a:spAutoFit/>
          </a:bodyPr>
          <a:lstStyle/>
          <a:p>
            <a:pPr algn="l"/>
            <a:r>
              <a:rPr sz="1100" b="1">
                <a:solidFill>
                  <a:srgbClr val="0F172A"/>
                </a:solidFill>
              </a:rPr>
              <a:t>Auth</a:t>
            </a:r>
          </a:p>
        </p:txBody>
      </p:sp>
      <p:sp>
        <p:nvSpPr>
          <p:cNvPr id="12" name="Rectangle 11"/>
          <p:cNvSpPr/>
          <p:nvPr/>
        </p:nvSpPr>
        <p:spPr>
          <a:xfrm>
            <a:off x="4617720" y="1417320"/>
            <a:ext cx="3977640" cy="32004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1435608"/>
            <a:ext cx="4023360" cy="292608"/>
          </a:xfrm>
          <a:prstGeom prst="rect">
            <a:avLst/>
          </a:prstGeom>
          <a:noFill/>
        </p:spPr>
        <p:txBody>
          <a:bodyPr wrap="square">
            <a:spAutoFit/>
          </a:bodyPr>
          <a:lstStyle/>
          <a:p>
            <a:pPr algn="l"/>
            <a:r>
              <a:rPr sz="1100" b="1">
                <a:solidFill>
                  <a:srgbClr val="0F172A"/>
                </a:solidFill>
              </a:rPr>
              <a:t>Description</a:t>
            </a:r>
          </a:p>
        </p:txBody>
      </p:sp>
      <p:sp>
        <p:nvSpPr>
          <p:cNvPr id="14" name="Rectangle 13"/>
          <p:cNvSpPr/>
          <p:nvPr/>
        </p:nvSpPr>
        <p:spPr>
          <a:xfrm>
            <a:off x="365760" y="1783080"/>
            <a:ext cx="8321040" cy="329184"/>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1801368"/>
            <a:ext cx="2834640" cy="292608"/>
          </a:xfrm>
          <a:prstGeom prst="rect">
            <a:avLst/>
          </a:prstGeom>
          <a:noFill/>
        </p:spPr>
        <p:txBody>
          <a:bodyPr wrap="square">
            <a:spAutoFit/>
          </a:bodyPr>
          <a:lstStyle/>
          <a:p>
            <a:pPr algn="l"/>
            <a:r>
              <a:rPr sz="1000" b="0">
                <a:solidFill>
                  <a:srgbClr val="FFFFFF"/>
                </a:solidFill>
              </a:rPr>
              <a:t>POST /api/auth/register</a:t>
            </a:r>
          </a:p>
        </p:txBody>
      </p:sp>
      <p:sp>
        <p:nvSpPr>
          <p:cNvPr id="16" name="TextBox 15"/>
          <p:cNvSpPr txBox="1"/>
          <p:nvPr/>
        </p:nvSpPr>
        <p:spPr>
          <a:xfrm>
            <a:off x="3291840" y="1801368"/>
            <a:ext cx="640080" cy="292608"/>
          </a:xfrm>
          <a:prstGeom prst="rect">
            <a:avLst/>
          </a:prstGeom>
          <a:noFill/>
        </p:spPr>
        <p:txBody>
          <a:bodyPr wrap="square">
            <a:spAutoFit/>
          </a:bodyPr>
          <a:lstStyle/>
          <a:p>
            <a:pPr algn="l"/>
            <a:r>
              <a:rPr sz="1000" b="0">
                <a:solidFill>
                  <a:srgbClr val="FBBF24"/>
                </a:solidFill>
              </a:rPr>
              <a:t>201</a:t>
            </a:r>
          </a:p>
        </p:txBody>
      </p:sp>
      <p:sp>
        <p:nvSpPr>
          <p:cNvPr id="17" name="TextBox 16"/>
          <p:cNvSpPr txBox="1"/>
          <p:nvPr/>
        </p:nvSpPr>
        <p:spPr>
          <a:xfrm>
            <a:off x="3977640" y="1801368"/>
            <a:ext cx="640080" cy="292608"/>
          </a:xfrm>
          <a:prstGeom prst="rect">
            <a:avLst/>
          </a:prstGeom>
          <a:noFill/>
        </p:spPr>
        <p:txBody>
          <a:bodyPr wrap="square">
            <a:spAutoFit/>
          </a:bodyPr>
          <a:lstStyle/>
          <a:p>
            <a:pPr algn="l"/>
            <a:r>
              <a:rPr sz="1000" b="0">
                <a:solidFill>
                  <a:srgbClr val="FFFFFF"/>
                </a:solidFill>
              </a:rPr>
              <a:t>No</a:t>
            </a:r>
          </a:p>
        </p:txBody>
      </p:sp>
      <p:sp>
        <p:nvSpPr>
          <p:cNvPr id="18" name="TextBox 17"/>
          <p:cNvSpPr txBox="1"/>
          <p:nvPr/>
        </p:nvSpPr>
        <p:spPr>
          <a:xfrm>
            <a:off x="4663440" y="1801368"/>
            <a:ext cx="4023360" cy="292608"/>
          </a:xfrm>
          <a:prstGeom prst="rect">
            <a:avLst/>
          </a:prstGeom>
          <a:noFill/>
        </p:spPr>
        <p:txBody>
          <a:bodyPr wrap="square">
            <a:spAutoFit/>
          </a:bodyPr>
          <a:lstStyle/>
          <a:p>
            <a:pPr algn="l"/>
            <a:r>
              <a:rPr sz="1000" b="0">
                <a:solidFill>
                  <a:srgbClr val="FFFFFF"/>
                </a:solidFill>
              </a:rPr>
              <a:t>Register new user, returns session token</a:t>
            </a:r>
          </a:p>
        </p:txBody>
      </p:sp>
      <p:sp>
        <p:nvSpPr>
          <p:cNvPr id="19" name="Rectangle 18"/>
          <p:cNvSpPr/>
          <p:nvPr/>
        </p:nvSpPr>
        <p:spPr>
          <a:xfrm>
            <a:off x="365760" y="2130552"/>
            <a:ext cx="8321040" cy="329184"/>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2148840"/>
            <a:ext cx="2834640" cy="292608"/>
          </a:xfrm>
          <a:prstGeom prst="rect">
            <a:avLst/>
          </a:prstGeom>
          <a:noFill/>
        </p:spPr>
        <p:txBody>
          <a:bodyPr wrap="square">
            <a:spAutoFit/>
          </a:bodyPr>
          <a:lstStyle/>
          <a:p>
            <a:pPr algn="l"/>
            <a:r>
              <a:rPr sz="1000" b="0">
                <a:solidFill>
                  <a:srgbClr val="FFFFFF"/>
                </a:solidFill>
              </a:rPr>
              <a:t>POST /api/auth/login</a:t>
            </a:r>
          </a:p>
        </p:txBody>
      </p:sp>
      <p:sp>
        <p:nvSpPr>
          <p:cNvPr id="21" name="TextBox 20"/>
          <p:cNvSpPr txBox="1"/>
          <p:nvPr/>
        </p:nvSpPr>
        <p:spPr>
          <a:xfrm>
            <a:off x="3291840" y="2148840"/>
            <a:ext cx="640080" cy="292608"/>
          </a:xfrm>
          <a:prstGeom prst="rect">
            <a:avLst/>
          </a:prstGeom>
          <a:noFill/>
        </p:spPr>
        <p:txBody>
          <a:bodyPr wrap="square">
            <a:spAutoFit/>
          </a:bodyPr>
          <a:lstStyle/>
          <a:p>
            <a:pPr algn="l"/>
            <a:r>
              <a:rPr sz="1000" b="0">
                <a:solidFill>
                  <a:srgbClr val="FBBF24"/>
                </a:solidFill>
              </a:rPr>
              <a:t>200</a:t>
            </a:r>
          </a:p>
        </p:txBody>
      </p:sp>
      <p:sp>
        <p:nvSpPr>
          <p:cNvPr id="22" name="TextBox 21"/>
          <p:cNvSpPr txBox="1"/>
          <p:nvPr/>
        </p:nvSpPr>
        <p:spPr>
          <a:xfrm>
            <a:off x="3977640" y="2148840"/>
            <a:ext cx="640080" cy="292608"/>
          </a:xfrm>
          <a:prstGeom prst="rect">
            <a:avLst/>
          </a:prstGeom>
          <a:noFill/>
        </p:spPr>
        <p:txBody>
          <a:bodyPr wrap="square">
            <a:spAutoFit/>
          </a:bodyPr>
          <a:lstStyle/>
          <a:p>
            <a:pPr algn="l"/>
            <a:r>
              <a:rPr sz="1000" b="0">
                <a:solidFill>
                  <a:srgbClr val="FFFFFF"/>
                </a:solidFill>
              </a:rPr>
              <a:t>No</a:t>
            </a:r>
          </a:p>
        </p:txBody>
      </p:sp>
      <p:sp>
        <p:nvSpPr>
          <p:cNvPr id="23" name="TextBox 22"/>
          <p:cNvSpPr txBox="1"/>
          <p:nvPr/>
        </p:nvSpPr>
        <p:spPr>
          <a:xfrm>
            <a:off x="4663440" y="2148840"/>
            <a:ext cx="4023360" cy="292608"/>
          </a:xfrm>
          <a:prstGeom prst="rect">
            <a:avLst/>
          </a:prstGeom>
          <a:noFill/>
        </p:spPr>
        <p:txBody>
          <a:bodyPr wrap="square">
            <a:spAutoFit/>
          </a:bodyPr>
          <a:lstStyle/>
          <a:p>
            <a:pPr algn="l"/>
            <a:r>
              <a:rPr sz="1000" b="0">
                <a:solidFill>
                  <a:srgbClr val="FFFFFF"/>
                </a:solidFill>
              </a:rPr>
              <a:t>Authenticate, returns session token</a:t>
            </a:r>
          </a:p>
        </p:txBody>
      </p:sp>
      <p:sp>
        <p:nvSpPr>
          <p:cNvPr id="24" name="Rectangle 23"/>
          <p:cNvSpPr/>
          <p:nvPr/>
        </p:nvSpPr>
        <p:spPr>
          <a:xfrm>
            <a:off x="365760" y="2478024"/>
            <a:ext cx="8321040" cy="329184"/>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2496312"/>
            <a:ext cx="2834640" cy="292608"/>
          </a:xfrm>
          <a:prstGeom prst="rect">
            <a:avLst/>
          </a:prstGeom>
          <a:noFill/>
        </p:spPr>
        <p:txBody>
          <a:bodyPr wrap="square">
            <a:spAutoFit/>
          </a:bodyPr>
          <a:lstStyle/>
          <a:p>
            <a:pPr algn="l"/>
            <a:r>
              <a:rPr sz="1000" b="0">
                <a:solidFill>
                  <a:srgbClr val="FFFFFF"/>
                </a:solidFill>
              </a:rPr>
              <a:t>GET  /api/auth/me</a:t>
            </a:r>
          </a:p>
        </p:txBody>
      </p:sp>
      <p:sp>
        <p:nvSpPr>
          <p:cNvPr id="26" name="TextBox 25"/>
          <p:cNvSpPr txBox="1"/>
          <p:nvPr/>
        </p:nvSpPr>
        <p:spPr>
          <a:xfrm>
            <a:off x="3291840" y="2496312"/>
            <a:ext cx="640080" cy="292608"/>
          </a:xfrm>
          <a:prstGeom prst="rect">
            <a:avLst/>
          </a:prstGeom>
          <a:noFill/>
        </p:spPr>
        <p:txBody>
          <a:bodyPr wrap="square">
            <a:spAutoFit/>
          </a:bodyPr>
          <a:lstStyle/>
          <a:p>
            <a:pPr algn="l"/>
            <a:r>
              <a:rPr sz="1000" b="0">
                <a:solidFill>
                  <a:srgbClr val="FBBF24"/>
                </a:solidFill>
              </a:rPr>
              <a:t>200</a:t>
            </a:r>
          </a:p>
        </p:txBody>
      </p:sp>
      <p:sp>
        <p:nvSpPr>
          <p:cNvPr id="27" name="TextBox 26"/>
          <p:cNvSpPr txBox="1"/>
          <p:nvPr/>
        </p:nvSpPr>
        <p:spPr>
          <a:xfrm>
            <a:off x="3977640" y="2496312"/>
            <a:ext cx="640080" cy="292608"/>
          </a:xfrm>
          <a:prstGeom prst="rect">
            <a:avLst/>
          </a:prstGeom>
          <a:noFill/>
        </p:spPr>
        <p:txBody>
          <a:bodyPr wrap="square">
            <a:spAutoFit/>
          </a:bodyPr>
          <a:lstStyle/>
          <a:p>
            <a:pPr algn="l"/>
            <a:r>
              <a:rPr sz="1000" b="0">
                <a:solidFill>
                  <a:srgbClr val="34D399"/>
                </a:solidFill>
              </a:rPr>
              <a:t>✓ Yes</a:t>
            </a:r>
          </a:p>
        </p:txBody>
      </p:sp>
      <p:sp>
        <p:nvSpPr>
          <p:cNvPr id="28" name="TextBox 27"/>
          <p:cNvSpPr txBox="1"/>
          <p:nvPr/>
        </p:nvSpPr>
        <p:spPr>
          <a:xfrm>
            <a:off x="4663440" y="2496312"/>
            <a:ext cx="4023360" cy="292608"/>
          </a:xfrm>
          <a:prstGeom prst="rect">
            <a:avLst/>
          </a:prstGeom>
          <a:noFill/>
        </p:spPr>
        <p:txBody>
          <a:bodyPr wrap="square">
            <a:spAutoFit/>
          </a:bodyPr>
          <a:lstStyle/>
          <a:p>
            <a:pPr algn="l"/>
            <a:r>
              <a:rPr sz="1000" b="0">
                <a:solidFill>
                  <a:srgbClr val="FFFFFF"/>
                </a:solidFill>
              </a:rPr>
              <a:t>Return authenticated user profile</a:t>
            </a:r>
          </a:p>
        </p:txBody>
      </p:sp>
      <p:sp>
        <p:nvSpPr>
          <p:cNvPr id="29" name="Rectangle 28"/>
          <p:cNvSpPr/>
          <p:nvPr/>
        </p:nvSpPr>
        <p:spPr>
          <a:xfrm>
            <a:off x="365760" y="2825496"/>
            <a:ext cx="8321040" cy="329184"/>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2843784"/>
            <a:ext cx="2834640" cy="292608"/>
          </a:xfrm>
          <a:prstGeom prst="rect">
            <a:avLst/>
          </a:prstGeom>
          <a:noFill/>
        </p:spPr>
        <p:txBody>
          <a:bodyPr wrap="square">
            <a:spAutoFit/>
          </a:bodyPr>
          <a:lstStyle/>
          <a:p>
            <a:pPr algn="l"/>
            <a:r>
              <a:rPr sz="1000" b="0">
                <a:solidFill>
                  <a:srgbClr val="FFFFFF"/>
                </a:solidFill>
              </a:rPr>
              <a:t>GET  /api/trends</a:t>
            </a:r>
          </a:p>
        </p:txBody>
      </p:sp>
      <p:sp>
        <p:nvSpPr>
          <p:cNvPr id="31" name="TextBox 30"/>
          <p:cNvSpPr txBox="1"/>
          <p:nvPr/>
        </p:nvSpPr>
        <p:spPr>
          <a:xfrm>
            <a:off x="3291840" y="2843784"/>
            <a:ext cx="640080" cy="292608"/>
          </a:xfrm>
          <a:prstGeom prst="rect">
            <a:avLst/>
          </a:prstGeom>
          <a:noFill/>
        </p:spPr>
        <p:txBody>
          <a:bodyPr wrap="square">
            <a:spAutoFit/>
          </a:bodyPr>
          <a:lstStyle/>
          <a:p>
            <a:pPr algn="l"/>
            <a:r>
              <a:rPr sz="1000" b="0">
                <a:solidFill>
                  <a:srgbClr val="FBBF24"/>
                </a:solidFill>
              </a:rPr>
              <a:t>200</a:t>
            </a:r>
          </a:p>
        </p:txBody>
      </p:sp>
      <p:sp>
        <p:nvSpPr>
          <p:cNvPr id="32" name="TextBox 31"/>
          <p:cNvSpPr txBox="1"/>
          <p:nvPr/>
        </p:nvSpPr>
        <p:spPr>
          <a:xfrm>
            <a:off x="3977640" y="2843784"/>
            <a:ext cx="640080" cy="292608"/>
          </a:xfrm>
          <a:prstGeom prst="rect">
            <a:avLst/>
          </a:prstGeom>
          <a:noFill/>
        </p:spPr>
        <p:txBody>
          <a:bodyPr wrap="square">
            <a:spAutoFit/>
          </a:bodyPr>
          <a:lstStyle/>
          <a:p>
            <a:pPr algn="l"/>
            <a:r>
              <a:rPr sz="1000" b="0">
                <a:solidFill>
                  <a:srgbClr val="FFFFFF"/>
                </a:solidFill>
              </a:rPr>
              <a:t>No</a:t>
            </a:r>
          </a:p>
        </p:txBody>
      </p:sp>
      <p:sp>
        <p:nvSpPr>
          <p:cNvPr id="33" name="TextBox 32"/>
          <p:cNvSpPr txBox="1"/>
          <p:nvPr/>
        </p:nvSpPr>
        <p:spPr>
          <a:xfrm>
            <a:off x="4663440" y="2843784"/>
            <a:ext cx="4023360" cy="292608"/>
          </a:xfrm>
          <a:prstGeom prst="rect">
            <a:avLst/>
          </a:prstGeom>
          <a:noFill/>
        </p:spPr>
        <p:txBody>
          <a:bodyPr wrap="square">
            <a:spAutoFit/>
          </a:bodyPr>
          <a:lstStyle/>
          <a:p>
            <a:pPr algn="l"/>
            <a:r>
              <a:rPr sz="1000" b="0">
                <a:solidFill>
                  <a:srgbClr val="FFFFFF"/>
                </a:solidFill>
              </a:rPr>
              <a:t>Monthly avg price + growth (filterable)</a:t>
            </a:r>
          </a:p>
        </p:txBody>
      </p:sp>
      <p:sp>
        <p:nvSpPr>
          <p:cNvPr id="34" name="Rectangle 33"/>
          <p:cNvSpPr/>
          <p:nvPr/>
        </p:nvSpPr>
        <p:spPr>
          <a:xfrm>
            <a:off x="365760" y="3172968"/>
            <a:ext cx="8321040" cy="329184"/>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3191256"/>
            <a:ext cx="2834640" cy="292608"/>
          </a:xfrm>
          <a:prstGeom prst="rect">
            <a:avLst/>
          </a:prstGeom>
          <a:noFill/>
        </p:spPr>
        <p:txBody>
          <a:bodyPr wrap="square">
            <a:spAutoFit/>
          </a:bodyPr>
          <a:lstStyle/>
          <a:p>
            <a:pPr algn="l"/>
            <a:r>
              <a:rPr sz="1000" b="0">
                <a:solidFill>
                  <a:srgbClr val="FFFFFF"/>
                </a:solidFill>
              </a:rPr>
              <a:t>GET  /api/heatmap</a:t>
            </a:r>
          </a:p>
        </p:txBody>
      </p:sp>
      <p:sp>
        <p:nvSpPr>
          <p:cNvPr id="36" name="TextBox 35"/>
          <p:cNvSpPr txBox="1"/>
          <p:nvPr/>
        </p:nvSpPr>
        <p:spPr>
          <a:xfrm>
            <a:off x="3291840" y="3191256"/>
            <a:ext cx="640080" cy="292608"/>
          </a:xfrm>
          <a:prstGeom prst="rect">
            <a:avLst/>
          </a:prstGeom>
          <a:noFill/>
        </p:spPr>
        <p:txBody>
          <a:bodyPr wrap="square">
            <a:spAutoFit/>
          </a:bodyPr>
          <a:lstStyle/>
          <a:p>
            <a:pPr algn="l"/>
            <a:r>
              <a:rPr sz="1000" b="0">
                <a:solidFill>
                  <a:srgbClr val="FBBF24"/>
                </a:solidFill>
              </a:rPr>
              <a:t>200</a:t>
            </a:r>
          </a:p>
        </p:txBody>
      </p:sp>
      <p:sp>
        <p:nvSpPr>
          <p:cNvPr id="37" name="TextBox 36"/>
          <p:cNvSpPr txBox="1"/>
          <p:nvPr/>
        </p:nvSpPr>
        <p:spPr>
          <a:xfrm>
            <a:off x="3977640" y="3191256"/>
            <a:ext cx="640080" cy="292608"/>
          </a:xfrm>
          <a:prstGeom prst="rect">
            <a:avLst/>
          </a:prstGeom>
          <a:noFill/>
        </p:spPr>
        <p:txBody>
          <a:bodyPr wrap="square">
            <a:spAutoFit/>
          </a:bodyPr>
          <a:lstStyle/>
          <a:p>
            <a:pPr algn="l"/>
            <a:r>
              <a:rPr sz="1000" b="0">
                <a:solidFill>
                  <a:srgbClr val="FFFFFF"/>
                </a:solidFill>
              </a:rPr>
              <a:t>No</a:t>
            </a:r>
          </a:p>
        </p:txBody>
      </p:sp>
      <p:sp>
        <p:nvSpPr>
          <p:cNvPr id="38" name="TextBox 37"/>
          <p:cNvSpPr txBox="1"/>
          <p:nvPr/>
        </p:nvSpPr>
        <p:spPr>
          <a:xfrm>
            <a:off x="4663440" y="3191256"/>
            <a:ext cx="4023360" cy="292608"/>
          </a:xfrm>
          <a:prstGeom prst="rect">
            <a:avLst/>
          </a:prstGeom>
          <a:noFill/>
        </p:spPr>
        <p:txBody>
          <a:bodyPr wrap="square">
            <a:spAutoFit/>
          </a:bodyPr>
          <a:lstStyle/>
          <a:p>
            <a:pPr algn="l"/>
            <a:r>
              <a:rPr sz="1000" b="0">
                <a:solidFill>
                  <a:srgbClr val="FFFFFF"/>
                </a:solidFill>
              </a:rPr>
              <a:t>County-level avg price + volume</a:t>
            </a:r>
          </a:p>
        </p:txBody>
      </p:sp>
      <p:sp>
        <p:nvSpPr>
          <p:cNvPr id="39" name="Rectangle 38"/>
          <p:cNvSpPr/>
          <p:nvPr/>
        </p:nvSpPr>
        <p:spPr>
          <a:xfrm>
            <a:off x="365760" y="3520439"/>
            <a:ext cx="8321040" cy="329184"/>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3538727"/>
            <a:ext cx="2834640" cy="292608"/>
          </a:xfrm>
          <a:prstGeom prst="rect">
            <a:avLst/>
          </a:prstGeom>
          <a:noFill/>
        </p:spPr>
        <p:txBody>
          <a:bodyPr wrap="square">
            <a:spAutoFit/>
          </a:bodyPr>
          <a:lstStyle/>
          <a:p>
            <a:pPr algn="l"/>
            <a:r>
              <a:rPr sz="1000" b="0">
                <a:solidFill>
                  <a:srgbClr val="FFFFFF"/>
                </a:solidFill>
              </a:rPr>
              <a:t>GET  /api/properties</a:t>
            </a:r>
          </a:p>
        </p:txBody>
      </p:sp>
      <p:sp>
        <p:nvSpPr>
          <p:cNvPr id="41" name="TextBox 40"/>
          <p:cNvSpPr txBox="1"/>
          <p:nvPr/>
        </p:nvSpPr>
        <p:spPr>
          <a:xfrm>
            <a:off x="3291840" y="3538727"/>
            <a:ext cx="640080" cy="292608"/>
          </a:xfrm>
          <a:prstGeom prst="rect">
            <a:avLst/>
          </a:prstGeom>
          <a:noFill/>
        </p:spPr>
        <p:txBody>
          <a:bodyPr wrap="square">
            <a:spAutoFit/>
          </a:bodyPr>
          <a:lstStyle/>
          <a:p>
            <a:pPr algn="l"/>
            <a:r>
              <a:rPr sz="1000" b="0">
                <a:solidFill>
                  <a:srgbClr val="FBBF24"/>
                </a:solidFill>
              </a:rPr>
              <a:t>200</a:t>
            </a:r>
          </a:p>
        </p:txBody>
      </p:sp>
      <p:sp>
        <p:nvSpPr>
          <p:cNvPr id="42" name="TextBox 41"/>
          <p:cNvSpPr txBox="1"/>
          <p:nvPr/>
        </p:nvSpPr>
        <p:spPr>
          <a:xfrm>
            <a:off x="3977640" y="3538727"/>
            <a:ext cx="640080" cy="292608"/>
          </a:xfrm>
          <a:prstGeom prst="rect">
            <a:avLst/>
          </a:prstGeom>
          <a:noFill/>
        </p:spPr>
        <p:txBody>
          <a:bodyPr wrap="square">
            <a:spAutoFit/>
          </a:bodyPr>
          <a:lstStyle/>
          <a:p>
            <a:pPr algn="l"/>
            <a:r>
              <a:rPr sz="1000" b="0">
                <a:solidFill>
                  <a:srgbClr val="FFFFFF"/>
                </a:solidFill>
              </a:rPr>
              <a:t>No</a:t>
            </a:r>
          </a:p>
        </p:txBody>
      </p:sp>
      <p:sp>
        <p:nvSpPr>
          <p:cNvPr id="43" name="TextBox 42"/>
          <p:cNvSpPr txBox="1"/>
          <p:nvPr/>
        </p:nvSpPr>
        <p:spPr>
          <a:xfrm>
            <a:off x="4663440" y="3538727"/>
            <a:ext cx="4023360" cy="292608"/>
          </a:xfrm>
          <a:prstGeom prst="rect">
            <a:avLst/>
          </a:prstGeom>
          <a:noFill/>
        </p:spPr>
        <p:txBody>
          <a:bodyPr wrap="square">
            <a:spAutoFit/>
          </a:bodyPr>
          <a:lstStyle/>
          <a:p>
            <a:pPr algn="l"/>
            <a:r>
              <a:rPr sz="1000" b="0">
                <a:solidFill>
                  <a:srgbClr val="FFFFFF"/>
                </a:solidFill>
              </a:rPr>
              <a:t>Paginated property listing with filters</a:t>
            </a:r>
          </a:p>
        </p:txBody>
      </p:sp>
      <p:sp>
        <p:nvSpPr>
          <p:cNvPr id="44" name="Rectangle 43"/>
          <p:cNvSpPr/>
          <p:nvPr/>
        </p:nvSpPr>
        <p:spPr>
          <a:xfrm>
            <a:off x="365760" y="3867912"/>
            <a:ext cx="8321040" cy="329184"/>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 y="3886200"/>
            <a:ext cx="2834640" cy="292608"/>
          </a:xfrm>
          <a:prstGeom prst="rect">
            <a:avLst/>
          </a:prstGeom>
          <a:noFill/>
        </p:spPr>
        <p:txBody>
          <a:bodyPr wrap="square">
            <a:spAutoFit/>
          </a:bodyPr>
          <a:lstStyle/>
          <a:p>
            <a:pPr algn="l"/>
            <a:r>
              <a:rPr sz="1000" b="0">
                <a:solidFill>
                  <a:srgbClr val="FFFFFF"/>
                </a:solidFill>
              </a:rPr>
              <a:t>GET  /api/stats</a:t>
            </a:r>
          </a:p>
        </p:txBody>
      </p:sp>
      <p:sp>
        <p:nvSpPr>
          <p:cNvPr id="46" name="TextBox 45"/>
          <p:cNvSpPr txBox="1"/>
          <p:nvPr/>
        </p:nvSpPr>
        <p:spPr>
          <a:xfrm>
            <a:off x="3291840" y="3886200"/>
            <a:ext cx="640080" cy="292608"/>
          </a:xfrm>
          <a:prstGeom prst="rect">
            <a:avLst/>
          </a:prstGeom>
          <a:noFill/>
        </p:spPr>
        <p:txBody>
          <a:bodyPr wrap="square">
            <a:spAutoFit/>
          </a:bodyPr>
          <a:lstStyle/>
          <a:p>
            <a:pPr algn="l"/>
            <a:r>
              <a:rPr sz="1000" b="0">
                <a:solidFill>
                  <a:srgbClr val="FBBF24"/>
                </a:solidFill>
              </a:rPr>
              <a:t>200</a:t>
            </a:r>
          </a:p>
        </p:txBody>
      </p:sp>
      <p:sp>
        <p:nvSpPr>
          <p:cNvPr id="47" name="TextBox 46"/>
          <p:cNvSpPr txBox="1"/>
          <p:nvPr/>
        </p:nvSpPr>
        <p:spPr>
          <a:xfrm>
            <a:off x="3977640" y="3886200"/>
            <a:ext cx="640080" cy="292608"/>
          </a:xfrm>
          <a:prstGeom prst="rect">
            <a:avLst/>
          </a:prstGeom>
          <a:noFill/>
        </p:spPr>
        <p:txBody>
          <a:bodyPr wrap="square">
            <a:spAutoFit/>
          </a:bodyPr>
          <a:lstStyle/>
          <a:p>
            <a:pPr algn="l"/>
            <a:r>
              <a:rPr sz="1000" b="0">
                <a:solidFill>
                  <a:srgbClr val="FFFFFF"/>
                </a:solidFill>
              </a:rPr>
              <a:t>No</a:t>
            </a:r>
          </a:p>
        </p:txBody>
      </p:sp>
      <p:sp>
        <p:nvSpPr>
          <p:cNvPr id="48" name="TextBox 47"/>
          <p:cNvSpPr txBox="1"/>
          <p:nvPr/>
        </p:nvSpPr>
        <p:spPr>
          <a:xfrm>
            <a:off x="4663440" y="3886200"/>
            <a:ext cx="4023360" cy="292608"/>
          </a:xfrm>
          <a:prstGeom prst="rect">
            <a:avLst/>
          </a:prstGeom>
          <a:noFill/>
        </p:spPr>
        <p:txBody>
          <a:bodyPr wrap="square">
            <a:spAutoFit/>
          </a:bodyPr>
          <a:lstStyle/>
          <a:p>
            <a:pPr algn="l"/>
            <a:r>
              <a:rPr sz="1000" b="0">
                <a:solidFill>
                  <a:srgbClr val="FFFFFF"/>
                </a:solidFill>
              </a:rPr>
              <a:t>Total properties, avg price, latest date</a:t>
            </a:r>
          </a:p>
        </p:txBody>
      </p:sp>
      <p:sp>
        <p:nvSpPr>
          <p:cNvPr id="49" name="Rectangle 48"/>
          <p:cNvSpPr/>
          <p:nvPr/>
        </p:nvSpPr>
        <p:spPr>
          <a:xfrm>
            <a:off x="365760" y="4215384"/>
            <a:ext cx="8321040" cy="329184"/>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1480" y="4233672"/>
            <a:ext cx="2834640" cy="292608"/>
          </a:xfrm>
          <a:prstGeom prst="rect">
            <a:avLst/>
          </a:prstGeom>
          <a:noFill/>
        </p:spPr>
        <p:txBody>
          <a:bodyPr wrap="square">
            <a:spAutoFit/>
          </a:bodyPr>
          <a:lstStyle/>
          <a:p>
            <a:pPr algn="l"/>
            <a:r>
              <a:rPr sz="1000" b="0">
                <a:solidFill>
                  <a:srgbClr val="FFFFFF"/>
                </a:solidFill>
              </a:rPr>
              <a:t>GET  /api/regions</a:t>
            </a:r>
          </a:p>
        </p:txBody>
      </p:sp>
      <p:sp>
        <p:nvSpPr>
          <p:cNvPr id="51" name="TextBox 50"/>
          <p:cNvSpPr txBox="1"/>
          <p:nvPr/>
        </p:nvSpPr>
        <p:spPr>
          <a:xfrm>
            <a:off x="3291840" y="4233672"/>
            <a:ext cx="640080" cy="292608"/>
          </a:xfrm>
          <a:prstGeom prst="rect">
            <a:avLst/>
          </a:prstGeom>
          <a:noFill/>
        </p:spPr>
        <p:txBody>
          <a:bodyPr wrap="square">
            <a:spAutoFit/>
          </a:bodyPr>
          <a:lstStyle/>
          <a:p>
            <a:pPr algn="l"/>
            <a:r>
              <a:rPr sz="1000" b="0">
                <a:solidFill>
                  <a:srgbClr val="FBBF24"/>
                </a:solidFill>
              </a:rPr>
              <a:t>200</a:t>
            </a:r>
          </a:p>
        </p:txBody>
      </p:sp>
      <p:sp>
        <p:nvSpPr>
          <p:cNvPr id="52" name="TextBox 51"/>
          <p:cNvSpPr txBox="1"/>
          <p:nvPr/>
        </p:nvSpPr>
        <p:spPr>
          <a:xfrm>
            <a:off x="3977640" y="4233672"/>
            <a:ext cx="640080" cy="292608"/>
          </a:xfrm>
          <a:prstGeom prst="rect">
            <a:avLst/>
          </a:prstGeom>
          <a:noFill/>
        </p:spPr>
        <p:txBody>
          <a:bodyPr wrap="square">
            <a:spAutoFit/>
          </a:bodyPr>
          <a:lstStyle/>
          <a:p>
            <a:pPr algn="l"/>
            <a:r>
              <a:rPr sz="1000" b="0">
                <a:solidFill>
                  <a:srgbClr val="FFFFFF"/>
                </a:solidFill>
              </a:rPr>
              <a:t>No</a:t>
            </a:r>
          </a:p>
        </p:txBody>
      </p:sp>
      <p:sp>
        <p:nvSpPr>
          <p:cNvPr id="53" name="TextBox 52"/>
          <p:cNvSpPr txBox="1"/>
          <p:nvPr/>
        </p:nvSpPr>
        <p:spPr>
          <a:xfrm>
            <a:off x="4663440" y="4233672"/>
            <a:ext cx="4023360" cy="292608"/>
          </a:xfrm>
          <a:prstGeom prst="rect">
            <a:avLst/>
          </a:prstGeom>
          <a:noFill/>
        </p:spPr>
        <p:txBody>
          <a:bodyPr wrap="square">
            <a:spAutoFit/>
          </a:bodyPr>
          <a:lstStyle/>
          <a:p>
            <a:pPr algn="l"/>
            <a:r>
              <a:rPr sz="1000" b="0">
                <a:solidFill>
                  <a:srgbClr val="FFFFFF"/>
                </a:solidFill>
              </a:rPr>
              <a:t>Distinct region names for filter UI</a:t>
            </a:r>
          </a:p>
        </p:txBody>
      </p:sp>
      <p:sp>
        <p:nvSpPr>
          <p:cNvPr id="54" name="Rectangle 53"/>
          <p:cNvSpPr/>
          <p:nvPr/>
        </p:nvSpPr>
        <p:spPr>
          <a:xfrm>
            <a:off x="365760" y="4562856"/>
            <a:ext cx="8321040" cy="329184"/>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11480" y="4581144"/>
            <a:ext cx="2834640" cy="292608"/>
          </a:xfrm>
          <a:prstGeom prst="rect">
            <a:avLst/>
          </a:prstGeom>
          <a:noFill/>
        </p:spPr>
        <p:txBody>
          <a:bodyPr wrap="square">
            <a:spAutoFit/>
          </a:bodyPr>
          <a:lstStyle/>
          <a:p>
            <a:pPr algn="l"/>
            <a:r>
              <a:rPr sz="1000" b="0">
                <a:solidFill>
                  <a:srgbClr val="FFFFFF"/>
                </a:solidFill>
              </a:rPr>
              <a:t>POST /api/insights/region</a:t>
            </a:r>
          </a:p>
        </p:txBody>
      </p:sp>
      <p:sp>
        <p:nvSpPr>
          <p:cNvPr id="56" name="TextBox 55"/>
          <p:cNvSpPr txBox="1"/>
          <p:nvPr/>
        </p:nvSpPr>
        <p:spPr>
          <a:xfrm>
            <a:off x="3291840" y="4581144"/>
            <a:ext cx="640080" cy="292608"/>
          </a:xfrm>
          <a:prstGeom prst="rect">
            <a:avLst/>
          </a:prstGeom>
          <a:noFill/>
        </p:spPr>
        <p:txBody>
          <a:bodyPr wrap="square">
            <a:spAutoFit/>
          </a:bodyPr>
          <a:lstStyle/>
          <a:p>
            <a:pPr algn="l"/>
            <a:r>
              <a:rPr sz="1000" b="0">
                <a:solidFill>
                  <a:srgbClr val="FBBF24"/>
                </a:solidFill>
              </a:rPr>
              <a:t>200</a:t>
            </a:r>
          </a:p>
        </p:txBody>
      </p:sp>
      <p:sp>
        <p:nvSpPr>
          <p:cNvPr id="57" name="TextBox 56"/>
          <p:cNvSpPr txBox="1"/>
          <p:nvPr/>
        </p:nvSpPr>
        <p:spPr>
          <a:xfrm>
            <a:off x="3977640" y="4581144"/>
            <a:ext cx="640080" cy="292608"/>
          </a:xfrm>
          <a:prstGeom prst="rect">
            <a:avLst/>
          </a:prstGeom>
          <a:noFill/>
        </p:spPr>
        <p:txBody>
          <a:bodyPr wrap="square">
            <a:spAutoFit/>
          </a:bodyPr>
          <a:lstStyle/>
          <a:p>
            <a:pPr algn="l"/>
            <a:r>
              <a:rPr sz="1000" b="0">
                <a:solidFill>
                  <a:srgbClr val="FFFFFF"/>
                </a:solidFill>
              </a:rPr>
              <a:t>No</a:t>
            </a:r>
          </a:p>
        </p:txBody>
      </p:sp>
      <p:sp>
        <p:nvSpPr>
          <p:cNvPr id="58" name="TextBox 57"/>
          <p:cNvSpPr txBox="1"/>
          <p:nvPr/>
        </p:nvSpPr>
        <p:spPr>
          <a:xfrm>
            <a:off x="4663440" y="4581144"/>
            <a:ext cx="4023360" cy="292608"/>
          </a:xfrm>
          <a:prstGeom prst="rect">
            <a:avLst/>
          </a:prstGeom>
          <a:noFill/>
        </p:spPr>
        <p:txBody>
          <a:bodyPr wrap="square">
            <a:spAutoFit/>
          </a:bodyPr>
          <a:lstStyle/>
          <a:p>
            <a:pPr algn="l"/>
            <a:r>
              <a:rPr sz="1000" b="0">
                <a:solidFill>
                  <a:srgbClr val="FFFFFF"/>
                </a:solidFill>
              </a:rPr>
              <a:t>Full market profile for a region</a:t>
            </a:r>
          </a:p>
        </p:txBody>
      </p:sp>
      <p:sp>
        <p:nvSpPr>
          <p:cNvPr id="59" name="Rectangle 58"/>
          <p:cNvSpPr/>
          <p:nvPr/>
        </p:nvSpPr>
        <p:spPr>
          <a:xfrm>
            <a:off x="365760" y="4910328"/>
            <a:ext cx="8321040" cy="329184"/>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11480" y="4928616"/>
            <a:ext cx="2834640" cy="292608"/>
          </a:xfrm>
          <a:prstGeom prst="rect">
            <a:avLst/>
          </a:prstGeom>
          <a:noFill/>
        </p:spPr>
        <p:txBody>
          <a:bodyPr wrap="square">
            <a:spAutoFit/>
          </a:bodyPr>
          <a:lstStyle/>
          <a:p>
            <a:pPr algn="l"/>
            <a:r>
              <a:rPr sz="1000" b="0">
                <a:solidFill>
                  <a:srgbClr val="FFFFFF"/>
                </a:solidFill>
              </a:rPr>
              <a:t>GET/POST/PUT/DELETE /api/saved</a:t>
            </a:r>
          </a:p>
        </p:txBody>
      </p:sp>
      <p:sp>
        <p:nvSpPr>
          <p:cNvPr id="61" name="TextBox 60"/>
          <p:cNvSpPr txBox="1"/>
          <p:nvPr/>
        </p:nvSpPr>
        <p:spPr>
          <a:xfrm>
            <a:off x="3291840" y="4928616"/>
            <a:ext cx="640080" cy="292608"/>
          </a:xfrm>
          <a:prstGeom prst="rect">
            <a:avLst/>
          </a:prstGeom>
          <a:noFill/>
        </p:spPr>
        <p:txBody>
          <a:bodyPr wrap="square">
            <a:spAutoFit/>
          </a:bodyPr>
          <a:lstStyle/>
          <a:p>
            <a:pPr algn="l"/>
            <a:r>
              <a:rPr sz="1000" b="0">
                <a:solidFill>
                  <a:srgbClr val="FBBF24"/>
                </a:solidFill>
              </a:rPr>
              <a:t>200/201</a:t>
            </a:r>
          </a:p>
        </p:txBody>
      </p:sp>
      <p:sp>
        <p:nvSpPr>
          <p:cNvPr id="62" name="TextBox 61"/>
          <p:cNvSpPr txBox="1"/>
          <p:nvPr/>
        </p:nvSpPr>
        <p:spPr>
          <a:xfrm>
            <a:off x="3977640" y="4928616"/>
            <a:ext cx="640080" cy="292608"/>
          </a:xfrm>
          <a:prstGeom prst="rect">
            <a:avLst/>
          </a:prstGeom>
          <a:noFill/>
        </p:spPr>
        <p:txBody>
          <a:bodyPr wrap="square">
            <a:spAutoFit/>
          </a:bodyPr>
          <a:lstStyle/>
          <a:p>
            <a:pPr algn="l"/>
            <a:r>
              <a:rPr sz="1000" b="0">
                <a:solidFill>
                  <a:srgbClr val="34D399"/>
                </a:solidFill>
              </a:rPr>
              <a:t>✓ Yes</a:t>
            </a:r>
          </a:p>
        </p:txBody>
      </p:sp>
      <p:sp>
        <p:nvSpPr>
          <p:cNvPr id="63" name="TextBox 62"/>
          <p:cNvSpPr txBox="1"/>
          <p:nvPr/>
        </p:nvSpPr>
        <p:spPr>
          <a:xfrm>
            <a:off x="4663440" y="4928616"/>
            <a:ext cx="4023360" cy="292608"/>
          </a:xfrm>
          <a:prstGeom prst="rect">
            <a:avLst/>
          </a:prstGeom>
          <a:noFill/>
        </p:spPr>
        <p:txBody>
          <a:bodyPr wrap="square">
            <a:spAutoFit/>
          </a:bodyPr>
          <a:lstStyle/>
          <a:p>
            <a:pPr algn="l"/>
            <a:r>
              <a:rPr sz="1000" b="0">
                <a:solidFill>
                  <a:srgbClr val="FFFFFF"/>
                </a:solidFill>
              </a:rPr>
              <a:t>Saved listings CRUD</a:t>
            </a:r>
          </a:p>
        </p:txBody>
      </p:sp>
      <p:sp>
        <p:nvSpPr>
          <p:cNvPr id="64" name="Rectangle 63"/>
          <p:cNvSpPr/>
          <p:nvPr/>
        </p:nvSpPr>
        <p:spPr>
          <a:xfrm>
            <a:off x="8823960" y="1005840"/>
            <a:ext cx="3154680" cy="530352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961120" y="1097280"/>
            <a:ext cx="2926080" cy="365760"/>
          </a:xfrm>
          <a:prstGeom prst="rect">
            <a:avLst/>
          </a:prstGeom>
          <a:noFill/>
        </p:spPr>
        <p:txBody>
          <a:bodyPr wrap="square">
            <a:spAutoFit/>
          </a:bodyPr>
          <a:lstStyle/>
          <a:p>
            <a:pPr algn="l"/>
            <a:r>
              <a:rPr sz="1400" b="1">
                <a:solidFill>
                  <a:srgbClr val="38BDF8"/>
                </a:solidFill>
              </a:rPr>
              <a:t>Response Envelope</a:t>
            </a:r>
          </a:p>
        </p:txBody>
      </p:sp>
      <p:sp>
        <p:nvSpPr>
          <p:cNvPr id="66" name="TextBox 65"/>
          <p:cNvSpPr txBox="1"/>
          <p:nvPr/>
        </p:nvSpPr>
        <p:spPr>
          <a:xfrm>
            <a:off x="8961120" y="1508760"/>
            <a:ext cx="2880360" cy="3474720"/>
          </a:xfrm>
          <a:prstGeom prst="rect">
            <a:avLst/>
          </a:prstGeom>
          <a:noFill/>
        </p:spPr>
        <p:txBody>
          <a:bodyPr wrap="square">
            <a:spAutoFit/>
          </a:bodyPr>
          <a:lstStyle/>
          <a:p>
            <a:pPr algn="l"/>
            <a:r>
              <a:rPr sz="1100" b="0">
                <a:solidFill>
                  <a:srgbClr val="34D399"/>
                </a:solidFill>
              </a:rPr>
              <a:t>{ "success": true,
  "data": { ... } }
{ "success": false,
  "error": "message" }
Auth: Bearer &lt;token&gt;
in Authorization header
7-day session expiry
Instant revocation on logout</a:t>
            </a:r>
          </a:p>
        </p:txBody>
      </p:sp>
      <p:sp>
        <p:nvSpPr>
          <p:cNvPr id="67" name="TextBox 66"/>
          <p:cNvSpPr txBox="1"/>
          <p:nvPr/>
        </p:nvSpPr>
        <p:spPr>
          <a:xfrm>
            <a:off x="8961120" y="5029200"/>
            <a:ext cx="2880360" cy="731520"/>
          </a:xfrm>
          <a:prstGeom prst="rect">
            <a:avLst/>
          </a:prstGeom>
          <a:noFill/>
        </p:spPr>
        <p:txBody>
          <a:bodyPr wrap="square">
            <a:spAutoFit/>
          </a:bodyPr>
          <a:lstStyle/>
          <a:p>
            <a:pPr algn="l"/>
            <a:r>
              <a:rPr sz="1100" b="0">
                <a:solidFill>
                  <a:srgbClr val="FBBF24"/>
                </a:solidFill>
              </a:rPr>
              <a:t>📄  Swagger UI: /api/docs
OpenAPI JSON: /api/docs.json</a:t>
            </a:r>
          </a:p>
        </p:txBody>
      </p:sp>
      <p:sp>
        <p:nvSpPr>
          <p:cNvPr id="68" name="TextBox 67"/>
          <p:cNvSpPr txBox="1"/>
          <p:nvPr/>
        </p:nvSpPr>
        <p:spPr>
          <a:xfrm>
            <a:off x="365760" y="6446520"/>
            <a:ext cx="11430000" cy="320040"/>
          </a:xfrm>
          <a:prstGeom prst="rect">
            <a:avLst/>
          </a:prstGeom>
          <a:noFill/>
        </p:spPr>
        <p:txBody>
          <a:bodyPr wrap="square">
            <a:spAutoFit/>
          </a:bodyPr>
          <a:lstStyle/>
          <a:p>
            <a:pPr algn="ctr"/>
            <a:r>
              <a:rPr sz="1000" b="0">
                <a:solidFill>
                  <a:srgbClr val="94A3B8"/>
                </a:solidFill>
              </a:rPr>
              <a:t>All inputs validated with Zod middleware  •  Consistent error codes follow RFC 7231  •  Parameterised queries prevent SQL injection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9144000" cy="548640"/>
          </a:xfrm>
          <a:prstGeom prst="rect">
            <a:avLst/>
          </a:prstGeom>
          <a:noFill/>
        </p:spPr>
        <p:txBody>
          <a:bodyPr wrap="square">
            <a:spAutoFit/>
          </a:bodyPr>
          <a:lstStyle/>
          <a:p>
            <a:pPr algn="l"/>
            <a:r>
              <a:rPr sz="3200" b="1">
                <a:solidFill>
                  <a:srgbClr val="FFFFFF"/>
                </a:solidFill>
              </a:rPr>
              <a:t>Data Model &amp; Schema</a:t>
            </a:r>
          </a:p>
        </p:txBody>
      </p:sp>
      <p:sp>
        <p:nvSpPr>
          <p:cNvPr id="4" name="Rectangle 3"/>
          <p:cNvSpPr/>
          <p:nvPr/>
        </p:nvSpPr>
        <p:spPr>
          <a:xfrm>
            <a:off x="365760" y="868680"/>
            <a:ext cx="1145743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005840"/>
            <a:ext cx="2651760" cy="228600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005840"/>
            <a:ext cx="265176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042416"/>
            <a:ext cx="2468880" cy="320040"/>
          </a:xfrm>
          <a:prstGeom prst="rect">
            <a:avLst/>
          </a:prstGeom>
          <a:noFill/>
        </p:spPr>
        <p:txBody>
          <a:bodyPr wrap="square">
            <a:spAutoFit/>
          </a:bodyPr>
          <a:lstStyle/>
          <a:p>
            <a:pPr algn="ctr"/>
            <a:r>
              <a:rPr sz="1400" b="1">
                <a:solidFill>
                  <a:srgbClr val="0F172A"/>
                </a:solidFill>
              </a:rPr>
              <a:t>users</a:t>
            </a:r>
          </a:p>
        </p:txBody>
      </p:sp>
      <p:sp>
        <p:nvSpPr>
          <p:cNvPr id="8" name="TextBox 7"/>
          <p:cNvSpPr txBox="1"/>
          <p:nvPr/>
        </p:nvSpPr>
        <p:spPr>
          <a:xfrm>
            <a:off x="457200" y="1444752"/>
            <a:ext cx="2468880" cy="329184"/>
          </a:xfrm>
          <a:prstGeom prst="rect">
            <a:avLst/>
          </a:prstGeom>
          <a:noFill/>
        </p:spPr>
        <p:txBody>
          <a:bodyPr wrap="square">
            <a:spAutoFit/>
          </a:bodyPr>
          <a:lstStyle/>
          <a:p>
            <a:pPr algn="l"/>
            <a:r>
              <a:rPr sz="1100" b="0">
                <a:solidFill>
                  <a:srgbClr val="FFFFFF"/>
                </a:solidFill>
              </a:rPr>
              <a:t>  id (UUID PK)</a:t>
            </a:r>
          </a:p>
        </p:txBody>
      </p:sp>
      <p:sp>
        <p:nvSpPr>
          <p:cNvPr id="9" name="TextBox 8"/>
          <p:cNvSpPr txBox="1"/>
          <p:nvPr/>
        </p:nvSpPr>
        <p:spPr>
          <a:xfrm>
            <a:off x="457200" y="1792224"/>
            <a:ext cx="2468880" cy="329184"/>
          </a:xfrm>
          <a:prstGeom prst="rect">
            <a:avLst/>
          </a:prstGeom>
          <a:noFill/>
        </p:spPr>
        <p:txBody>
          <a:bodyPr wrap="square">
            <a:spAutoFit/>
          </a:bodyPr>
          <a:lstStyle/>
          <a:p>
            <a:pPr algn="l"/>
            <a:r>
              <a:rPr sz="1100" b="0">
                <a:solidFill>
                  <a:srgbClr val="FFFFFF"/>
                </a:solidFill>
              </a:rPr>
              <a:t>  email (unique)</a:t>
            </a:r>
          </a:p>
        </p:txBody>
      </p:sp>
      <p:sp>
        <p:nvSpPr>
          <p:cNvPr id="10" name="TextBox 9"/>
          <p:cNvSpPr txBox="1"/>
          <p:nvPr/>
        </p:nvSpPr>
        <p:spPr>
          <a:xfrm>
            <a:off x="457200" y="2139696"/>
            <a:ext cx="2468880" cy="329184"/>
          </a:xfrm>
          <a:prstGeom prst="rect">
            <a:avLst/>
          </a:prstGeom>
          <a:noFill/>
        </p:spPr>
        <p:txBody>
          <a:bodyPr wrap="square">
            <a:spAutoFit/>
          </a:bodyPr>
          <a:lstStyle/>
          <a:p>
            <a:pPr algn="l"/>
            <a:r>
              <a:rPr sz="1100" b="0">
                <a:solidFill>
                  <a:srgbClr val="FFFFFF"/>
                </a:solidFill>
              </a:rPr>
              <a:t>  password_hash</a:t>
            </a:r>
          </a:p>
        </p:txBody>
      </p:sp>
      <p:sp>
        <p:nvSpPr>
          <p:cNvPr id="11" name="TextBox 10"/>
          <p:cNvSpPr txBox="1"/>
          <p:nvPr/>
        </p:nvSpPr>
        <p:spPr>
          <a:xfrm>
            <a:off x="457200" y="2487168"/>
            <a:ext cx="2468880" cy="329184"/>
          </a:xfrm>
          <a:prstGeom prst="rect">
            <a:avLst/>
          </a:prstGeom>
          <a:noFill/>
        </p:spPr>
        <p:txBody>
          <a:bodyPr wrap="square">
            <a:spAutoFit/>
          </a:bodyPr>
          <a:lstStyle/>
          <a:p>
            <a:pPr algn="l"/>
            <a:r>
              <a:rPr sz="1100" b="0">
                <a:solidFill>
                  <a:srgbClr val="FFFFFF"/>
                </a:solidFill>
              </a:rPr>
              <a:t>  created_at</a:t>
            </a:r>
          </a:p>
        </p:txBody>
      </p:sp>
      <p:sp>
        <p:nvSpPr>
          <p:cNvPr id="12" name="Rectangle 11"/>
          <p:cNvSpPr/>
          <p:nvPr/>
        </p:nvSpPr>
        <p:spPr>
          <a:xfrm>
            <a:off x="3200400" y="1005840"/>
            <a:ext cx="2651760" cy="228600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0400" y="1005840"/>
            <a:ext cx="2651760" cy="3657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91840" y="1042416"/>
            <a:ext cx="2468880" cy="320040"/>
          </a:xfrm>
          <a:prstGeom prst="rect">
            <a:avLst/>
          </a:prstGeom>
          <a:noFill/>
        </p:spPr>
        <p:txBody>
          <a:bodyPr wrap="square">
            <a:spAutoFit/>
          </a:bodyPr>
          <a:lstStyle/>
          <a:p>
            <a:pPr algn="ctr"/>
            <a:r>
              <a:rPr sz="1400" b="1">
                <a:solidFill>
                  <a:srgbClr val="0F172A"/>
                </a:solidFill>
              </a:rPr>
              <a:t>sessions</a:t>
            </a:r>
          </a:p>
        </p:txBody>
      </p:sp>
      <p:sp>
        <p:nvSpPr>
          <p:cNvPr id="15" name="TextBox 14"/>
          <p:cNvSpPr txBox="1"/>
          <p:nvPr/>
        </p:nvSpPr>
        <p:spPr>
          <a:xfrm>
            <a:off x="3291840" y="1444752"/>
            <a:ext cx="2468880" cy="329184"/>
          </a:xfrm>
          <a:prstGeom prst="rect">
            <a:avLst/>
          </a:prstGeom>
          <a:noFill/>
        </p:spPr>
        <p:txBody>
          <a:bodyPr wrap="square">
            <a:spAutoFit/>
          </a:bodyPr>
          <a:lstStyle/>
          <a:p>
            <a:pPr algn="l"/>
            <a:r>
              <a:rPr sz="1100" b="0">
                <a:solidFill>
                  <a:srgbClr val="FFFFFF"/>
                </a:solidFill>
              </a:rPr>
              <a:t>  id (UUID PK)</a:t>
            </a:r>
          </a:p>
        </p:txBody>
      </p:sp>
      <p:sp>
        <p:nvSpPr>
          <p:cNvPr id="16" name="TextBox 15"/>
          <p:cNvSpPr txBox="1"/>
          <p:nvPr/>
        </p:nvSpPr>
        <p:spPr>
          <a:xfrm>
            <a:off x="3291840" y="1792224"/>
            <a:ext cx="2468880" cy="329184"/>
          </a:xfrm>
          <a:prstGeom prst="rect">
            <a:avLst/>
          </a:prstGeom>
          <a:noFill/>
        </p:spPr>
        <p:txBody>
          <a:bodyPr wrap="square">
            <a:spAutoFit/>
          </a:bodyPr>
          <a:lstStyle/>
          <a:p>
            <a:pPr algn="l"/>
            <a:r>
              <a:rPr sz="1100" b="0">
                <a:solidFill>
                  <a:srgbClr val="FFFFFF"/>
                </a:solidFill>
              </a:rPr>
              <a:t>  token (unique, indexed)</a:t>
            </a:r>
          </a:p>
        </p:txBody>
      </p:sp>
      <p:sp>
        <p:nvSpPr>
          <p:cNvPr id="17" name="TextBox 16"/>
          <p:cNvSpPr txBox="1"/>
          <p:nvPr/>
        </p:nvSpPr>
        <p:spPr>
          <a:xfrm>
            <a:off x="3291840" y="2139696"/>
            <a:ext cx="2468880" cy="329184"/>
          </a:xfrm>
          <a:prstGeom prst="rect">
            <a:avLst/>
          </a:prstGeom>
          <a:noFill/>
        </p:spPr>
        <p:txBody>
          <a:bodyPr wrap="square">
            <a:spAutoFit/>
          </a:bodyPr>
          <a:lstStyle/>
          <a:p>
            <a:pPr algn="l"/>
            <a:r>
              <a:rPr sz="1100" b="0">
                <a:solidFill>
                  <a:srgbClr val="FFFFFF"/>
                </a:solidFill>
              </a:rPr>
              <a:t>  user_id → users</a:t>
            </a:r>
          </a:p>
        </p:txBody>
      </p:sp>
      <p:sp>
        <p:nvSpPr>
          <p:cNvPr id="18" name="TextBox 17"/>
          <p:cNvSpPr txBox="1"/>
          <p:nvPr/>
        </p:nvSpPr>
        <p:spPr>
          <a:xfrm>
            <a:off x="3291840" y="2487168"/>
            <a:ext cx="2468880" cy="329184"/>
          </a:xfrm>
          <a:prstGeom prst="rect">
            <a:avLst/>
          </a:prstGeom>
          <a:noFill/>
        </p:spPr>
        <p:txBody>
          <a:bodyPr wrap="square">
            <a:spAutoFit/>
          </a:bodyPr>
          <a:lstStyle/>
          <a:p>
            <a:pPr algn="l"/>
            <a:r>
              <a:rPr sz="1100" b="0">
                <a:solidFill>
                  <a:srgbClr val="FFFFFF"/>
                </a:solidFill>
              </a:rPr>
              <a:t>  expires_at</a:t>
            </a:r>
          </a:p>
        </p:txBody>
      </p:sp>
      <p:sp>
        <p:nvSpPr>
          <p:cNvPr id="19" name="Rectangle 18"/>
          <p:cNvSpPr/>
          <p:nvPr/>
        </p:nvSpPr>
        <p:spPr>
          <a:xfrm>
            <a:off x="6035040" y="1005840"/>
            <a:ext cx="5577840" cy="228600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35040" y="1005840"/>
            <a:ext cx="5577840" cy="36576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79" y="1042416"/>
            <a:ext cx="5394960" cy="320040"/>
          </a:xfrm>
          <a:prstGeom prst="rect">
            <a:avLst/>
          </a:prstGeom>
          <a:noFill/>
        </p:spPr>
        <p:txBody>
          <a:bodyPr wrap="square">
            <a:spAutoFit/>
          </a:bodyPr>
          <a:lstStyle/>
          <a:p>
            <a:pPr algn="ctr"/>
            <a:r>
              <a:rPr sz="1400" b="1">
                <a:solidFill>
                  <a:srgbClr val="0F172A"/>
                </a:solidFill>
              </a:rPr>
              <a:t>property_sales</a:t>
            </a:r>
          </a:p>
        </p:txBody>
      </p:sp>
      <p:sp>
        <p:nvSpPr>
          <p:cNvPr id="22" name="TextBox 21"/>
          <p:cNvSpPr txBox="1"/>
          <p:nvPr/>
        </p:nvSpPr>
        <p:spPr>
          <a:xfrm>
            <a:off x="6126479" y="1444752"/>
            <a:ext cx="5394960" cy="329184"/>
          </a:xfrm>
          <a:prstGeom prst="rect">
            <a:avLst/>
          </a:prstGeom>
          <a:noFill/>
        </p:spPr>
        <p:txBody>
          <a:bodyPr wrap="square">
            <a:spAutoFit/>
          </a:bodyPr>
          <a:lstStyle/>
          <a:p>
            <a:pPr algn="l"/>
            <a:r>
              <a:rPr sz="1100" b="0">
                <a:solidFill>
                  <a:srgbClr val="FFFFFF"/>
                </a:solidFill>
              </a:rPr>
              <a:t>  transaction_id (unique)</a:t>
            </a:r>
          </a:p>
        </p:txBody>
      </p:sp>
      <p:sp>
        <p:nvSpPr>
          <p:cNvPr id="23" name="TextBox 22"/>
          <p:cNvSpPr txBox="1"/>
          <p:nvPr/>
        </p:nvSpPr>
        <p:spPr>
          <a:xfrm>
            <a:off x="6126479" y="1792224"/>
            <a:ext cx="5394960" cy="329184"/>
          </a:xfrm>
          <a:prstGeom prst="rect">
            <a:avLst/>
          </a:prstGeom>
          <a:noFill/>
        </p:spPr>
        <p:txBody>
          <a:bodyPr wrap="square">
            <a:spAutoFit/>
          </a:bodyPr>
          <a:lstStyle/>
          <a:p>
            <a:pPr algn="l"/>
            <a:r>
              <a:rPr sz="1100" b="0">
                <a:solidFill>
                  <a:srgbClr val="FFFFFF"/>
                </a:solidFill>
              </a:rPr>
              <a:t>  price, transfer_date</a:t>
            </a:r>
          </a:p>
        </p:txBody>
      </p:sp>
      <p:sp>
        <p:nvSpPr>
          <p:cNvPr id="24" name="TextBox 23"/>
          <p:cNvSpPr txBox="1"/>
          <p:nvPr/>
        </p:nvSpPr>
        <p:spPr>
          <a:xfrm>
            <a:off x="6126479" y="2139696"/>
            <a:ext cx="5394960" cy="329184"/>
          </a:xfrm>
          <a:prstGeom prst="rect">
            <a:avLst/>
          </a:prstGeom>
          <a:noFill/>
        </p:spPr>
        <p:txBody>
          <a:bodyPr wrap="square">
            <a:spAutoFit/>
          </a:bodyPr>
          <a:lstStyle/>
          <a:p>
            <a:pPr algn="l"/>
            <a:r>
              <a:rPr sz="1100" b="0">
                <a:solidFill>
                  <a:srgbClr val="FFFFFF"/>
                </a:solidFill>
              </a:rPr>
              <a:t>  postcode, town_city, district, county</a:t>
            </a:r>
          </a:p>
        </p:txBody>
      </p:sp>
      <p:sp>
        <p:nvSpPr>
          <p:cNvPr id="25" name="TextBox 24"/>
          <p:cNvSpPr txBox="1"/>
          <p:nvPr/>
        </p:nvSpPr>
        <p:spPr>
          <a:xfrm>
            <a:off x="6126479" y="2487168"/>
            <a:ext cx="5394960" cy="329184"/>
          </a:xfrm>
          <a:prstGeom prst="rect">
            <a:avLst/>
          </a:prstGeom>
          <a:noFill/>
        </p:spPr>
        <p:txBody>
          <a:bodyPr wrap="square">
            <a:spAutoFit/>
          </a:bodyPr>
          <a:lstStyle/>
          <a:p>
            <a:pPr algn="l"/>
            <a:r>
              <a:rPr sz="1100" b="0">
                <a:solidFill>
                  <a:srgbClr val="FFFFFF"/>
                </a:solidFill>
              </a:rPr>
              <a:t>  property_type, new_build, tenure</a:t>
            </a:r>
          </a:p>
        </p:txBody>
      </p:sp>
      <p:sp>
        <p:nvSpPr>
          <p:cNvPr id="26" name="TextBox 25"/>
          <p:cNvSpPr txBox="1"/>
          <p:nvPr/>
        </p:nvSpPr>
        <p:spPr>
          <a:xfrm>
            <a:off x="6126479" y="2834640"/>
            <a:ext cx="5394960" cy="329184"/>
          </a:xfrm>
          <a:prstGeom prst="rect">
            <a:avLst/>
          </a:prstGeom>
          <a:noFill/>
        </p:spPr>
        <p:txBody>
          <a:bodyPr wrap="square">
            <a:spAutoFit/>
          </a:bodyPr>
          <a:lstStyle/>
          <a:p>
            <a:pPr algn="l"/>
            <a:r>
              <a:rPr sz="1100" b="0">
                <a:solidFill>
                  <a:srgbClr val="FFFFFF"/>
                </a:solidFill>
              </a:rPr>
              <a:t>  7× indexes for query performance</a:t>
            </a:r>
          </a:p>
        </p:txBody>
      </p:sp>
      <p:sp>
        <p:nvSpPr>
          <p:cNvPr id="27" name="Rectangle 26"/>
          <p:cNvSpPr/>
          <p:nvPr/>
        </p:nvSpPr>
        <p:spPr>
          <a:xfrm>
            <a:off x="365760" y="3566160"/>
            <a:ext cx="2651760" cy="228600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5760" y="3566160"/>
            <a:ext cx="2651760" cy="36576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3602736"/>
            <a:ext cx="2468880" cy="320040"/>
          </a:xfrm>
          <a:prstGeom prst="rect">
            <a:avLst/>
          </a:prstGeom>
          <a:noFill/>
        </p:spPr>
        <p:txBody>
          <a:bodyPr wrap="square">
            <a:spAutoFit/>
          </a:bodyPr>
          <a:lstStyle/>
          <a:p>
            <a:pPr algn="ctr"/>
            <a:r>
              <a:rPr sz="1400" b="1">
                <a:solidFill>
                  <a:srgbClr val="0F172A"/>
                </a:solidFill>
              </a:rPr>
              <a:t>saved_listings</a:t>
            </a:r>
          </a:p>
        </p:txBody>
      </p:sp>
      <p:sp>
        <p:nvSpPr>
          <p:cNvPr id="30" name="TextBox 29"/>
          <p:cNvSpPr txBox="1"/>
          <p:nvPr/>
        </p:nvSpPr>
        <p:spPr>
          <a:xfrm>
            <a:off x="457200" y="4005072"/>
            <a:ext cx="2468880" cy="329184"/>
          </a:xfrm>
          <a:prstGeom prst="rect">
            <a:avLst/>
          </a:prstGeom>
          <a:noFill/>
        </p:spPr>
        <p:txBody>
          <a:bodyPr wrap="square">
            <a:spAutoFit/>
          </a:bodyPr>
          <a:lstStyle/>
          <a:p>
            <a:pPr algn="l"/>
            <a:r>
              <a:rPr sz="1100" b="0">
                <a:solidFill>
                  <a:srgbClr val="FFFFFF"/>
                </a:solidFill>
              </a:rPr>
              <a:t>  id (UUID PK)</a:t>
            </a:r>
          </a:p>
        </p:txBody>
      </p:sp>
      <p:sp>
        <p:nvSpPr>
          <p:cNvPr id="31" name="TextBox 30"/>
          <p:cNvSpPr txBox="1"/>
          <p:nvPr/>
        </p:nvSpPr>
        <p:spPr>
          <a:xfrm>
            <a:off x="457200" y="4352544"/>
            <a:ext cx="2468880" cy="329184"/>
          </a:xfrm>
          <a:prstGeom prst="rect">
            <a:avLst/>
          </a:prstGeom>
          <a:noFill/>
        </p:spPr>
        <p:txBody>
          <a:bodyPr wrap="square">
            <a:spAutoFit/>
          </a:bodyPr>
          <a:lstStyle/>
          <a:p>
            <a:pPr algn="l"/>
            <a:r>
              <a:rPr sz="1100" b="0">
                <a:solidFill>
                  <a:srgbClr val="FFFFFF"/>
                </a:solidFill>
              </a:rPr>
              <a:t>  user_id → users</a:t>
            </a:r>
          </a:p>
        </p:txBody>
      </p:sp>
      <p:sp>
        <p:nvSpPr>
          <p:cNvPr id="32" name="TextBox 31"/>
          <p:cNvSpPr txBox="1"/>
          <p:nvPr/>
        </p:nvSpPr>
        <p:spPr>
          <a:xfrm>
            <a:off x="457200" y="4700016"/>
            <a:ext cx="2468880" cy="329184"/>
          </a:xfrm>
          <a:prstGeom prst="rect">
            <a:avLst/>
          </a:prstGeom>
          <a:noFill/>
        </p:spPr>
        <p:txBody>
          <a:bodyPr wrap="square">
            <a:spAutoFit/>
          </a:bodyPr>
          <a:lstStyle/>
          <a:p>
            <a:pPr algn="l"/>
            <a:r>
              <a:rPr sz="1100" b="0">
                <a:solidFill>
                  <a:srgbClr val="FFFFFF"/>
                </a:solidFill>
              </a:rPr>
              <a:t>  property_id → property_sales</a:t>
            </a:r>
          </a:p>
        </p:txBody>
      </p:sp>
      <p:sp>
        <p:nvSpPr>
          <p:cNvPr id="33" name="TextBox 32"/>
          <p:cNvSpPr txBox="1"/>
          <p:nvPr/>
        </p:nvSpPr>
        <p:spPr>
          <a:xfrm>
            <a:off x="457200" y="5047488"/>
            <a:ext cx="2468880" cy="329184"/>
          </a:xfrm>
          <a:prstGeom prst="rect">
            <a:avLst/>
          </a:prstGeom>
          <a:noFill/>
        </p:spPr>
        <p:txBody>
          <a:bodyPr wrap="square">
            <a:spAutoFit/>
          </a:bodyPr>
          <a:lstStyle/>
          <a:p>
            <a:pPr algn="l"/>
            <a:r>
              <a:rPr sz="1100" b="0">
                <a:solidFill>
                  <a:srgbClr val="FFFFFF"/>
                </a:solidFill>
              </a:rPr>
              <a:t>  notes (optional)</a:t>
            </a:r>
          </a:p>
        </p:txBody>
      </p:sp>
      <p:sp>
        <p:nvSpPr>
          <p:cNvPr id="34" name="TextBox 33"/>
          <p:cNvSpPr txBox="1"/>
          <p:nvPr/>
        </p:nvSpPr>
        <p:spPr>
          <a:xfrm>
            <a:off x="457200" y="5394960"/>
            <a:ext cx="2468880" cy="329184"/>
          </a:xfrm>
          <a:prstGeom prst="rect">
            <a:avLst/>
          </a:prstGeom>
          <a:noFill/>
        </p:spPr>
        <p:txBody>
          <a:bodyPr wrap="square">
            <a:spAutoFit/>
          </a:bodyPr>
          <a:lstStyle/>
          <a:p>
            <a:pPr algn="l"/>
            <a:r>
              <a:rPr sz="1100" b="0">
                <a:solidFill>
                  <a:srgbClr val="FFFFFF"/>
                </a:solidFill>
              </a:rPr>
              <a:t>  UNIQUE(user_id, property_id)</a:t>
            </a:r>
          </a:p>
        </p:txBody>
      </p:sp>
      <p:sp>
        <p:nvSpPr>
          <p:cNvPr id="35" name="Rectangle 34"/>
          <p:cNvSpPr/>
          <p:nvPr/>
        </p:nvSpPr>
        <p:spPr>
          <a:xfrm>
            <a:off x="365760" y="6035040"/>
            <a:ext cx="5577840" cy="64008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6080760"/>
            <a:ext cx="5303520" cy="548640"/>
          </a:xfrm>
          <a:prstGeom prst="rect">
            <a:avLst/>
          </a:prstGeom>
          <a:noFill/>
        </p:spPr>
        <p:txBody>
          <a:bodyPr wrap="square">
            <a:spAutoFit/>
          </a:bodyPr>
          <a:lstStyle/>
          <a:p>
            <a:pPr algn="l"/>
            <a:r>
              <a:rPr sz="1100" b="0">
                <a:solidFill>
                  <a:srgbClr val="34D399"/>
                </a:solidFill>
              </a:rPr>
              <a:t>⚡  property_sales indexes: postcode • town_city • district • county • transfer_date • property_type • price → sub-second analytics queries</a:t>
            </a:r>
          </a:p>
        </p:txBody>
      </p:sp>
      <p:sp>
        <p:nvSpPr>
          <p:cNvPr id="37" name="Rectangle 36"/>
          <p:cNvSpPr/>
          <p:nvPr/>
        </p:nvSpPr>
        <p:spPr>
          <a:xfrm>
            <a:off x="6217920" y="3566160"/>
            <a:ext cx="5577840" cy="306324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55080" y="3657600"/>
            <a:ext cx="5303520" cy="411480"/>
          </a:xfrm>
          <a:prstGeom prst="rect">
            <a:avLst/>
          </a:prstGeom>
          <a:noFill/>
        </p:spPr>
        <p:txBody>
          <a:bodyPr wrap="square">
            <a:spAutoFit/>
          </a:bodyPr>
          <a:lstStyle/>
          <a:p>
            <a:pPr algn="l"/>
            <a:r>
              <a:rPr sz="1400" b="1">
                <a:solidFill>
                  <a:srgbClr val="38BDF8"/>
                </a:solidFill>
              </a:rPr>
              <a:t>Relationships &amp; Integrity</a:t>
            </a:r>
          </a:p>
        </p:txBody>
      </p:sp>
      <p:sp>
        <p:nvSpPr>
          <p:cNvPr id="39" name="TextBox 38"/>
          <p:cNvSpPr txBox="1"/>
          <p:nvPr/>
        </p:nvSpPr>
        <p:spPr>
          <a:xfrm>
            <a:off x="6355080" y="4160520"/>
            <a:ext cx="5303520" cy="320040"/>
          </a:xfrm>
          <a:prstGeom prst="rect">
            <a:avLst/>
          </a:prstGeom>
          <a:noFill/>
        </p:spPr>
        <p:txBody>
          <a:bodyPr wrap="square">
            <a:spAutoFit/>
          </a:bodyPr>
          <a:lstStyle/>
          <a:p>
            <a:pPr algn="l"/>
            <a:r>
              <a:rPr sz="1100" b="0">
                <a:solidFill>
                  <a:srgbClr val="FFFFFF"/>
                </a:solidFill>
              </a:rPr>
              <a:t>User ──1:*──► Sessions  (CASCADE DELETE)</a:t>
            </a:r>
          </a:p>
        </p:txBody>
      </p:sp>
      <p:sp>
        <p:nvSpPr>
          <p:cNvPr id="40" name="TextBox 39"/>
          <p:cNvSpPr txBox="1"/>
          <p:nvPr/>
        </p:nvSpPr>
        <p:spPr>
          <a:xfrm>
            <a:off x="6355080" y="4498848"/>
            <a:ext cx="5303520" cy="320040"/>
          </a:xfrm>
          <a:prstGeom prst="rect">
            <a:avLst/>
          </a:prstGeom>
          <a:noFill/>
        </p:spPr>
        <p:txBody>
          <a:bodyPr wrap="square">
            <a:spAutoFit/>
          </a:bodyPr>
          <a:lstStyle/>
          <a:p>
            <a:pPr algn="l"/>
            <a:r>
              <a:rPr sz="1100" b="0">
                <a:solidFill>
                  <a:srgbClr val="FFFFFF"/>
                </a:solidFill>
              </a:rPr>
              <a:t>User ──1:*──► SavedListings  (CASCADE DELETE)</a:t>
            </a:r>
          </a:p>
        </p:txBody>
      </p:sp>
      <p:sp>
        <p:nvSpPr>
          <p:cNvPr id="41" name="TextBox 40"/>
          <p:cNvSpPr txBox="1"/>
          <p:nvPr/>
        </p:nvSpPr>
        <p:spPr>
          <a:xfrm>
            <a:off x="6355080" y="4837176"/>
            <a:ext cx="5303520" cy="320040"/>
          </a:xfrm>
          <a:prstGeom prst="rect">
            <a:avLst/>
          </a:prstGeom>
          <a:noFill/>
        </p:spPr>
        <p:txBody>
          <a:bodyPr wrap="square">
            <a:spAutoFit/>
          </a:bodyPr>
          <a:lstStyle/>
          <a:p>
            <a:pPr algn="l"/>
            <a:r>
              <a:rPr sz="1100" b="0">
                <a:solidFill>
                  <a:srgbClr val="FFFFFF"/>
                </a:solidFill>
              </a:rPr>
              <a:t>PropertySale ──1:*──► SavedListings</a:t>
            </a:r>
          </a:p>
        </p:txBody>
      </p:sp>
      <p:sp>
        <p:nvSpPr>
          <p:cNvPr id="42" name="TextBox 41"/>
          <p:cNvSpPr txBox="1"/>
          <p:nvPr/>
        </p:nvSpPr>
        <p:spPr>
          <a:xfrm>
            <a:off x="6355080" y="5175504"/>
            <a:ext cx="5303520" cy="320040"/>
          </a:xfrm>
          <a:prstGeom prst="rect">
            <a:avLst/>
          </a:prstGeom>
          <a:noFill/>
        </p:spPr>
        <p:txBody>
          <a:bodyPr wrap="square">
            <a:spAutoFit/>
          </a:bodyPr>
          <a:lstStyle/>
          <a:p>
            <a:pPr algn="l"/>
            <a:r>
              <a:rPr sz="1100" b="0">
                <a:solidFill>
                  <a:srgbClr val="FFFFFF"/>
                </a:solidFill>
              </a:rPr>
              <a:t>User ──1:1──► UserPreference</a:t>
            </a:r>
          </a:p>
        </p:txBody>
      </p:sp>
      <p:sp>
        <p:nvSpPr>
          <p:cNvPr id="43" name="TextBox 42"/>
          <p:cNvSpPr txBox="1"/>
          <p:nvPr/>
        </p:nvSpPr>
        <p:spPr>
          <a:xfrm>
            <a:off x="6355080" y="5513831"/>
            <a:ext cx="5303520" cy="320040"/>
          </a:xfrm>
          <a:prstGeom prst="rect">
            <a:avLst/>
          </a:prstGeom>
          <a:noFill/>
        </p:spPr>
        <p:txBody>
          <a:bodyPr wrap="square">
            <a:spAutoFit/>
          </a:bodyPr>
          <a:lstStyle/>
          <a:p>
            <a:pPr algn="l"/>
            <a:r>
              <a:rPr sz="1100" b="0">
                <a:solidFill>
                  <a:srgbClr val="FFFFFF"/>
                </a:solidFill>
              </a:rPr>
              <a:t>UNIQUE (user_id, property_id) prevents duplicate saves</a:t>
            </a:r>
          </a:p>
        </p:txBody>
      </p:sp>
      <p:sp>
        <p:nvSpPr>
          <p:cNvPr id="44" name="TextBox 43"/>
          <p:cNvSpPr txBox="1"/>
          <p:nvPr/>
        </p:nvSpPr>
        <p:spPr>
          <a:xfrm>
            <a:off x="6355080" y="5852160"/>
            <a:ext cx="5303520" cy="320040"/>
          </a:xfrm>
          <a:prstGeom prst="rect">
            <a:avLst/>
          </a:prstGeom>
          <a:noFill/>
        </p:spPr>
        <p:txBody>
          <a:bodyPr wrap="square">
            <a:spAutoFit/>
          </a:bodyPr>
          <a:lstStyle/>
          <a:p>
            <a:pPr algn="l"/>
            <a:r>
              <a:rPr sz="1100" b="0">
                <a:solidFill>
                  <a:srgbClr val="FFFFFF"/>
                </a:solidFill>
              </a:rPr>
              <a:t>UNIQUE transaction_id → idempotent data imports</a:t>
            </a:r>
          </a:p>
        </p:txBody>
      </p:sp>
      <p:sp>
        <p:nvSpPr>
          <p:cNvPr id="45" name="TextBox 44"/>
          <p:cNvSpPr txBox="1"/>
          <p:nvPr/>
        </p:nvSpPr>
        <p:spPr>
          <a:xfrm>
            <a:off x="6355080" y="6190488"/>
            <a:ext cx="5303520" cy="320040"/>
          </a:xfrm>
          <a:prstGeom prst="rect">
            <a:avLst/>
          </a:prstGeom>
          <a:noFill/>
        </p:spPr>
        <p:txBody>
          <a:bodyPr wrap="square">
            <a:spAutoFit/>
          </a:bodyPr>
          <a:lstStyle/>
          <a:p>
            <a:pPr algn="l"/>
            <a:r>
              <a:rPr sz="1100" b="0">
                <a:solidFill>
                  <a:srgbClr val="FFFFFF"/>
                </a:solidFill>
              </a:rPr>
              <a:t>UUIDs as PKs throughout (no sequential ID leakage)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548640"/>
          </a:xfrm>
          <a:prstGeom prst="rect">
            <a:avLst/>
          </a:prstGeom>
          <a:noFill/>
        </p:spPr>
        <p:txBody>
          <a:bodyPr wrap="square">
            <a:spAutoFit/>
          </a:bodyPr>
          <a:lstStyle/>
          <a:p>
            <a:pPr algn="l"/>
            <a:r>
              <a:rPr sz="3200" b="1">
                <a:solidFill>
                  <a:srgbClr val="FFFFFF"/>
                </a:solidFill>
              </a:rPr>
              <a:t>Security Implementation</a:t>
            </a:r>
          </a:p>
        </p:txBody>
      </p:sp>
      <p:sp>
        <p:nvSpPr>
          <p:cNvPr id="4" name="Rectangle 3"/>
          <p:cNvSpPr/>
          <p:nvPr/>
        </p:nvSpPr>
        <p:spPr>
          <a:xfrm>
            <a:off x="365760" y="868680"/>
            <a:ext cx="1145743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051560"/>
            <a:ext cx="2697480" cy="210312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1161288"/>
            <a:ext cx="2468880" cy="502920"/>
          </a:xfrm>
          <a:prstGeom prst="rect">
            <a:avLst/>
          </a:prstGeom>
          <a:noFill/>
        </p:spPr>
        <p:txBody>
          <a:bodyPr wrap="square">
            <a:spAutoFit/>
          </a:bodyPr>
          <a:lstStyle/>
          <a:p>
            <a:pPr algn="l"/>
            <a:r>
              <a:rPr sz="1200" b="1">
                <a:solidFill>
                  <a:srgbClr val="34D399"/>
                </a:solidFill>
              </a:rPr>
              <a:t>🔑  Password Hashing</a:t>
            </a:r>
          </a:p>
        </p:txBody>
      </p:sp>
      <p:sp>
        <p:nvSpPr>
          <p:cNvPr id="7" name="TextBox 6"/>
          <p:cNvSpPr txBox="1"/>
          <p:nvPr/>
        </p:nvSpPr>
        <p:spPr>
          <a:xfrm>
            <a:off x="475488" y="1691640"/>
            <a:ext cx="2468880" cy="1371600"/>
          </a:xfrm>
          <a:prstGeom prst="rect">
            <a:avLst/>
          </a:prstGeom>
          <a:noFill/>
        </p:spPr>
        <p:txBody>
          <a:bodyPr wrap="square">
            <a:spAutoFit/>
          </a:bodyPr>
          <a:lstStyle/>
          <a:p>
            <a:pPr algn="l"/>
            <a:r>
              <a:rPr sz="1100" b="0">
                <a:solidFill>
                  <a:srgbClr val="FFFFFF"/>
                </a:solidFill>
              </a:rPr>
              <a:t>bcrypt — 12 salt rounds
Plaintext never stored or logged
Industry standard for credential storage</a:t>
            </a:r>
          </a:p>
        </p:txBody>
      </p:sp>
      <p:sp>
        <p:nvSpPr>
          <p:cNvPr id="8" name="Rectangle 7"/>
          <p:cNvSpPr/>
          <p:nvPr/>
        </p:nvSpPr>
        <p:spPr>
          <a:xfrm>
            <a:off x="3218688" y="1051560"/>
            <a:ext cx="2697480" cy="210312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28416" y="1161288"/>
            <a:ext cx="2468880" cy="502920"/>
          </a:xfrm>
          <a:prstGeom prst="rect">
            <a:avLst/>
          </a:prstGeom>
          <a:noFill/>
        </p:spPr>
        <p:txBody>
          <a:bodyPr wrap="square">
            <a:spAutoFit/>
          </a:bodyPr>
          <a:lstStyle/>
          <a:p>
            <a:pPr algn="l"/>
            <a:r>
              <a:rPr sz="1200" b="1">
                <a:solidFill>
                  <a:srgbClr val="34D399"/>
                </a:solidFill>
              </a:rPr>
              <a:t>🎲  Token Generation</a:t>
            </a:r>
          </a:p>
        </p:txBody>
      </p:sp>
      <p:sp>
        <p:nvSpPr>
          <p:cNvPr id="10" name="TextBox 9"/>
          <p:cNvSpPr txBox="1"/>
          <p:nvPr/>
        </p:nvSpPr>
        <p:spPr>
          <a:xfrm>
            <a:off x="3328416" y="1691640"/>
            <a:ext cx="2468880" cy="1371600"/>
          </a:xfrm>
          <a:prstGeom prst="rect">
            <a:avLst/>
          </a:prstGeom>
          <a:noFill/>
        </p:spPr>
        <p:txBody>
          <a:bodyPr wrap="square">
            <a:spAutoFit/>
          </a:bodyPr>
          <a:lstStyle/>
          <a:p>
            <a:pPr algn="l"/>
            <a:r>
              <a:rPr sz="1100" b="0">
                <a:solidFill>
                  <a:srgbClr val="FFFFFF"/>
                </a:solidFill>
              </a:rPr>
              <a:t>crypto.randomBytes(48) → 384-bit entropy
Cryptographically secure random tokens
Far beyond brute-force feasibility</a:t>
            </a:r>
          </a:p>
        </p:txBody>
      </p:sp>
      <p:sp>
        <p:nvSpPr>
          <p:cNvPr id="11" name="Rectangle 10"/>
          <p:cNvSpPr/>
          <p:nvPr/>
        </p:nvSpPr>
        <p:spPr>
          <a:xfrm>
            <a:off x="6071616" y="1051560"/>
            <a:ext cx="2697480" cy="210312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1344" y="1161288"/>
            <a:ext cx="2468880" cy="502920"/>
          </a:xfrm>
          <a:prstGeom prst="rect">
            <a:avLst/>
          </a:prstGeom>
          <a:noFill/>
        </p:spPr>
        <p:txBody>
          <a:bodyPr wrap="square">
            <a:spAutoFit/>
          </a:bodyPr>
          <a:lstStyle/>
          <a:p>
            <a:pPr algn="l"/>
            <a:r>
              <a:rPr sz="1200" b="1">
                <a:solidFill>
                  <a:srgbClr val="34D399"/>
                </a:solidFill>
              </a:rPr>
              <a:t>⏱️  Session Expiry</a:t>
            </a:r>
          </a:p>
        </p:txBody>
      </p:sp>
      <p:sp>
        <p:nvSpPr>
          <p:cNvPr id="13" name="TextBox 12"/>
          <p:cNvSpPr txBox="1"/>
          <p:nvPr/>
        </p:nvSpPr>
        <p:spPr>
          <a:xfrm>
            <a:off x="6181344" y="1691640"/>
            <a:ext cx="2468880" cy="1371600"/>
          </a:xfrm>
          <a:prstGeom prst="rect">
            <a:avLst/>
          </a:prstGeom>
          <a:noFill/>
        </p:spPr>
        <p:txBody>
          <a:bodyPr wrap="square">
            <a:spAutoFit/>
          </a:bodyPr>
          <a:lstStyle/>
          <a:p>
            <a:pPr algn="l"/>
            <a:r>
              <a:rPr sz="1100" b="0">
                <a:solidFill>
                  <a:srgbClr val="FFFFFF"/>
                </a:solidFill>
              </a:rPr>
              <a:t>7-day TTL enforced server-side
Expired sessions rejected even with valid token
Logout immediately deletes DB row</a:t>
            </a:r>
          </a:p>
        </p:txBody>
      </p:sp>
      <p:sp>
        <p:nvSpPr>
          <p:cNvPr id="14" name="Rectangle 13"/>
          <p:cNvSpPr/>
          <p:nvPr/>
        </p:nvSpPr>
        <p:spPr>
          <a:xfrm>
            <a:off x="8924544" y="1051560"/>
            <a:ext cx="2697480" cy="210312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34272" y="1161288"/>
            <a:ext cx="2468880" cy="502920"/>
          </a:xfrm>
          <a:prstGeom prst="rect">
            <a:avLst/>
          </a:prstGeom>
          <a:noFill/>
        </p:spPr>
        <p:txBody>
          <a:bodyPr wrap="square">
            <a:spAutoFit/>
          </a:bodyPr>
          <a:lstStyle/>
          <a:p>
            <a:pPr algn="l"/>
            <a:r>
              <a:rPr sz="1200" b="1">
                <a:solidFill>
                  <a:srgbClr val="34D399"/>
                </a:solidFill>
              </a:rPr>
              <a:t>✅  Input Validation</a:t>
            </a:r>
          </a:p>
        </p:txBody>
      </p:sp>
      <p:sp>
        <p:nvSpPr>
          <p:cNvPr id="16" name="TextBox 15"/>
          <p:cNvSpPr txBox="1"/>
          <p:nvPr/>
        </p:nvSpPr>
        <p:spPr>
          <a:xfrm>
            <a:off x="9034272" y="1691640"/>
            <a:ext cx="2468880" cy="1371600"/>
          </a:xfrm>
          <a:prstGeom prst="rect">
            <a:avLst/>
          </a:prstGeom>
          <a:noFill/>
        </p:spPr>
        <p:txBody>
          <a:bodyPr wrap="square">
            <a:spAutoFit/>
          </a:bodyPr>
          <a:lstStyle/>
          <a:p>
            <a:pPr algn="l"/>
            <a:r>
              <a:rPr sz="1100" b="0">
                <a:solidFill>
                  <a:srgbClr val="FFFFFF"/>
                </a:solidFill>
              </a:rPr>
              <a:t>Zod schemas on all mutating endpoints
Validation at system boundary only
Prevents malformed data reaching DB</a:t>
            </a:r>
          </a:p>
        </p:txBody>
      </p:sp>
      <p:sp>
        <p:nvSpPr>
          <p:cNvPr id="17" name="Rectangle 16"/>
          <p:cNvSpPr/>
          <p:nvPr/>
        </p:nvSpPr>
        <p:spPr>
          <a:xfrm>
            <a:off x="365760" y="3383279"/>
            <a:ext cx="2697480" cy="210312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 y="3493007"/>
            <a:ext cx="2468880" cy="502920"/>
          </a:xfrm>
          <a:prstGeom prst="rect">
            <a:avLst/>
          </a:prstGeom>
          <a:noFill/>
        </p:spPr>
        <p:txBody>
          <a:bodyPr wrap="square">
            <a:spAutoFit/>
          </a:bodyPr>
          <a:lstStyle/>
          <a:p>
            <a:pPr algn="l"/>
            <a:r>
              <a:rPr sz="1200" b="1">
                <a:solidFill>
                  <a:srgbClr val="34D399"/>
                </a:solidFill>
              </a:rPr>
              <a:t>🛡️  SQL Injection</a:t>
            </a:r>
          </a:p>
        </p:txBody>
      </p:sp>
      <p:sp>
        <p:nvSpPr>
          <p:cNvPr id="19" name="TextBox 18"/>
          <p:cNvSpPr txBox="1"/>
          <p:nvPr/>
        </p:nvSpPr>
        <p:spPr>
          <a:xfrm>
            <a:off x="475488" y="4023359"/>
            <a:ext cx="2468880" cy="1371600"/>
          </a:xfrm>
          <a:prstGeom prst="rect">
            <a:avLst/>
          </a:prstGeom>
          <a:noFill/>
        </p:spPr>
        <p:txBody>
          <a:bodyPr wrap="square">
            <a:spAutoFit/>
          </a:bodyPr>
          <a:lstStyle/>
          <a:p>
            <a:pPr algn="l"/>
            <a:r>
              <a:rPr sz="1100" b="0">
                <a:solidFill>
                  <a:srgbClr val="FFFFFF"/>
                </a:solidFill>
              </a:rPr>
              <a:t>Prisma parameterised queries throughout
No raw SQL string construction
ORM type safety as second defence layer</a:t>
            </a:r>
          </a:p>
        </p:txBody>
      </p:sp>
      <p:sp>
        <p:nvSpPr>
          <p:cNvPr id="20" name="Rectangle 19"/>
          <p:cNvSpPr/>
          <p:nvPr/>
        </p:nvSpPr>
        <p:spPr>
          <a:xfrm>
            <a:off x="3218688" y="3383279"/>
            <a:ext cx="2697480" cy="210312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28416" y="3493007"/>
            <a:ext cx="2468880" cy="502920"/>
          </a:xfrm>
          <a:prstGeom prst="rect">
            <a:avLst/>
          </a:prstGeom>
          <a:noFill/>
        </p:spPr>
        <p:txBody>
          <a:bodyPr wrap="square">
            <a:spAutoFit/>
          </a:bodyPr>
          <a:lstStyle/>
          <a:p>
            <a:pPr algn="l"/>
            <a:r>
              <a:rPr sz="1200" b="1">
                <a:solidFill>
                  <a:srgbClr val="34D399"/>
                </a:solidFill>
              </a:rPr>
              <a:t>🕵️  User Enumeration</a:t>
            </a:r>
          </a:p>
        </p:txBody>
      </p:sp>
      <p:sp>
        <p:nvSpPr>
          <p:cNvPr id="22" name="TextBox 21"/>
          <p:cNvSpPr txBox="1"/>
          <p:nvPr/>
        </p:nvSpPr>
        <p:spPr>
          <a:xfrm>
            <a:off x="3328416" y="4023359"/>
            <a:ext cx="2468880" cy="1371600"/>
          </a:xfrm>
          <a:prstGeom prst="rect">
            <a:avLst/>
          </a:prstGeom>
          <a:noFill/>
        </p:spPr>
        <p:txBody>
          <a:bodyPr wrap="square">
            <a:spAutoFit/>
          </a:bodyPr>
          <a:lstStyle/>
          <a:p>
            <a:pPr algn="l"/>
            <a:r>
              <a:rPr sz="1100" b="0">
                <a:solidFill>
                  <a:srgbClr val="FFFFFF"/>
                </a:solidFill>
              </a:rPr>
              <a:t>"Invalid email or password" — same
message for both failure modes
Prevents attacker learning valid emails</a:t>
            </a:r>
          </a:p>
        </p:txBody>
      </p:sp>
      <p:sp>
        <p:nvSpPr>
          <p:cNvPr id="23" name="Rectangle 22"/>
          <p:cNvSpPr/>
          <p:nvPr/>
        </p:nvSpPr>
        <p:spPr>
          <a:xfrm>
            <a:off x="6071616" y="3383279"/>
            <a:ext cx="2697480" cy="210312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81344" y="3493007"/>
            <a:ext cx="2468880" cy="502920"/>
          </a:xfrm>
          <a:prstGeom prst="rect">
            <a:avLst/>
          </a:prstGeom>
          <a:noFill/>
        </p:spPr>
        <p:txBody>
          <a:bodyPr wrap="square">
            <a:spAutoFit/>
          </a:bodyPr>
          <a:lstStyle/>
          <a:p>
            <a:pPr algn="l"/>
            <a:r>
              <a:rPr sz="1200" b="1">
                <a:solidFill>
                  <a:srgbClr val="34D399"/>
                </a:solidFill>
              </a:rPr>
              <a:t>🌐  CORS Policy</a:t>
            </a:r>
          </a:p>
        </p:txBody>
      </p:sp>
      <p:sp>
        <p:nvSpPr>
          <p:cNvPr id="25" name="TextBox 24"/>
          <p:cNvSpPr txBox="1"/>
          <p:nvPr/>
        </p:nvSpPr>
        <p:spPr>
          <a:xfrm>
            <a:off x="6181344" y="4023359"/>
            <a:ext cx="2468880" cy="1371600"/>
          </a:xfrm>
          <a:prstGeom prst="rect">
            <a:avLst/>
          </a:prstGeom>
          <a:noFill/>
        </p:spPr>
        <p:txBody>
          <a:bodyPr wrap="square">
            <a:spAutoFit/>
          </a:bodyPr>
          <a:lstStyle/>
          <a:p>
            <a:pPr algn="l"/>
            <a:r>
              <a:rPr sz="1100" b="0">
                <a:solidFill>
                  <a:srgbClr val="FFFFFF"/>
                </a:solidFill>
              </a:rPr>
              <a:t>Explicit origin whitelist
+ *.vercel.app regex for previews
Credentials: true only for listed origins</a:t>
            </a:r>
          </a:p>
        </p:txBody>
      </p:sp>
      <p:sp>
        <p:nvSpPr>
          <p:cNvPr id="26" name="Rectangle 25"/>
          <p:cNvSpPr/>
          <p:nvPr/>
        </p:nvSpPr>
        <p:spPr>
          <a:xfrm>
            <a:off x="8924544" y="3383279"/>
            <a:ext cx="2697480" cy="210312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34272" y="3493007"/>
            <a:ext cx="2468880" cy="502920"/>
          </a:xfrm>
          <a:prstGeom prst="rect">
            <a:avLst/>
          </a:prstGeom>
          <a:noFill/>
        </p:spPr>
        <p:txBody>
          <a:bodyPr wrap="square">
            <a:spAutoFit/>
          </a:bodyPr>
          <a:lstStyle/>
          <a:p>
            <a:pPr algn="l"/>
            <a:r>
              <a:rPr sz="1200" b="1">
                <a:solidFill>
                  <a:srgbClr val="34D399"/>
                </a:solidFill>
              </a:rPr>
              <a:t>📋  Error Handling</a:t>
            </a:r>
          </a:p>
        </p:txBody>
      </p:sp>
      <p:sp>
        <p:nvSpPr>
          <p:cNvPr id="28" name="TextBox 27"/>
          <p:cNvSpPr txBox="1"/>
          <p:nvPr/>
        </p:nvSpPr>
        <p:spPr>
          <a:xfrm>
            <a:off x="9034272" y="4023359"/>
            <a:ext cx="2468880" cy="1371600"/>
          </a:xfrm>
          <a:prstGeom prst="rect">
            <a:avLst/>
          </a:prstGeom>
          <a:noFill/>
        </p:spPr>
        <p:txBody>
          <a:bodyPr wrap="square">
            <a:spAutoFit/>
          </a:bodyPr>
          <a:lstStyle/>
          <a:p>
            <a:pPr algn="l"/>
            <a:r>
              <a:rPr sz="1100" b="0">
                <a:solidFill>
                  <a:srgbClr val="FFFFFF"/>
                </a:solidFill>
              </a:rPr>
              <a:t>Global error handler catches everything
Stack traces never sent to clients
Consistent { success: false, error } shape</a:t>
            </a:r>
          </a:p>
        </p:txBody>
      </p:sp>
      <p:sp>
        <p:nvSpPr>
          <p:cNvPr id="29" name="TextBox 28"/>
          <p:cNvSpPr txBox="1"/>
          <p:nvPr/>
        </p:nvSpPr>
        <p:spPr>
          <a:xfrm>
            <a:off x="365760" y="6446520"/>
            <a:ext cx="11430000" cy="320040"/>
          </a:xfrm>
          <a:prstGeom prst="rect">
            <a:avLst/>
          </a:prstGeom>
          <a:noFill/>
        </p:spPr>
        <p:txBody>
          <a:bodyPr wrap="square">
            <a:spAutoFit/>
          </a:bodyPr>
          <a:lstStyle/>
          <a:p>
            <a:pPr algn="ctr"/>
            <a:r>
              <a:rPr sz="1000" b="0">
                <a:solidFill>
                  <a:srgbClr val="94A3B8"/>
                </a:solidFill>
              </a:rPr>
              <a:t>OWASP Top 10 reviewed: no broken access control, no injection, no cryptographic failures, no server-side request forgery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9144000" cy="548640"/>
          </a:xfrm>
          <a:prstGeom prst="rect">
            <a:avLst/>
          </a:prstGeom>
          <a:noFill/>
        </p:spPr>
        <p:txBody>
          <a:bodyPr wrap="square">
            <a:spAutoFit/>
          </a:bodyPr>
          <a:lstStyle/>
          <a:p>
            <a:pPr algn="l"/>
            <a:r>
              <a:rPr sz="3200" b="1">
                <a:solidFill>
                  <a:srgbClr val="FFFFFF"/>
                </a:solidFill>
              </a:rPr>
              <a:t>Testing Strategy</a:t>
            </a:r>
          </a:p>
        </p:txBody>
      </p:sp>
      <p:sp>
        <p:nvSpPr>
          <p:cNvPr id="4" name="Rectangle 3"/>
          <p:cNvSpPr/>
          <p:nvPr/>
        </p:nvSpPr>
        <p:spPr>
          <a:xfrm>
            <a:off x="365760" y="868680"/>
            <a:ext cx="1145743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05840"/>
            <a:ext cx="11247120" cy="77724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051560"/>
            <a:ext cx="10972800" cy="685800"/>
          </a:xfrm>
          <a:prstGeom prst="rect">
            <a:avLst/>
          </a:prstGeom>
          <a:noFill/>
        </p:spPr>
        <p:txBody>
          <a:bodyPr wrap="square">
            <a:spAutoFit/>
          </a:bodyPr>
          <a:lstStyle/>
          <a:p>
            <a:pPr algn="l"/>
            <a:r>
              <a:rPr sz="1200" b="0">
                <a:solidFill>
                  <a:srgbClr val="34D399"/>
                </a:solidFill>
              </a:rPr>
              <a:t>💡  Philosophy: Integration tests over unit tests — query construction bugs only surface when the full HTTP → Service → DB pipeline runs together. Mocking the database hides the most common bug class in a data API.</a:t>
            </a:r>
          </a:p>
        </p:txBody>
      </p:sp>
      <p:sp>
        <p:nvSpPr>
          <p:cNvPr id="7" name="Rectangle 6"/>
          <p:cNvSpPr/>
          <p:nvPr/>
        </p:nvSpPr>
        <p:spPr>
          <a:xfrm>
            <a:off x="365760" y="1920240"/>
            <a:ext cx="3657600" cy="443484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920240"/>
            <a:ext cx="3657600" cy="34747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938528"/>
            <a:ext cx="3474720" cy="320040"/>
          </a:xfrm>
          <a:prstGeom prst="rect">
            <a:avLst/>
          </a:prstGeom>
          <a:noFill/>
        </p:spPr>
        <p:txBody>
          <a:bodyPr wrap="square">
            <a:spAutoFit/>
          </a:bodyPr>
          <a:lstStyle/>
          <a:p>
            <a:pPr algn="ctr"/>
            <a:r>
              <a:rPr sz="1300" b="1">
                <a:solidFill>
                  <a:srgbClr val="0F172A"/>
                </a:solidFill>
              </a:rPr>
              <a:t>auth.test.ts</a:t>
            </a:r>
          </a:p>
        </p:txBody>
      </p:sp>
      <p:sp>
        <p:nvSpPr>
          <p:cNvPr id="10" name="TextBox 9"/>
          <p:cNvSpPr txBox="1"/>
          <p:nvPr/>
        </p:nvSpPr>
        <p:spPr>
          <a:xfrm>
            <a:off x="475488" y="2359152"/>
            <a:ext cx="3429000" cy="329184"/>
          </a:xfrm>
          <a:prstGeom prst="rect">
            <a:avLst/>
          </a:prstGeom>
          <a:noFill/>
        </p:spPr>
        <p:txBody>
          <a:bodyPr wrap="square">
            <a:spAutoFit/>
          </a:bodyPr>
          <a:lstStyle/>
          <a:p>
            <a:pPr algn="l"/>
            <a:r>
              <a:rPr sz="1000" b="0">
                <a:solidFill>
                  <a:srgbClr val="FFFFFF"/>
                </a:solidFill>
              </a:rPr>
              <a:t>✓  Register new user (201 + token)</a:t>
            </a:r>
          </a:p>
        </p:txBody>
      </p:sp>
      <p:sp>
        <p:nvSpPr>
          <p:cNvPr id="11" name="TextBox 10"/>
          <p:cNvSpPr txBox="1"/>
          <p:nvPr/>
        </p:nvSpPr>
        <p:spPr>
          <a:xfrm>
            <a:off x="475488" y="2706624"/>
            <a:ext cx="3429000" cy="329184"/>
          </a:xfrm>
          <a:prstGeom prst="rect">
            <a:avLst/>
          </a:prstGeom>
          <a:noFill/>
        </p:spPr>
        <p:txBody>
          <a:bodyPr wrap="square">
            <a:spAutoFit/>
          </a:bodyPr>
          <a:lstStyle/>
          <a:p>
            <a:pPr algn="l"/>
            <a:r>
              <a:rPr sz="1000" b="0">
                <a:solidFill>
                  <a:srgbClr val="FFFFFF"/>
                </a:solidFill>
              </a:rPr>
              <a:t>✓  Reject duplicate email (409)</a:t>
            </a:r>
          </a:p>
        </p:txBody>
      </p:sp>
      <p:sp>
        <p:nvSpPr>
          <p:cNvPr id="12" name="TextBox 11"/>
          <p:cNvSpPr txBox="1"/>
          <p:nvPr/>
        </p:nvSpPr>
        <p:spPr>
          <a:xfrm>
            <a:off x="475488" y="3054096"/>
            <a:ext cx="3429000" cy="329184"/>
          </a:xfrm>
          <a:prstGeom prst="rect">
            <a:avLst/>
          </a:prstGeom>
          <a:noFill/>
        </p:spPr>
        <p:txBody>
          <a:bodyPr wrap="square">
            <a:spAutoFit/>
          </a:bodyPr>
          <a:lstStyle/>
          <a:p>
            <a:pPr algn="l"/>
            <a:r>
              <a:rPr sz="1000" b="0">
                <a:solidFill>
                  <a:srgbClr val="FFFFFF"/>
                </a:solidFill>
              </a:rPr>
              <a:t>✓  Reject invalid email / short password (400)</a:t>
            </a:r>
          </a:p>
        </p:txBody>
      </p:sp>
      <p:sp>
        <p:nvSpPr>
          <p:cNvPr id="13" name="TextBox 12"/>
          <p:cNvSpPr txBox="1"/>
          <p:nvPr/>
        </p:nvSpPr>
        <p:spPr>
          <a:xfrm>
            <a:off x="475488" y="3401568"/>
            <a:ext cx="3429000" cy="329184"/>
          </a:xfrm>
          <a:prstGeom prst="rect">
            <a:avLst/>
          </a:prstGeom>
          <a:noFill/>
        </p:spPr>
        <p:txBody>
          <a:bodyPr wrap="square">
            <a:spAutoFit/>
          </a:bodyPr>
          <a:lstStyle/>
          <a:p>
            <a:pPr algn="l"/>
            <a:r>
              <a:rPr sz="1000" b="0">
                <a:solidFill>
                  <a:srgbClr val="FFFFFF"/>
                </a:solidFill>
              </a:rPr>
              <a:t>✓  Login with valid credentials (200 + token)</a:t>
            </a:r>
          </a:p>
        </p:txBody>
      </p:sp>
      <p:sp>
        <p:nvSpPr>
          <p:cNvPr id="14" name="TextBox 13"/>
          <p:cNvSpPr txBox="1"/>
          <p:nvPr/>
        </p:nvSpPr>
        <p:spPr>
          <a:xfrm>
            <a:off x="475488" y="3749039"/>
            <a:ext cx="3429000" cy="329184"/>
          </a:xfrm>
          <a:prstGeom prst="rect">
            <a:avLst/>
          </a:prstGeom>
          <a:noFill/>
        </p:spPr>
        <p:txBody>
          <a:bodyPr wrap="square">
            <a:spAutoFit/>
          </a:bodyPr>
          <a:lstStyle/>
          <a:p>
            <a:pPr algn="l"/>
            <a:r>
              <a:rPr sz="1000" b="0">
                <a:solidFill>
                  <a:srgbClr val="FFFFFF"/>
                </a:solidFill>
              </a:rPr>
              <a:t>✓  Reject wrong password / unknown user (401)</a:t>
            </a:r>
          </a:p>
        </p:txBody>
      </p:sp>
      <p:sp>
        <p:nvSpPr>
          <p:cNvPr id="15" name="TextBox 14"/>
          <p:cNvSpPr txBox="1"/>
          <p:nvPr/>
        </p:nvSpPr>
        <p:spPr>
          <a:xfrm>
            <a:off x="475488" y="4096512"/>
            <a:ext cx="3429000" cy="329184"/>
          </a:xfrm>
          <a:prstGeom prst="rect">
            <a:avLst/>
          </a:prstGeom>
          <a:noFill/>
        </p:spPr>
        <p:txBody>
          <a:bodyPr wrap="square">
            <a:spAutoFit/>
          </a:bodyPr>
          <a:lstStyle/>
          <a:p>
            <a:pPr algn="l"/>
            <a:r>
              <a:rPr sz="1000" b="0">
                <a:solidFill>
                  <a:srgbClr val="FFFFFF"/>
                </a:solidFill>
              </a:rPr>
              <a:t>✓  GET /me with valid token (200)</a:t>
            </a:r>
          </a:p>
        </p:txBody>
      </p:sp>
      <p:sp>
        <p:nvSpPr>
          <p:cNvPr id="16" name="TextBox 15"/>
          <p:cNvSpPr txBox="1"/>
          <p:nvPr/>
        </p:nvSpPr>
        <p:spPr>
          <a:xfrm>
            <a:off x="475488" y="4443984"/>
            <a:ext cx="3429000" cy="329184"/>
          </a:xfrm>
          <a:prstGeom prst="rect">
            <a:avLst/>
          </a:prstGeom>
          <a:noFill/>
        </p:spPr>
        <p:txBody>
          <a:bodyPr wrap="square">
            <a:spAutoFit/>
          </a:bodyPr>
          <a:lstStyle/>
          <a:p>
            <a:pPr algn="l"/>
            <a:r>
              <a:rPr sz="1000" b="0">
                <a:solidFill>
                  <a:srgbClr val="FFFFFF"/>
                </a:solidFill>
              </a:rPr>
              <a:t>✓  Reject /me without token (401)</a:t>
            </a:r>
          </a:p>
        </p:txBody>
      </p:sp>
      <p:sp>
        <p:nvSpPr>
          <p:cNvPr id="17" name="TextBox 16"/>
          <p:cNvSpPr txBox="1"/>
          <p:nvPr/>
        </p:nvSpPr>
        <p:spPr>
          <a:xfrm>
            <a:off x="475488" y="4791456"/>
            <a:ext cx="3429000" cy="329184"/>
          </a:xfrm>
          <a:prstGeom prst="rect">
            <a:avLst/>
          </a:prstGeom>
          <a:noFill/>
        </p:spPr>
        <p:txBody>
          <a:bodyPr wrap="square">
            <a:spAutoFit/>
          </a:bodyPr>
          <a:lstStyle/>
          <a:p>
            <a:pPr algn="l"/>
            <a:r>
              <a:rPr sz="1000" b="0">
                <a:solidFill>
                  <a:srgbClr val="FFFFFF"/>
                </a:solidFill>
              </a:rPr>
              <a:t>✓  Logout invalidates session</a:t>
            </a:r>
          </a:p>
        </p:txBody>
      </p:sp>
      <p:sp>
        <p:nvSpPr>
          <p:cNvPr id="18" name="Rectangle 17"/>
          <p:cNvSpPr/>
          <p:nvPr/>
        </p:nvSpPr>
        <p:spPr>
          <a:xfrm>
            <a:off x="4206240" y="1920240"/>
            <a:ext cx="3657600" cy="443484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06240" y="1920240"/>
            <a:ext cx="3657600" cy="34747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7680" y="1938528"/>
            <a:ext cx="3474720" cy="320040"/>
          </a:xfrm>
          <a:prstGeom prst="rect">
            <a:avLst/>
          </a:prstGeom>
          <a:noFill/>
        </p:spPr>
        <p:txBody>
          <a:bodyPr wrap="square">
            <a:spAutoFit/>
          </a:bodyPr>
          <a:lstStyle/>
          <a:p>
            <a:pPr algn="ctr"/>
            <a:r>
              <a:rPr sz="1300" b="1">
                <a:solidFill>
                  <a:srgbClr val="0F172A"/>
                </a:solidFill>
              </a:rPr>
              <a:t>properties.test.ts</a:t>
            </a:r>
          </a:p>
        </p:txBody>
      </p:sp>
      <p:sp>
        <p:nvSpPr>
          <p:cNvPr id="21" name="TextBox 20"/>
          <p:cNvSpPr txBox="1"/>
          <p:nvPr/>
        </p:nvSpPr>
        <p:spPr>
          <a:xfrm>
            <a:off x="4315968" y="2359152"/>
            <a:ext cx="3429000" cy="329184"/>
          </a:xfrm>
          <a:prstGeom prst="rect">
            <a:avLst/>
          </a:prstGeom>
          <a:noFill/>
        </p:spPr>
        <p:txBody>
          <a:bodyPr wrap="square">
            <a:spAutoFit/>
          </a:bodyPr>
          <a:lstStyle/>
          <a:p>
            <a:pPr algn="l"/>
            <a:r>
              <a:rPr sz="1000" b="0">
                <a:solidFill>
                  <a:srgbClr val="FFFFFF"/>
                </a:solidFill>
              </a:rPr>
              <a:t>✓  Trends endpoint — no filters</a:t>
            </a:r>
          </a:p>
        </p:txBody>
      </p:sp>
      <p:sp>
        <p:nvSpPr>
          <p:cNvPr id="22" name="TextBox 21"/>
          <p:cNvSpPr txBox="1"/>
          <p:nvPr/>
        </p:nvSpPr>
        <p:spPr>
          <a:xfrm>
            <a:off x="4315968" y="2706624"/>
            <a:ext cx="3429000" cy="329184"/>
          </a:xfrm>
          <a:prstGeom prst="rect">
            <a:avLst/>
          </a:prstGeom>
          <a:noFill/>
        </p:spPr>
        <p:txBody>
          <a:bodyPr wrap="square">
            <a:spAutoFit/>
          </a:bodyPr>
          <a:lstStyle/>
          <a:p>
            <a:pPr algn="l"/>
            <a:r>
              <a:rPr sz="1000" b="0">
                <a:solidFill>
                  <a:srgbClr val="FFFFFF"/>
                </a:solidFill>
              </a:rPr>
              <a:t>✓  Trends — filtered by region + year + type</a:t>
            </a:r>
          </a:p>
        </p:txBody>
      </p:sp>
      <p:sp>
        <p:nvSpPr>
          <p:cNvPr id="23" name="TextBox 22"/>
          <p:cNvSpPr txBox="1"/>
          <p:nvPr/>
        </p:nvSpPr>
        <p:spPr>
          <a:xfrm>
            <a:off x="4315968" y="3054096"/>
            <a:ext cx="3429000" cy="329184"/>
          </a:xfrm>
          <a:prstGeom prst="rect">
            <a:avLst/>
          </a:prstGeom>
          <a:noFill/>
        </p:spPr>
        <p:txBody>
          <a:bodyPr wrap="square">
            <a:spAutoFit/>
          </a:bodyPr>
          <a:lstStyle/>
          <a:p>
            <a:pPr algn="l"/>
            <a:r>
              <a:rPr sz="1000" b="0">
                <a:solidFill>
                  <a:srgbClr val="FFFFFF"/>
                </a:solidFill>
              </a:rPr>
              <a:t>✓  Heatmap — data shape validation</a:t>
            </a:r>
          </a:p>
        </p:txBody>
      </p:sp>
      <p:sp>
        <p:nvSpPr>
          <p:cNvPr id="24" name="TextBox 23"/>
          <p:cNvSpPr txBox="1"/>
          <p:nvPr/>
        </p:nvSpPr>
        <p:spPr>
          <a:xfrm>
            <a:off x="4315968" y="3401568"/>
            <a:ext cx="3429000" cy="329184"/>
          </a:xfrm>
          <a:prstGeom prst="rect">
            <a:avLst/>
          </a:prstGeom>
          <a:noFill/>
        </p:spPr>
        <p:txBody>
          <a:bodyPr wrap="square">
            <a:spAutoFit/>
          </a:bodyPr>
          <a:lstStyle/>
          <a:p>
            <a:pPr algn="l"/>
            <a:r>
              <a:rPr sz="1000" b="0">
                <a:solidFill>
                  <a:srgbClr val="FFFFFF"/>
                </a:solidFill>
              </a:rPr>
              <a:t>✓  Properties — paginated default</a:t>
            </a:r>
          </a:p>
        </p:txBody>
      </p:sp>
      <p:sp>
        <p:nvSpPr>
          <p:cNvPr id="25" name="TextBox 24"/>
          <p:cNvSpPr txBox="1"/>
          <p:nvPr/>
        </p:nvSpPr>
        <p:spPr>
          <a:xfrm>
            <a:off x="4315968" y="3749039"/>
            <a:ext cx="3429000" cy="329184"/>
          </a:xfrm>
          <a:prstGeom prst="rect">
            <a:avLst/>
          </a:prstGeom>
          <a:noFill/>
        </p:spPr>
        <p:txBody>
          <a:bodyPr wrap="square">
            <a:spAutoFit/>
          </a:bodyPr>
          <a:lstStyle/>
          <a:p>
            <a:pPr algn="l"/>
            <a:r>
              <a:rPr sz="1000" b="0">
                <a:solidFill>
                  <a:srgbClr val="FFFFFF"/>
                </a:solidFill>
              </a:rPr>
              <a:t>✓  Properties — with price/type filters</a:t>
            </a:r>
          </a:p>
        </p:txBody>
      </p:sp>
      <p:sp>
        <p:nvSpPr>
          <p:cNvPr id="26" name="TextBox 25"/>
          <p:cNvSpPr txBox="1"/>
          <p:nvPr/>
        </p:nvSpPr>
        <p:spPr>
          <a:xfrm>
            <a:off x="4315968" y="4096512"/>
            <a:ext cx="3429000" cy="329184"/>
          </a:xfrm>
          <a:prstGeom prst="rect">
            <a:avLst/>
          </a:prstGeom>
          <a:noFill/>
        </p:spPr>
        <p:txBody>
          <a:bodyPr wrap="square">
            <a:spAutoFit/>
          </a:bodyPr>
          <a:lstStyle/>
          <a:p>
            <a:pPr algn="l"/>
            <a:r>
              <a:rPr sz="1000" b="0">
                <a:solidFill>
                  <a:srgbClr val="FFFFFF"/>
                </a:solidFill>
              </a:rPr>
              <a:t>✓  Stats — total, avg, latest date</a:t>
            </a:r>
          </a:p>
        </p:txBody>
      </p:sp>
      <p:sp>
        <p:nvSpPr>
          <p:cNvPr id="27" name="TextBox 26"/>
          <p:cNvSpPr txBox="1"/>
          <p:nvPr/>
        </p:nvSpPr>
        <p:spPr>
          <a:xfrm>
            <a:off x="4315968" y="4443984"/>
            <a:ext cx="3429000" cy="329184"/>
          </a:xfrm>
          <a:prstGeom prst="rect">
            <a:avLst/>
          </a:prstGeom>
          <a:noFill/>
        </p:spPr>
        <p:txBody>
          <a:bodyPr wrap="square">
            <a:spAutoFit/>
          </a:bodyPr>
          <a:lstStyle/>
          <a:p>
            <a:pPr algn="l"/>
            <a:r>
              <a:rPr sz="1000" b="0">
                <a:solidFill>
                  <a:srgbClr val="FFFFFF"/>
                </a:solidFill>
              </a:rPr>
              <a:t>✓  Regions — returns array</a:t>
            </a:r>
          </a:p>
        </p:txBody>
      </p:sp>
      <p:sp>
        <p:nvSpPr>
          <p:cNvPr id="28" name="Rectangle 27"/>
          <p:cNvSpPr/>
          <p:nvPr/>
        </p:nvSpPr>
        <p:spPr>
          <a:xfrm>
            <a:off x="8046720" y="1920240"/>
            <a:ext cx="3657600" cy="443484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46720" y="1920240"/>
            <a:ext cx="3657600" cy="34747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38160" y="1938528"/>
            <a:ext cx="3474720" cy="320040"/>
          </a:xfrm>
          <a:prstGeom prst="rect">
            <a:avLst/>
          </a:prstGeom>
          <a:noFill/>
        </p:spPr>
        <p:txBody>
          <a:bodyPr wrap="square">
            <a:spAutoFit/>
          </a:bodyPr>
          <a:lstStyle/>
          <a:p>
            <a:pPr algn="ctr"/>
            <a:r>
              <a:rPr sz="1300" b="1">
                <a:solidFill>
                  <a:srgbClr val="0F172A"/>
                </a:solidFill>
              </a:rPr>
              <a:t>savedListings.test.ts</a:t>
            </a:r>
          </a:p>
        </p:txBody>
      </p:sp>
      <p:sp>
        <p:nvSpPr>
          <p:cNvPr id="31" name="TextBox 30"/>
          <p:cNvSpPr txBox="1"/>
          <p:nvPr/>
        </p:nvSpPr>
        <p:spPr>
          <a:xfrm>
            <a:off x="8156448" y="2359152"/>
            <a:ext cx="3429000" cy="329184"/>
          </a:xfrm>
          <a:prstGeom prst="rect">
            <a:avLst/>
          </a:prstGeom>
          <a:noFill/>
        </p:spPr>
        <p:txBody>
          <a:bodyPr wrap="square">
            <a:spAutoFit/>
          </a:bodyPr>
          <a:lstStyle/>
          <a:p>
            <a:pPr algn="l"/>
            <a:r>
              <a:rPr sz="1000" b="0">
                <a:solidFill>
                  <a:srgbClr val="FFFFFF"/>
                </a:solidFill>
              </a:rPr>
              <a:t>✓  Auth guard on all saved routes</a:t>
            </a:r>
          </a:p>
        </p:txBody>
      </p:sp>
      <p:sp>
        <p:nvSpPr>
          <p:cNvPr id="32" name="TextBox 31"/>
          <p:cNvSpPr txBox="1"/>
          <p:nvPr/>
        </p:nvSpPr>
        <p:spPr>
          <a:xfrm>
            <a:off x="8156448" y="2706624"/>
            <a:ext cx="3429000" cy="329184"/>
          </a:xfrm>
          <a:prstGeom prst="rect">
            <a:avLst/>
          </a:prstGeom>
          <a:noFill/>
        </p:spPr>
        <p:txBody>
          <a:bodyPr wrap="square">
            <a:spAutoFit/>
          </a:bodyPr>
          <a:lstStyle/>
          <a:p>
            <a:pPr algn="l"/>
            <a:r>
              <a:rPr sz="1000" b="0">
                <a:solidFill>
                  <a:srgbClr val="FFFFFF"/>
                </a:solidFill>
              </a:rPr>
              <a:t>✓  Create saved listing (201)</a:t>
            </a:r>
          </a:p>
        </p:txBody>
      </p:sp>
      <p:sp>
        <p:nvSpPr>
          <p:cNvPr id="33" name="TextBox 32"/>
          <p:cNvSpPr txBox="1"/>
          <p:nvPr/>
        </p:nvSpPr>
        <p:spPr>
          <a:xfrm>
            <a:off x="8156448" y="3054096"/>
            <a:ext cx="3429000" cy="329184"/>
          </a:xfrm>
          <a:prstGeom prst="rect">
            <a:avLst/>
          </a:prstGeom>
          <a:noFill/>
        </p:spPr>
        <p:txBody>
          <a:bodyPr wrap="square">
            <a:spAutoFit/>
          </a:bodyPr>
          <a:lstStyle/>
          <a:p>
            <a:pPr algn="l"/>
            <a:r>
              <a:rPr sz="1000" b="0">
                <a:solidFill>
                  <a:srgbClr val="FFFFFF"/>
                </a:solidFill>
              </a:rPr>
              <a:t>✓  List saved listings (200)</a:t>
            </a:r>
          </a:p>
        </p:txBody>
      </p:sp>
      <p:sp>
        <p:nvSpPr>
          <p:cNvPr id="34" name="TextBox 33"/>
          <p:cNvSpPr txBox="1"/>
          <p:nvPr/>
        </p:nvSpPr>
        <p:spPr>
          <a:xfrm>
            <a:off x="8156448" y="3401568"/>
            <a:ext cx="3429000" cy="329184"/>
          </a:xfrm>
          <a:prstGeom prst="rect">
            <a:avLst/>
          </a:prstGeom>
          <a:noFill/>
        </p:spPr>
        <p:txBody>
          <a:bodyPr wrap="square">
            <a:spAutoFit/>
          </a:bodyPr>
          <a:lstStyle/>
          <a:p>
            <a:pPr algn="l"/>
            <a:r>
              <a:rPr sz="1000" b="0">
                <a:solidFill>
                  <a:srgbClr val="FFFFFF"/>
                </a:solidFill>
              </a:rPr>
              <a:t>✓  Update note on saved listing (200)</a:t>
            </a:r>
          </a:p>
        </p:txBody>
      </p:sp>
      <p:sp>
        <p:nvSpPr>
          <p:cNvPr id="35" name="TextBox 34"/>
          <p:cNvSpPr txBox="1"/>
          <p:nvPr/>
        </p:nvSpPr>
        <p:spPr>
          <a:xfrm>
            <a:off x="8156448" y="3749039"/>
            <a:ext cx="3429000" cy="329184"/>
          </a:xfrm>
          <a:prstGeom prst="rect">
            <a:avLst/>
          </a:prstGeom>
          <a:noFill/>
        </p:spPr>
        <p:txBody>
          <a:bodyPr wrap="square">
            <a:spAutoFit/>
          </a:bodyPr>
          <a:lstStyle/>
          <a:p>
            <a:pPr algn="l"/>
            <a:r>
              <a:rPr sz="1000" b="0">
                <a:solidFill>
                  <a:srgbClr val="FFFFFF"/>
                </a:solidFill>
              </a:rPr>
              <a:t>✓  Delete saved listing (200)</a:t>
            </a:r>
          </a:p>
        </p:txBody>
      </p:sp>
      <p:sp>
        <p:nvSpPr>
          <p:cNvPr id="36" name="TextBox 35"/>
          <p:cNvSpPr txBox="1"/>
          <p:nvPr/>
        </p:nvSpPr>
        <p:spPr>
          <a:xfrm>
            <a:off x="8156448" y="4096512"/>
            <a:ext cx="3429000" cy="329184"/>
          </a:xfrm>
          <a:prstGeom prst="rect">
            <a:avLst/>
          </a:prstGeom>
          <a:noFill/>
        </p:spPr>
        <p:txBody>
          <a:bodyPr wrap="square">
            <a:spAutoFit/>
          </a:bodyPr>
          <a:lstStyle/>
          <a:p>
            <a:pPr algn="l"/>
            <a:r>
              <a:rPr sz="1000" b="0">
                <a:solidFill>
                  <a:srgbClr val="FFFFFF"/>
                </a:solidFill>
              </a:rPr>
              <a:t>✓  Reject duplicate save (409)</a:t>
            </a:r>
          </a:p>
        </p:txBody>
      </p:sp>
      <p:sp>
        <p:nvSpPr>
          <p:cNvPr id="37" name="TextBox 36"/>
          <p:cNvSpPr txBox="1"/>
          <p:nvPr/>
        </p:nvSpPr>
        <p:spPr>
          <a:xfrm>
            <a:off x="365760" y="6446520"/>
            <a:ext cx="11430000" cy="320040"/>
          </a:xfrm>
          <a:prstGeom prst="rect">
            <a:avLst/>
          </a:prstGeom>
          <a:noFill/>
        </p:spPr>
        <p:txBody>
          <a:bodyPr wrap="square">
            <a:spAutoFit/>
          </a:bodyPr>
          <a:lstStyle/>
          <a:p>
            <a:pPr algn="ctr"/>
            <a:r>
              <a:rPr sz="1000" b="0">
                <a:solidFill>
                  <a:srgbClr val="94A3B8"/>
                </a:solidFill>
              </a:rPr>
              <a:t>Stack: Vitest + Supertest  •  npm test from backend/  •  TypeScript type-check: npx tsc --noEmit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548640"/>
          </a:xfrm>
          <a:prstGeom prst="rect">
            <a:avLst/>
          </a:prstGeom>
          <a:noFill/>
        </p:spPr>
        <p:txBody>
          <a:bodyPr wrap="square">
            <a:spAutoFit/>
          </a:bodyPr>
          <a:lstStyle/>
          <a:p>
            <a:pPr algn="l"/>
            <a:r>
              <a:rPr sz="3200" b="1">
                <a:solidFill>
                  <a:srgbClr val="FFFFFF"/>
                </a:solidFill>
              </a:rPr>
              <a:t>Deployment &amp; Operations</a:t>
            </a:r>
          </a:p>
        </p:txBody>
      </p:sp>
      <p:sp>
        <p:nvSpPr>
          <p:cNvPr id="4" name="Rectangle 3"/>
          <p:cNvSpPr/>
          <p:nvPr/>
        </p:nvSpPr>
        <p:spPr>
          <a:xfrm>
            <a:off x="365760" y="868680"/>
            <a:ext cx="1145743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005840"/>
            <a:ext cx="3749039" cy="274320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97280"/>
            <a:ext cx="3474720" cy="411480"/>
          </a:xfrm>
          <a:prstGeom prst="rect">
            <a:avLst/>
          </a:prstGeom>
          <a:noFill/>
        </p:spPr>
        <p:txBody>
          <a:bodyPr wrap="square">
            <a:spAutoFit/>
          </a:bodyPr>
          <a:lstStyle/>
          <a:p>
            <a:pPr algn="l"/>
            <a:r>
              <a:rPr sz="1500" b="1">
                <a:solidFill>
                  <a:srgbClr val="38BDF8"/>
                </a:solidFill>
              </a:rPr>
              <a:t>🔵  Railway</a:t>
            </a:r>
          </a:p>
        </p:txBody>
      </p:sp>
      <p:sp>
        <p:nvSpPr>
          <p:cNvPr id="7" name="TextBox 6"/>
          <p:cNvSpPr txBox="1"/>
          <p:nvPr/>
        </p:nvSpPr>
        <p:spPr>
          <a:xfrm>
            <a:off x="502920" y="1508760"/>
            <a:ext cx="3474720" cy="320040"/>
          </a:xfrm>
          <a:prstGeom prst="rect">
            <a:avLst/>
          </a:prstGeom>
          <a:noFill/>
        </p:spPr>
        <p:txBody>
          <a:bodyPr wrap="square">
            <a:spAutoFit/>
          </a:bodyPr>
          <a:lstStyle/>
          <a:p>
            <a:pPr algn="l"/>
            <a:r>
              <a:rPr sz="1200" b="0">
                <a:solidFill>
                  <a:srgbClr val="94A3B8"/>
                </a:solidFill>
              </a:rPr>
              <a:t>Backend API</a:t>
            </a:r>
          </a:p>
        </p:txBody>
      </p:sp>
      <p:sp>
        <p:nvSpPr>
          <p:cNvPr id="8" name="TextBox 7"/>
          <p:cNvSpPr txBox="1"/>
          <p:nvPr/>
        </p:nvSpPr>
        <p:spPr>
          <a:xfrm>
            <a:off x="502920" y="1920240"/>
            <a:ext cx="3474720" cy="347472"/>
          </a:xfrm>
          <a:prstGeom prst="rect">
            <a:avLst/>
          </a:prstGeom>
          <a:noFill/>
        </p:spPr>
        <p:txBody>
          <a:bodyPr wrap="square">
            <a:spAutoFit/>
          </a:bodyPr>
          <a:lstStyle/>
          <a:p>
            <a:pPr algn="l"/>
            <a:r>
              <a:rPr sz="1100" b="0">
                <a:solidFill>
                  <a:srgbClr val="FFFFFF"/>
                </a:solidFill>
              </a:rPr>
              <a:t>→  Express — auto-deploy from GitHub main</a:t>
            </a:r>
          </a:p>
        </p:txBody>
      </p:sp>
      <p:sp>
        <p:nvSpPr>
          <p:cNvPr id="9" name="TextBox 8"/>
          <p:cNvSpPr txBox="1"/>
          <p:nvPr/>
        </p:nvSpPr>
        <p:spPr>
          <a:xfrm>
            <a:off x="502920" y="2286000"/>
            <a:ext cx="3474720" cy="347472"/>
          </a:xfrm>
          <a:prstGeom prst="rect">
            <a:avLst/>
          </a:prstGeom>
          <a:noFill/>
        </p:spPr>
        <p:txBody>
          <a:bodyPr wrap="square">
            <a:spAutoFit/>
          </a:bodyPr>
          <a:lstStyle/>
          <a:p>
            <a:pPr algn="l"/>
            <a:r>
              <a:rPr sz="1100" b="0">
                <a:solidFill>
                  <a:srgbClr val="FFFFFF"/>
                </a:solidFill>
              </a:rPr>
              <a:t>→  PORT, DATABASE_URL, CORS_ORIGIN env vars</a:t>
            </a:r>
          </a:p>
        </p:txBody>
      </p:sp>
      <p:sp>
        <p:nvSpPr>
          <p:cNvPr id="10" name="TextBox 9"/>
          <p:cNvSpPr txBox="1"/>
          <p:nvPr/>
        </p:nvSpPr>
        <p:spPr>
          <a:xfrm>
            <a:off x="502920" y="2651760"/>
            <a:ext cx="3474720" cy="347472"/>
          </a:xfrm>
          <a:prstGeom prst="rect">
            <a:avLst/>
          </a:prstGeom>
          <a:noFill/>
        </p:spPr>
        <p:txBody>
          <a:bodyPr wrap="square">
            <a:spAutoFit/>
          </a:bodyPr>
          <a:lstStyle/>
          <a:p>
            <a:pPr algn="l"/>
            <a:r>
              <a:rPr sz="1100" b="0">
                <a:solidFill>
                  <a:srgbClr val="FFFFFF"/>
                </a:solidFill>
              </a:rPr>
              <a:t>→  railway.json: build + start + healthcheck</a:t>
            </a:r>
          </a:p>
        </p:txBody>
      </p:sp>
      <p:sp>
        <p:nvSpPr>
          <p:cNvPr id="11" name="TextBox 10"/>
          <p:cNvSpPr txBox="1"/>
          <p:nvPr/>
        </p:nvSpPr>
        <p:spPr>
          <a:xfrm>
            <a:off x="502920" y="3017520"/>
            <a:ext cx="3474720" cy="347472"/>
          </a:xfrm>
          <a:prstGeom prst="rect">
            <a:avLst/>
          </a:prstGeom>
          <a:noFill/>
        </p:spPr>
        <p:txBody>
          <a:bodyPr wrap="square">
            <a:spAutoFit/>
          </a:bodyPr>
          <a:lstStyle/>
          <a:p>
            <a:pPr algn="l"/>
            <a:r>
              <a:rPr sz="1100" b="0">
                <a:solidFill>
                  <a:srgbClr val="FFFFFF"/>
                </a:solidFill>
              </a:rPr>
              <a:t>→  Prisma migrations run on every deploy</a:t>
            </a:r>
          </a:p>
        </p:txBody>
      </p:sp>
      <p:sp>
        <p:nvSpPr>
          <p:cNvPr id="12" name="Rectangle 11"/>
          <p:cNvSpPr/>
          <p:nvPr/>
        </p:nvSpPr>
        <p:spPr>
          <a:xfrm>
            <a:off x="4297680" y="1005840"/>
            <a:ext cx="3749039" cy="274320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1097280"/>
            <a:ext cx="3474720" cy="411480"/>
          </a:xfrm>
          <a:prstGeom prst="rect">
            <a:avLst/>
          </a:prstGeom>
          <a:noFill/>
        </p:spPr>
        <p:txBody>
          <a:bodyPr wrap="square">
            <a:spAutoFit/>
          </a:bodyPr>
          <a:lstStyle/>
          <a:p>
            <a:pPr algn="l"/>
            <a:r>
              <a:rPr sz="1500" b="1">
                <a:solidFill>
                  <a:srgbClr val="38BDF8"/>
                </a:solidFill>
              </a:rPr>
              <a:t>🐘  Railway Postgres</a:t>
            </a:r>
          </a:p>
        </p:txBody>
      </p:sp>
      <p:sp>
        <p:nvSpPr>
          <p:cNvPr id="14" name="TextBox 13"/>
          <p:cNvSpPr txBox="1"/>
          <p:nvPr/>
        </p:nvSpPr>
        <p:spPr>
          <a:xfrm>
            <a:off x="4434840" y="1508760"/>
            <a:ext cx="3474720" cy="320040"/>
          </a:xfrm>
          <a:prstGeom prst="rect">
            <a:avLst/>
          </a:prstGeom>
          <a:noFill/>
        </p:spPr>
        <p:txBody>
          <a:bodyPr wrap="square">
            <a:spAutoFit/>
          </a:bodyPr>
          <a:lstStyle/>
          <a:p>
            <a:pPr algn="l"/>
            <a:r>
              <a:rPr sz="1200" b="0">
                <a:solidFill>
                  <a:srgbClr val="94A3B8"/>
                </a:solidFill>
              </a:rPr>
              <a:t>Database</a:t>
            </a:r>
          </a:p>
        </p:txBody>
      </p:sp>
      <p:sp>
        <p:nvSpPr>
          <p:cNvPr id="15" name="TextBox 14"/>
          <p:cNvSpPr txBox="1"/>
          <p:nvPr/>
        </p:nvSpPr>
        <p:spPr>
          <a:xfrm>
            <a:off x="4434840" y="1920240"/>
            <a:ext cx="3474720" cy="347472"/>
          </a:xfrm>
          <a:prstGeom prst="rect">
            <a:avLst/>
          </a:prstGeom>
          <a:noFill/>
        </p:spPr>
        <p:txBody>
          <a:bodyPr wrap="square">
            <a:spAutoFit/>
          </a:bodyPr>
          <a:lstStyle/>
          <a:p>
            <a:pPr algn="l"/>
            <a:r>
              <a:rPr sz="1100" b="0">
                <a:solidFill>
                  <a:srgbClr val="FFFFFF"/>
                </a:solidFill>
              </a:rPr>
              <a:t>→  PostgreSQL 17 managed service</a:t>
            </a:r>
          </a:p>
        </p:txBody>
      </p:sp>
      <p:sp>
        <p:nvSpPr>
          <p:cNvPr id="16" name="TextBox 15"/>
          <p:cNvSpPr txBox="1"/>
          <p:nvPr/>
        </p:nvSpPr>
        <p:spPr>
          <a:xfrm>
            <a:off x="4434840" y="2286000"/>
            <a:ext cx="3474720" cy="347472"/>
          </a:xfrm>
          <a:prstGeom prst="rect">
            <a:avLst/>
          </a:prstGeom>
          <a:noFill/>
        </p:spPr>
        <p:txBody>
          <a:bodyPr wrap="square">
            <a:spAutoFit/>
          </a:bodyPr>
          <a:lstStyle/>
          <a:p>
            <a:pPr algn="l"/>
            <a:r>
              <a:rPr sz="1100" b="0">
                <a:solidFill>
                  <a:srgbClr val="FFFFFF"/>
                </a:solidFill>
              </a:rPr>
              <a:t>→  Internal URL for runtime (low latency)</a:t>
            </a:r>
          </a:p>
        </p:txBody>
      </p:sp>
      <p:sp>
        <p:nvSpPr>
          <p:cNvPr id="17" name="TextBox 16"/>
          <p:cNvSpPr txBox="1"/>
          <p:nvPr/>
        </p:nvSpPr>
        <p:spPr>
          <a:xfrm>
            <a:off x="4434840" y="2651760"/>
            <a:ext cx="3474720" cy="347472"/>
          </a:xfrm>
          <a:prstGeom prst="rect">
            <a:avLst/>
          </a:prstGeom>
          <a:noFill/>
        </p:spPr>
        <p:txBody>
          <a:bodyPr wrap="square">
            <a:spAutoFit/>
          </a:bodyPr>
          <a:lstStyle/>
          <a:p>
            <a:pPr algn="l"/>
            <a:r>
              <a:rPr sz="1100" b="0">
                <a:solidFill>
                  <a:srgbClr val="FFFFFF"/>
                </a:solidFill>
              </a:rPr>
              <a:t>→  External URL for local data imports</a:t>
            </a:r>
          </a:p>
        </p:txBody>
      </p:sp>
      <p:sp>
        <p:nvSpPr>
          <p:cNvPr id="18" name="TextBox 17"/>
          <p:cNvSpPr txBox="1"/>
          <p:nvPr/>
        </p:nvSpPr>
        <p:spPr>
          <a:xfrm>
            <a:off x="4434840" y="3017520"/>
            <a:ext cx="3474720" cy="347472"/>
          </a:xfrm>
          <a:prstGeom prst="rect">
            <a:avLst/>
          </a:prstGeom>
          <a:noFill/>
        </p:spPr>
        <p:txBody>
          <a:bodyPr wrap="square">
            <a:spAutoFit/>
          </a:bodyPr>
          <a:lstStyle/>
          <a:p>
            <a:pPr algn="l"/>
            <a:r>
              <a:rPr sz="1100" b="0">
                <a:solidFill>
                  <a:srgbClr val="FFFFFF"/>
                </a:solidFill>
              </a:rPr>
              <a:t>→  500k+ records imported via CLI script</a:t>
            </a:r>
          </a:p>
        </p:txBody>
      </p:sp>
      <p:sp>
        <p:nvSpPr>
          <p:cNvPr id="19" name="Rectangle 18"/>
          <p:cNvSpPr/>
          <p:nvPr/>
        </p:nvSpPr>
        <p:spPr>
          <a:xfrm>
            <a:off x="8229600" y="1005840"/>
            <a:ext cx="3749039" cy="274320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66760" y="1097280"/>
            <a:ext cx="3474720" cy="411480"/>
          </a:xfrm>
          <a:prstGeom prst="rect">
            <a:avLst/>
          </a:prstGeom>
          <a:noFill/>
        </p:spPr>
        <p:txBody>
          <a:bodyPr wrap="square">
            <a:spAutoFit/>
          </a:bodyPr>
          <a:lstStyle/>
          <a:p>
            <a:pPr algn="l"/>
            <a:r>
              <a:rPr sz="1500" b="1">
                <a:solidFill>
                  <a:srgbClr val="38BDF8"/>
                </a:solidFill>
              </a:rPr>
              <a:t>⚡  Vercel</a:t>
            </a:r>
          </a:p>
        </p:txBody>
      </p:sp>
      <p:sp>
        <p:nvSpPr>
          <p:cNvPr id="21" name="TextBox 20"/>
          <p:cNvSpPr txBox="1"/>
          <p:nvPr/>
        </p:nvSpPr>
        <p:spPr>
          <a:xfrm>
            <a:off x="8366760" y="1508760"/>
            <a:ext cx="3474720" cy="320040"/>
          </a:xfrm>
          <a:prstGeom prst="rect">
            <a:avLst/>
          </a:prstGeom>
          <a:noFill/>
        </p:spPr>
        <p:txBody>
          <a:bodyPr wrap="square">
            <a:spAutoFit/>
          </a:bodyPr>
          <a:lstStyle/>
          <a:p>
            <a:pPr algn="l"/>
            <a:r>
              <a:rPr sz="1200" b="0">
                <a:solidFill>
                  <a:srgbClr val="94A3B8"/>
                </a:solidFill>
              </a:rPr>
              <a:t>Frontend SPA</a:t>
            </a:r>
          </a:p>
        </p:txBody>
      </p:sp>
      <p:sp>
        <p:nvSpPr>
          <p:cNvPr id="22" name="TextBox 21"/>
          <p:cNvSpPr txBox="1"/>
          <p:nvPr/>
        </p:nvSpPr>
        <p:spPr>
          <a:xfrm>
            <a:off x="8366760" y="1920240"/>
            <a:ext cx="3474720" cy="347472"/>
          </a:xfrm>
          <a:prstGeom prst="rect">
            <a:avLst/>
          </a:prstGeom>
          <a:noFill/>
        </p:spPr>
        <p:txBody>
          <a:bodyPr wrap="square">
            <a:spAutoFit/>
          </a:bodyPr>
          <a:lstStyle/>
          <a:p>
            <a:pPr algn="l"/>
            <a:r>
              <a:rPr sz="1100" b="0">
                <a:solidFill>
                  <a:srgbClr val="FFFFFF"/>
                </a:solidFill>
              </a:rPr>
              <a:t>→  Vue 3 + Vite — auto-deploy from GitHub</a:t>
            </a:r>
          </a:p>
        </p:txBody>
      </p:sp>
      <p:sp>
        <p:nvSpPr>
          <p:cNvPr id="23" name="TextBox 22"/>
          <p:cNvSpPr txBox="1"/>
          <p:nvPr/>
        </p:nvSpPr>
        <p:spPr>
          <a:xfrm>
            <a:off x="8366760" y="2286000"/>
            <a:ext cx="3474720" cy="347472"/>
          </a:xfrm>
          <a:prstGeom prst="rect">
            <a:avLst/>
          </a:prstGeom>
          <a:noFill/>
        </p:spPr>
        <p:txBody>
          <a:bodyPr wrap="square">
            <a:spAutoFit/>
          </a:bodyPr>
          <a:lstStyle/>
          <a:p>
            <a:pPr algn="l"/>
            <a:r>
              <a:rPr sz="1100" b="0">
                <a:solidFill>
                  <a:srgbClr val="FFFFFF"/>
                </a:solidFill>
              </a:rPr>
              <a:t>→  VITE_API_BASE_URL → Railway backend</a:t>
            </a:r>
          </a:p>
        </p:txBody>
      </p:sp>
      <p:sp>
        <p:nvSpPr>
          <p:cNvPr id="24" name="TextBox 23"/>
          <p:cNvSpPr txBox="1"/>
          <p:nvPr/>
        </p:nvSpPr>
        <p:spPr>
          <a:xfrm>
            <a:off x="8366760" y="2651760"/>
            <a:ext cx="3474720" cy="347472"/>
          </a:xfrm>
          <a:prstGeom prst="rect">
            <a:avLst/>
          </a:prstGeom>
          <a:noFill/>
        </p:spPr>
        <p:txBody>
          <a:bodyPr wrap="square">
            <a:spAutoFit/>
          </a:bodyPr>
          <a:lstStyle/>
          <a:p>
            <a:pPr algn="l"/>
            <a:r>
              <a:rPr sz="1100" b="0">
                <a:solidFill>
                  <a:srgbClr val="FFFFFF"/>
                </a:solidFill>
              </a:rPr>
              <a:t>→  vercel.json → SPA fallback routing</a:t>
            </a:r>
          </a:p>
        </p:txBody>
      </p:sp>
      <p:sp>
        <p:nvSpPr>
          <p:cNvPr id="25" name="TextBox 24"/>
          <p:cNvSpPr txBox="1"/>
          <p:nvPr/>
        </p:nvSpPr>
        <p:spPr>
          <a:xfrm>
            <a:off x="8366760" y="3017520"/>
            <a:ext cx="3474720" cy="347472"/>
          </a:xfrm>
          <a:prstGeom prst="rect">
            <a:avLst/>
          </a:prstGeom>
          <a:noFill/>
        </p:spPr>
        <p:txBody>
          <a:bodyPr wrap="square">
            <a:spAutoFit/>
          </a:bodyPr>
          <a:lstStyle/>
          <a:p>
            <a:pPr algn="l"/>
            <a:r>
              <a:rPr sz="1100" b="0">
                <a:solidFill>
                  <a:srgbClr val="FFFFFF"/>
                </a:solidFill>
              </a:rPr>
              <a:t>→  Preview deployments per PR/commit</a:t>
            </a:r>
          </a:p>
        </p:txBody>
      </p:sp>
      <p:sp>
        <p:nvSpPr>
          <p:cNvPr id="26" name="TextBox 25"/>
          <p:cNvSpPr txBox="1"/>
          <p:nvPr/>
        </p:nvSpPr>
        <p:spPr>
          <a:xfrm>
            <a:off x="457200" y="3886200"/>
            <a:ext cx="10972800" cy="411480"/>
          </a:xfrm>
          <a:prstGeom prst="rect">
            <a:avLst/>
          </a:prstGeom>
          <a:noFill/>
        </p:spPr>
        <p:txBody>
          <a:bodyPr wrap="square">
            <a:spAutoFit/>
          </a:bodyPr>
          <a:lstStyle/>
          <a:p>
            <a:pPr algn="l"/>
            <a:r>
              <a:rPr sz="1600" b="1">
                <a:solidFill>
                  <a:srgbClr val="F87171"/>
                </a:solidFill>
              </a:rPr>
              <a:t>⚠️  Deployment Struggles (Most Frustrating Part)</a:t>
            </a:r>
          </a:p>
        </p:txBody>
      </p:sp>
      <p:sp>
        <p:nvSpPr>
          <p:cNvPr id="27" name="Rectangle 26"/>
          <p:cNvSpPr/>
          <p:nvPr/>
        </p:nvSpPr>
        <p:spPr>
          <a:xfrm>
            <a:off x="365760" y="4389120"/>
            <a:ext cx="5623560" cy="91440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4434840"/>
            <a:ext cx="5394960" cy="320040"/>
          </a:xfrm>
          <a:prstGeom prst="rect">
            <a:avLst/>
          </a:prstGeom>
          <a:noFill/>
        </p:spPr>
        <p:txBody>
          <a:bodyPr wrap="square">
            <a:spAutoFit/>
          </a:bodyPr>
          <a:lstStyle/>
          <a:p>
            <a:pPr algn="l"/>
            <a:r>
              <a:rPr sz="1200" b="1">
                <a:solidFill>
                  <a:srgbClr val="F87171"/>
                </a:solidFill>
              </a:rPr>
              <a:t>Railway build failures</a:t>
            </a:r>
          </a:p>
        </p:txBody>
      </p:sp>
      <p:sp>
        <p:nvSpPr>
          <p:cNvPr id="29" name="TextBox 28"/>
          <p:cNvSpPr txBox="1"/>
          <p:nvPr/>
        </p:nvSpPr>
        <p:spPr>
          <a:xfrm>
            <a:off x="457200" y="4754880"/>
            <a:ext cx="5394960" cy="502920"/>
          </a:xfrm>
          <a:prstGeom prst="rect">
            <a:avLst/>
          </a:prstGeom>
          <a:noFill/>
        </p:spPr>
        <p:txBody>
          <a:bodyPr wrap="square">
            <a:spAutoFit/>
          </a:bodyPr>
          <a:lstStyle/>
          <a:p>
            <a:pPr algn="l"/>
            <a:r>
              <a:rPr sz="1000" b="0">
                <a:solidFill>
                  <a:srgbClr val="94A3B8"/>
                </a:solidFill>
              </a:rPr>
              <a:t>First deploys failed — Nixpacks couldn't resolve TS build. Had to iterate on railway.json config multiple times.</a:t>
            </a:r>
          </a:p>
        </p:txBody>
      </p:sp>
      <p:sp>
        <p:nvSpPr>
          <p:cNvPr id="30" name="Rectangle 29"/>
          <p:cNvSpPr/>
          <p:nvPr/>
        </p:nvSpPr>
        <p:spPr>
          <a:xfrm>
            <a:off x="6172200" y="4389120"/>
            <a:ext cx="5623560" cy="91440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3640" y="4434840"/>
            <a:ext cx="5394960" cy="320040"/>
          </a:xfrm>
          <a:prstGeom prst="rect">
            <a:avLst/>
          </a:prstGeom>
          <a:noFill/>
        </p:spPr>
        <p:txBody>
          <a:bodyPr wrap="square">
            <a:spAutoFit/>
          </a:bodyPr>
          <a:lstStyle/>
          <a:p>
            <a:pPr algn="l"/>
            <a:r>
              <a:rPr sz="1200" b="1">
                <a:solidFill>
                  <a:srgbClr val="F87171"/>
                </a:solidFill>
              </a:rPr>
              <a:t>Internal vs External DB URLs</a:t>
            </a:r>
          </a:p>
        </p:txBody>
      </p:sp>
      <p:sp>
        <p:nvSpPr>
          <p:cNvPr id="32" name="TextBox 31"/>
          <p:cNvSpPr txBox="1"/>
          <p:nvPr/>
        </p:nvSpPr>
        <p:spPr>
          <a:xfrm>
            <a:off x="6263640" y="4754880"/>
            <a:ext cx="5394960" cy="502920"/>
          </a:xfrm>
          <a:prstGeom prst="rect">
            <a:avLst/>
          </a:prstGeom>
          <a:noFill/>
        </p:spPr>
        <p:txBody>
          <a:bodyPr wrap="square">
            <a:spAutoFit/>
          </a:bodyPr>
          <a:lstStyle/>
          <a:p>
            <a:pPr algn="l"/>
            <a:r>
              <a:rPr sz="1000" b="0">
                <a:solidFill>
                  <a:srgbClr val="94A3B8"/>
                </a:solidFill>
              </a:rPr>
              <a:t>Tried using Railway internal URL from my laptop for imports. Didn't work — had to learn the difference the hard way.</a:t>
            </a:r>
          </a:p>
        </p:txBody>
      </p:sp>
      <p:sp>
        <p:nvSpPr>
          <p:cNvPr id="33" name="Rectangle 32"/>
          <p:cNvSpPr/>
          <p:nvPr/>
        </p:nvSpPr>
        <p:spPr>
          <a:xfrm>
            <a:off x="365760" y="5486400"/>
            <a:ext cx="5623560" cy="91440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5532120"/>
            <a:ext cx="5394960" cy="320040"/>
          </a:xfrm>
          <a:prstGeom prst="rect">
            <a:avLst/>
          </a:prstGeom>
          <a:noFill/>
        </p:spPr>
        <p:txBody>
          <a:bodyPr wrap="square">
            <a:spAutoFit/>
          </a:bodyPr>
          <a:lstStyle/>
          <a:p>
            <a:pPr algn="l"/>
            <a:r>
              <a:rPr sz="1200" b="1">
                <a:solidFill>
                  <a:srgbClr val="F87171"/>
                </a:solidFill>
              </a:rPr>
              <a:t>CORS preflight rejections</a:t>
            </a:r>
          </a:p>
        </p:txBody>
      </p:sp>
      <p:sp>
        <p:nvSpPr>
          <p:cNvPr id="35" name="TextBox 34"/>
          <p:cNvSpPr txBox="1"/>
          <p:nvPr/>
        </p:nvSpPr>
        <p:spPr>
          <a:xfrm>
            <a:off x="457200" y="5852160"/>
            <a:ext cx="5394960" cy="502920"/>
          </a:xfrm>
          <a:prstGeom prst="rect">
            <a:avLst/>
          </a:prstGeom>
          <a:noFill/>
        </p:spPr>
        <p:txBody>
          <a:bodyPr wrap="square">
            <a:spAutoFit/>
          </a:bodyPr>
          <a:lstStyle/>
          <a:p>
            <a:pPr algn="l"/>
            <a:r>
              <a:rPr sz="1000" b="0">
                <a:solidFill>
                  <a:srgbClr val="94A3B8"/>
                </a:solidFill>
              </a:rPr>
              <a:t>Frontend on Vercel, backend on Railway = different domains. Browser blocked everything until regex origin check was added.</a:t>
            </a:r>
          </a:p>
        </p:txBody>
      </p:sp>
      <p:sp>
        <p:nvSpPr>
          <p:cNvPr id="36" name="Rectangle 35"/>
          <p:cNvSpPr/>
          <p:nvPr/>
        </p:nvSpPr>
        <p:spPr>
          <a:xfrm>
            <a:off x="6172200" y="5486400"/>
            <a:ext cx="5623560" cy="91440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63640" y="5532120"/>
            <a:ext cx="5394960" cy="320040"/>
          </a:xfrm>
          <a:prstGeom prst="rect">
            <a:avLst/>
          </a:prstGeom>
          <a:noFill/>
        </p:spPr>
        <p:txBody>
          <a:bodyPr wrap="square">
            <a:spAutoFit/>
          </a:bodyPr>
          <a:lstStyle/>
          <a:p>
            <a:pPr algn="l"/>
            <a:r>
              <a:rPr sz="1200" b="1">
                <a:solidFill>
                  <a:srgbClr val="F87171"/>
                </a:solidFill>
              </a:rPr>
              <a:t>Slow remote data imports</a:t>
            </a:r>
          </a:p>
        </p:txBody>
      </p:sp>
      <p:sp>
        <p:nvSpPr>
          <p:cNvPr id="38" name="TextBox 37"/>
          <p:cNvSpPr txBox="1"/>
          <p:nvPr/>
        </p:nvSpPr>
        <p:spPr>
          <a:xfrm>
            <a:off x="6263640" y="5852160"/>
            <a:ext cx="5394960" cy="502920"/>
          </a:xfrm>
          <a:prstGeom prst="rect">
            <a:avLst/>
          </a:prstGeom>
          <a:noFill/>
        </p:spPr>
        <p:txBody>
          <a:bodyPr wrap="square">
            <a:spAutoFit/>
          </a:bodyPr>
          <a:lstStyle/>
          <a:p>
            <a:pPr algn="l"/>
            <a:r>
              <a:rPr sz="1000" b="0">
                <a:solidFill>
                  <a:srgbClr val="94A3B8"/>
                </a:solidFill>
              </a:rPr>
              <a:t>Importing 500k+ records over external DB URL was slow and timed out. Had to tune batch sizes carefully.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548640"/>
          </a:xfrm>
          <a:prstGeom prst="rect">
            <a:avLst/>
          </a:prstGeom>
          <a:noFill/>
        </p:spPr>
        <p:txBody>
          <a:bodyPr wrap="square">
            <a:spAutoFit/>
          </a:bodyPr>
          <a:lstStyle/>
          <a:p>
            <a:pPr algn="l"/>
            <a:r>
              <a:rPr sz="2800" b="1">
                <a:solidFill>
                  <a:srgbClr val="FFFFFF"/>
                </a:solidFill>
              </a:rPr>
              <a:t>Generative AI Usage — 3-Tool Pipeline</a:t>
            </a:r>
          </a:p>
        </p:txBody>
      </p:sp>
      <p:sp>
        <p:nvSpPr>
          <p:cNvPr id="4" name="Rectangle 3"/>
          <p:cNvSpPr/>
          <p:nvPr/>
        </p:nvSpPr>
        <p:spPr>
          <a:xfrm>
            <a:off x="365760" y="868680"/>
            <a:ext cx="1145743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05840"/>
            <a:ext cx="11247120" cy="68580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078992"/>
            <a:ext cx="10972800" cy="530352"/>
          </a:xfrm>
          <a:prstGeom prst="rect">
            <a:avLst/>
          </a:prstGeom>
          <a:noFill/>
        </p:spPr>
        <p:txBody>
          <a:bodyPr wrap="square">
            <a:spAutoFit/>
          </a:bodyPr>
          <a:lstStyle/>
          <a:p>
            <a:pPr algn="ctr"/>
            <a:r>
              <a:rPr sz="1400" b="1">
                <a:solidFill>
                  <a:srgbClr val="FBBF24"/>
                </a:solidFill>
              </a:rPr>
              <a:t>[Me]  →  Gemini  (idea + requirements)  →  ChatGPT  (prompt engineering)  →  Copilot / Claude  (implementation)</a:t>
            </a:r>
          </a:p>
        </p:txBody>
      </p:sp>
      <p:sp>
        <p:nvSpPr>
          <p:cNvPr id="7" name="Rectangle 6"/>
          <p:cNvSpPr/>
          <p:nvPr/>
        </p:nvSpPr>
        <p:spPr>
          <a:xfrm>
            <a:off x="365760" y="1828800"/>
            <a:ext cx="3657600" cy="265176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828800"/>
            <a:ext cx="3657600" cy="3657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847088"/>
            <a:ext cx="3474720" cy="338328"/>
          </a:xfrm>
          <a:prstGeom prst="rect">
            <a:avLst/>
          </a:prstGeom>
          <a:noFill/>
        </p:spPr>
        <p:txBody>
          <a:bodyPr wrap="square">
            <a:spAutoFit/>
          </a:bodyPr>
          <a:lstStyle/>
          <a:p>
            <a:pPr algn="ctr"/>
            <a:r>
              <a:rPr sz="1300" b="1">
                <a:solidFill>
                  <a:srgbClr val="0F172A"/>
                </a:solidFill>
              </a:rPr>
              <a:t>1. Google Gemini</a:t>
            </a:r>
          </a:p>
        </p:txBody>
      </p:sp>
      <p:sp>
        <p:nvSpPr>
          <p:cNvPr id="10" name="TextBox 9"/>
          <p:cNvSpPr txBox="1"/>
          <p:nvPr/>
        </p:nvSpPr>
        <p:spPr>
          <a:xfrm>
            <a:off x="475488" y="2286000"/>
            <a:ext cx="3429000" cy="2103120"/>
          </a:xfrm>
          <a:prstGeom prst="rect">
            <a:avLst/>
          </a:prstGeom>
          <a:noFill/>
        </p:spPr>
        <p:txBody>
          <a:bodyPr wrap="square">
            <a:spAutoFit/>
          </a:bodyPr>
          <a:lstStyle/>
          <a:p>
            <a:pPr algn="l"/>
            <a:r>
              <a:rPr sz="1100" b="0">
                <a:solidFill>
                  <a:srgbClr val="FFFFFF"/>
                </a:solidFill>
              </a:rPr>
              <a:t>I didn't know what to build.
~15 min brainstorming converged
on housing market API.
Then asked Gemini to produce
a full requirements document
given my chosen tech stack.</a:t>
            </a:r>
          </a:p>
        </p:txBody>
      </p:sp>
      <p:sp>
        <p:nvSpPr>
          <p:cNvPr id="11" name="TextBox 10"/>
          <p:cNvSpPr txBox="1"/>
          <p:nvPr/>
        </p:nvSpPr>
        <p:spPr>
          <a:xfrm>
            <a:off x="3977639" y="3017520"/>
            <a:ext cx="274320" cy="365760"/>
          </a:xfrm>
          <a:prstGeom prst="rect">
            <a:avLst/>
          </a:prstGeom>
          <a:noFill/>
        </p:spPr>
        <p:txBody>
          <a:bodyPr wrap="square">
            <a:spAutoFit/>
          </a:bodyPr>
          <a:lstStyle/>
          <a:p>
            <a:pPr algn="ctr"/>
            <a:r>
              <a:rPr sz="2200" b="0">
                <a:solidFill>
                  <a:srgbClr val="94A3B8"/>
                </a:solidFill>
              </a:rPr>
              <a:t>→</a:t>
            </a:r>
          </a:p>
        </p:txBody>
      </p:sp>
      <p:sp>
        <p:nvSpPr>
          <p:cNvPr id="12" name="Rectangle 11"/>
          <p:cNvSpPr/>
          <p:nvPr/>
        </p:nvSpPr>
        <p:spPr>
          <a:xfrm>
            <a:off x="4206240" y="1828800"/>
            <a:ext cx="3657600" cy="265176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06240" y="1828800"/>
            <a:ext cx="3657600" cy="36576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0" y="1847088"/>
            <a:ext cx="3474720" cy="338328"/>
          </a:xfrm>
          <a:prstGeom prst="rect">
            <a:avLst/>
          </a:prstGeom>
          <a:noFill/>
        </p:spPr>
        <p:txBody>
          <a:bodyPr wrap="square">
            <a:spAutoFit/>
          </a:bodyPr>
          <a:lstStyle/>
          <a:p>
            <a:pPr algn="ctr"/>
            <a:r>
              <a:rPr sz="1300" b="1">
                <a:solidFill>
                  <a:srgbClr val="0F172A"/>
                </a:solidFill>
              </a:rPr>
              <a:t>2. ChatGPT</a:t>
            </a:r>
          </a:p>
        </p:txBody>
      </p:sp>
      <p:sp>
        <p:nvSpPr>
          <p:cNvPr id="15" name="TextBox 14"/>
          <p:cNvSpPr txBox="1"/>
          <p:nvPr/>
        </p:nvSpPr>
        <p:spPr>
          <a:xfrm>
            <a:off x="4315968" y="2286000"/>
            <a:ext cx="3429000" cy="2103120"/>
          </a:xfrm>
          <a:prstGeom prst="rect">
            <a:avLst/>
          </a:prstGeom>
          <a:noFill/>
        </p:spPr>
        <p:txBody>
          <a:bodyPr wrap="square">
            <a:spAutoFit/>
          </a:bodyPr>
          <a:lstStyle/>
          <a:p>
            <a:pPr algn="l"/>
            <a:r>
              <a:rPr sz="1100" b="0">
                <a:solidFill>
                  <a:srgbClr val="FFFFFF"/>
                </a:solidFill>
              </a:rPr>
              <a:t>Gave it Gemini's requirements
and asked: "Write me the best
prompt for Claude to build this."
ChatGPT structured the prompt
with file layout, types, layering
rules, security specs, tests.</a:t>
            </a:r>
          </a:p>
        </p:txBody>
      </p:sp>
      <p:sp>
        <p:nvSpPr>
          <p:cNvPr id="16" name="TextBox 15"/>
          <p:cNvSpPr txBox="1"/>
          <p:nvPr/>
        </p:nvSpPr>
        <p:spPr>
          <a:xfrm>
            <a:off x="7818120" y="3017520"/>
            <a:ext cx="274320" cy="365760"/>
          </a:xfrm>
          <a:prstGeom prst="rect">
            <a:avLst/>
          </a:prstGeom>
          <a:noFill/>
        </p:spPr>
        <p:txBody>
          <a:bodyPr wrap="square">
            <a:spAutoFit/>
          </a:bodyPr>
          <a:lstStyle/>
          <a:p>
            <a:pPr algn="ctr"/>
            <a:r>
              <a:rPr sz="2200" b="0">
                <a:solidFill>
                  <a:srgbClr val="94A3B8"/>
                </a:solidFill>
              </a:rPr>
              <a:t>→</a:t>
            </a:r>
          </a:p>
        </p:txBody>
      </p:sp>
      <p:sp>
        <p:nvSpPr>
          <p:cNvPr id="17" name="Rectangle 16"/>
          <p:cNvSpPr/>
          <p:nvPr/>
        </p:nvSpPr>
        <p:spPr>
          <a:xfrm>
            <a:off x="8046720" y="1828800"/>
            <a:ext cx="3657600" cy="265176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6720" y="1828800"/>
            <a:ext cx="3657600" cy="36576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1847088"/>
            <a:ext cx="3474720" cy="338328"/>
          </a:xfrm>
          <a:prstGeom prst="rect">
            <a:avLst/>
          </a:prstGeom>
          <a:noFill/>
        </p:spPr>
        <p:txBody>
          <a:bodyPr wrap="square">
            <a:spAutoFit/>
          </a:bodyPr>
          <a:lstStyle/>
          <a:p>
            <a:pPr algn="ctr"/>
            <a:r>
              <a:rPr sz="1300" b="1">
                <a:solidFill>
                  <a:srgbClr val="0F172A"/>
                </a:solidFill>
              </a:rPr>
              <a:t>3. Copilot / Claude</a:t>
            </a:r>
          </a:p>
        </p:txBody>
      </p:sp>
      <p:sp>
        <p:nvSpPr>
          <p:cNvPr id="20" name="TextBox 19"/>
          <p:cNvSpPr txBox="1"/>
          <p:nvPr/>
        </p:nvSpPr>
        <p:spPr>
          <a:xfrm>
            <a:off x="8156448" y="2286000"/>
            <a:ext cx="3429000" cy="2103120"/>
          </a:xfrm>
          <a:prstGeom prst="rect">
            <a:avLst/>
          </a:prstGeom>
          <a:noFill/>
        </p:spPr>
        <p:txBody>
          <a:bodyPr wrap="square">
            <a:spAutoFit/>
          </a:bodyPr>
          <a:lstStyle/>
          <a:p>
            <a:pPr algn="l"/>
            <a:r>
              <a:rPr sz="1100" b="0">
                <a:solidFill>
                  <a:srgbClr val="FFFFFF"/>
                </a:solidFill>
              </a:rPr>
              <a:t>Built the full project from
the ChatGPT-engineered prompt.
I reviewed all code, debated
architecture (JWT → sessions),
ran tests, debugged deployment
issues manually.</a:t>
            </a:r>
          </a:p>
        </p:txBody>
      </p:sp>
      <p:sp>
        <p:nvSpPr>
          <p:cNvPr id="21" name="Rectangle 20"/>
          <p:cNvSpPr/>
          <p:nvPr/>
        </p:nvSpPr>
        <p:spPr>
          <a:xfrm>
            <a:off x="457200" y="4617720"/>
            <a:ext cx="11247120" cy="82296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663440"/>
            <a:ext cx="2743200" cy="320040"/>
          </a:xfrm>
          <a:prstGeom prst="rect">
            <a:avLst/>
          </a:prstGeom>
          <a:noFill/>
        </p:spPr>
        <p:txBody>
          <a:bodyPr wrap="square">
            <a:spAutoFit/>
          </a:bodyPr>
          <a:lstStyle/>
          <a:p>
            <a:pPr algn="l"/>
            <a:r>
              <a:rPr sz="1300" b="1">
                <a:solidFill>
                  <a:srgbClr val="F87171"/>
                </a:solidFill>
              </a:rPr>
              <a:t>Honest Reflection</a:t>
            </a:r>
          </a:p>
        </p:txBody>
      </p:sp>
      <p:sp>
        <p:nvSpPr>
          <p:cNvPr id="23" name="TextBox 22"/>
          <p:cNvSpPr txBox="1"/>
          <p:nvPr/>
        </p:nvSpPr>
        <p:spPr>
          <a:xfrm>
            <a:off x="594360" y="4983480"/>
            <a:ext cx="10927080" cy="438912"/>
          </a:xfrm>
          <a:prstGeom prst="rect">
            <a:avLst/>
          </a:prstGeom>
          <a:noFill/>
        </p:spPr>
        <p:txBody>
          <a:bodyPr wrap="square">
            <a:spAutoFit/>
          </a:bodyPr>
          <a:lstStyle/>
          <a:p>
            <a:pPr algn="l"/>
            <a:r>
              <a:rPr sz="1000" b="0">
                <a:solidFill>
                  <a:srgbClr val="94A3B8"/>
                </a:solidFill>
              </a:rPr>
              <a:t>Most code was AI-generated from a prompt that was itself AI-written, from requirements that were AI-produced. My role: project director — chose the project, decided the stack, reviewed all code, made architectural decisions (sessions &gt; JWTs), debugged deployment manually, ran tests, wrote analytical content. I understand every part of the system and can explain any component.</a:t>
            </a:r>
          </a:p>
        </p:txBody>
      </p:sp>
      <p:sp>
        <p:nvSpPr>
          <p:cNvPr id="24" name="Rectangle 23"/>
          <p:cNvSpPr/>
          <p:nvPr/>
        </p:nvSpPr>
        <p:spPr>
          <a:xfrm>
            <a:off x="457200" y="5532120"/>
            <a:ext cx="11247120" cy="2743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5550408"/>
            <a:ext cx="1143000" cy="237744"/>
          </a:xfrm>
          <a:prstGeom prst="rect">
            <a:avLst/>
          </a:prstGeom>
          <a:noFill/>
        </p:spPr>
        <p:txBody>
          <a:bodyPr wrap="square">
            <a:spAutoFit/>
          </a:bodyPr>
          <a:lstStyle/>
          <a:p>
            <a:pPr algn="l"/>
            <a:r>
              <a:rPr sz="1000" b="1">
                <a:solidFill>
                  <a:srgbClr val="0F172A"/>
                </a:solidFill>
              </a:rPr>
              <a:t>  Tool</a:t>
            </a:r>
          </a:p>
        </p:txBody>
      </p:sp>
      <p:sp>
        <p:nvSpPr>
          <p:cNvPr id="26" name="TextBox 25"/>
          <p:cNvSpPr txBox="1"/>
          <p:nvPr/>
        </p:nvSpPr>
        <p:spPr>
          <a:xfrm>
            <a:off x="1691640" y="5550408"/>
            <a:ext cx="4297680" cy="237744"/>
          </a:xfrm>
          <a:prstGeom prst="rect">
            <a:avLst/>
          </a:prstGeom>
          <a:noFill/>
        </p:spPr>
        <p:txBody>
          <a:bodyPr wrap="square">
            <a:spAutoFit/>
          </a:bodyPr>
          <a:lstStyle/>
          <a:p>
            <a:pPr algn="l"/>
            <a:r>
              <a:rPr sz="1000" b="1">
                <a:solidFill>
                  <a:srgbClr val="0F172A"/>
                </a:solidFill>
              </a:rPr>
              <a:t>  Usage</a:t>
            </a:r>
          </a:p>
        </p:txBody>
      </p:sp>
      <p:sp>
        <p:nvSpPr>
          <p:cNvPr id="27" name="TextBox 26"/>
          <p:cNvSpPr txBox="1"/>
          <p:nvPr/>
        </p:nvSpPr>
        <p:spPr>
          <a:xfrm>
            <a:off x="6035040" y="5550408"/>
            <a:ext cx="5486400" cy="237744"/>
          </a:xfrm>
          <a:prstGeom prst="rect">
            <a:avLst/>
          </a:prstGeom>
          <a:noFill/>
        </p:spPr>
        <p:txBody>
          <a:bodyPr wrap="square">
            <a:spAutoFit/>
          </a:bodyPr>
          <a:lstStyle/>
          <a:p>
            <a:pPr algn="l"/>
            <a:r>
              <a:rPr sz="1000" b="1">
                <a:solidFill>
                  <a:srgbClr val="0F172A"/>
                </a:solidFill>
              </a:rPr>
              <a:t>  Detail</a:t>
            </a:r>
          </a:p>
        </p:txBody>
      </p:sp>
      <p:sp>
        <p:nvSpPr>
          <p:cNvPr id="28" name="Rectangle 27"/>
          <p:cNvSpPr/>
          <p:nvPr/>
        </p:nvSpPr>
        <p:spPr>
          <a:xfrm>
            <a:off x="457200" y="5843016"/>
            <a:ext cx="11247120" cy="18288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5843016"/>
            <a:ext cx="1143000" cy="182880"/>
          </a:xfrm>
          <a:prstGeom prst="rect">
            <a:avLst/>
          </a:prstGeom>
          <a:noFill/>
        </p:spPr>
        <p:txBody>
          <a:bodyPr wrap="square">
            <a:spAutoFit/>
          </a:bodyPr>
          <a:lstStyle/>
          <a:p>
            <a:pPr algn="l"/>
            <a:r>
              <a:rPr sz="800" b="1">
                <a:solidFill>
                  <a:srgbClr val="38BDF8"/>
                </a:solidFill>
              </a:rPr>
              <a:t>  Gemini</a:t>
            </a:r>
          </a:p>
        </p:txBody>
      </p:sp>
      <p:sp>
        <p:nvSpPr>
          <p:cNvPr id="30" name="TextBox 29"/>
          <p:cNvSpPr txBox="1"/>
          <p:nvPr/>
        </p:nvSpPr>
        <p:spPr>
          <a:xfrm>
            <a:off x="1691640" y="5843016"/>
            <a:ext cx="4297680" cy="182880"/>
          </a:xfrm>
          <a:prstGeom prst="rect">
            <a:avLst/>
          </a:prstGeom>
          <a:noFill/>
        </p:spPr>
        <p:txBody>
          <a:bodyPr wrap="square">
            <a:spAutoFit/>
          </a:bodyPr>
          <a:lstStyle/>
          <a:p>
            <a:pPr algn="l"/>
            <a:r>
              <a:rPr sz="800" b="0">
                <a:solidFill>
                  <a:srgbClr val="FFFFFF"/>
                </a:solidFill>
              </a:rPr>
              <a:t>  Project ideation (~15 min chat)</a:t>
            </a:r>
          </a:p>
        </p:txBody>
      </p:sp>
      <p:sp>
        <p:nvSpPr>
          <p:cNvPr id="31" name="TextBox 30"/>
          <p:cNvSpPr txBox="1"/>
          <p:nvPr/>
        </p:nvSpPr>
        <p:spPr>
          <a:xfrm>
            <a:off x="6035040" y="5843016"/>
            <a:ext cx="5486400" cy="182880"/>
          </a:xfrm>
          <a:prstGeom prst="rect">
            <a:avLst/>
          </a:prstGeom>
          <a:noFill/>
        </p:spPr>
        <p:txBody>
          <a:bodyPr wrap="square">
            <a:spAutoFit/>
          </a:bodyPr>
          <a:lstStyle/>
          <a:p>
            <a:pPr algn="l"/>
            <a:r>
              <a:rPr sz="800" b="0">
                <a:solidFill>
                  <a:srgbClr val="94A3B8"/>
                </a:solidFill>
              </a:rPr>
              <a:t>  Chose housing market API over alternatives</a:t>
            </a:r>
          </a:p>
        </p:txBody>
      </p:sp>
      <p:sp>
        <p:nvSpPr>
          <p:cNvPr id="32" name="Rectangle 31"/>
          <p:cNvSpPr/>
          <p:nvPr/>
        </p:nvSpPr>
        <p:spPr>
          <a:xfrm>
            <a:off x="457200" y="6044183"/>
            <a:ext cx="11247120" cy="1828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6044183"/>
            <a:ext cx="1143000" cy="182880"/>
          </a:xfrm>
          <a:prstGeom prst="rect">
            <a:avLst/>
          </a:prstGeom>
          <a:noFill/>
        </p:spPr>
        <p:txBody>
          <a:bodyPr wrap="square">
            <a:spAutoFit/>
          </a:bodyPr>
          <a:lstStyle/>
          <a:p>
            <a:pPr algn="l"/>
            <a:r>
              <a:rPr sz="800" b="1">
                <a:solidFill>
                  <a:srgbClr val="38BDF8"/>
                </a:solidFill>
              </a:rPr>
              <a:t>  Gemini</a:t>
            </a:r>
          </a:p>
        </p:txBody>
      </p:sp>
      <p:sp>
        <p:nvSpPr>
          <p:cNvPr id="34" name="TextBox 33"/>
          <p:cNvSpPr txBox="1"/>
          <p:nvPr/>
        </p:nvSpPr>
        <p:spPr>
          <a:xfrm>
            <a:off x="1691640" y="6044183"/>
            <a:ext cx="4297680" cy="182880"/>
          </a:xfrm>
          <a:prstGeom prst="rect">
            <a:avLst/>
          </a:prstGeom>
          <a:noFill/>
        </p:spPr>
        <p:txBody>
          <a:bodyPr wrap="square">
            <a:spAutoFit/>
          </a:bodyPr>
          <a:lstStyle/>
          <a:p>
            <a:pPr algn="l"/>
            <a:r>
              <a:rPr sz="800" b="0">
                <a:solidFill>
                  <a:srgbClr val="FFFFFF"/>
                </a:solidFill>
              </a:rPr>
              <a:t>  Requirements analysis</a:t>
            </a:r>
          </a:p>
        </p:txBody>
      </p:sp>
      <p:sp>
        <p:nvSpPr>
          <p:cNvPr id="35" name="TextBox 34"/>
          <p:cNvSpPr txBox="1"/>
          <p:nvPr/>
        </p:nvSpPr>
        <p:spPr>
          <a:xfrm>
            <a:off x="6035040" y="6044183"/>
            <a:ext cx="5486400" cy="182880"/>
          </a:xfrm>
          <a:prstGeom prst="rect">
            <a:avLst/>
          </a:prstGeom>
          <a:noFill/>
        </p:spPr>
        <p:txBody>
          <a:bodyPr wrap="square">
            <a:spAutoFit/>
          </a:bodyPr>
          <a:lstStyle/>
          <a:p>
            <a:pPr algn="l"/>
            <a:r>
              <a:rPr sz="800" b="0">
                <a:solidFill>
                  <a:srgbClr val="94A3B8"/>
                </a:solidFill>
              </a:rPr>
              <a:t>  Full functional + non-functional spec given my stack</a:t>
            </a:r>
          </a:p>
        </p:txBody>
      </p:sp>
      <p:sp>
        <p:nvSpPr>
          <p:cNvPr id="36" name="Rectangle 35"/>
          <p:cNvSpPr/>
          <p:nvPr/>
        </p:nvSpPr>
        <p:spPr>
          <a:xfrm>
            <a:off x="457200" y="6245352"/>
            <a:ext cx="11247120" cy="18288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6245352"/>
            <a:ext cx="1143000" cy="182880"/>
          </a:xfrm>
          <a:prstGeom prst="rect">
            <a:avLst/>
          </a:prstGeom>
          <a:noFill/>
        </p:spPr>
        <p:txBody>
          <a:bodyPr wrap="square">
            <a:spAutoFit/>
          </a:bodyPr>
          <a:lstStyle/>
          <a:p>
            <a:pPr algn="l"/>
            <a:r>
              <a:rPr sz="800" b="1">
                <a:solidFill>
                  <a:srgbClr val="34D399"/>
                </a:solidFill>
              </a:rPr>
              <a:t>  ChatGPT</a:t>
            </a:r>
          </a:p>
        </p:txBody>
      </p:sp>
      <p:sp>
        <p:nvSpPr>
          <p:cNvPr id="38" name="TextBox 37"/>
          <p:cNvSpPr txBox="1"/>
          <p:nvPr/>
        </p:nvSpPr>
        <p:spPr>
          <a:xfrm>
            <a:off x="1691640" y="6245352"/>
            <a:ext cx="4297680" cy="182880"/>
          </a:xfrm>
          <a:prstGeom prst="rect">
            <a:avLst/>
          </a:prstGeom>
          <a:noFill/>
        </p:spPr>
        <p:txBody>
          <a:bodyPr wrap="square">
            <a:spAutoFit/>
          </a:bodyPr>
          <a:lstStyle/>
          <a:p>
            <a:pPr algn="l"/>
            <a:r>
              <a:rPr sz="800" b="0">
                <a:solidFill>
                  <a:srgbClr val="FFFFFF"/>
                </a:solidFill>
              </a:rPr>
              <a:t>  Prompt engineering</a:t>
            </a:r>
          </a:p>
        </p:txBody>
      </p:sp>
      <p:sp>
        <p:nvSpPr>
          <p:cNvPr id="39" name="TextBox 38"/>
          <p:cNvSpPr txBox="1"/>
          <p:nvPr/>
        </p:nvSpPr>
        <p:spPr>
          <a:xfrm>
            <a:off x="6035040" y="6245352"/>
            <a:ext cx="5486400" cy="182880"/>
          </a:xfrm>
          <a:prstGeom prst="rect">
            <a:avLst/>
          </a:prstGeom>
          <a:noFill/>
        </p:spPr>
        <p:txBody>
          <a:bodyPr wrap="square">
            <a:spAutoFit/>
          </a:bodyPr>
          <a:lstStyle/>
          <a:p>
            <a:pPr algn="l"/>
            <a:r>
              <a:rPr sz="800" b="0">
                <a:solidFill>
                  <a:srgbClr val="94A3B8"/>
                </a:solidFill>
              </a:rPr>
              <a:t>  Converted requirements → precise Copilot build prompt</a:t>
            </a:r>
          </a:p>
        </p:txBody>
      </p:sp>
      <p:sp>
        <p:nvSpPr>
          <p:cNvPr id="40" name="Rectangle 39"/>
          <p:cNvSpPr/>
          <p:nvPr/>
        </p:nvSpPr>
        <p:spPr>
          <a:xfrm>
            <a:off x="457200" y="6446520"/>
            <a:ext cx="11247120" cy="1828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 y="6446520"/>
            <a:ext cx="1143000" cy="182880"/>
          </a:xfrm>
          <a:prstGeom prst="rect">
            <a:avLst/>
          </a:prstGeom>
          <a:noFill/>
        </p:spPr>
        <p:txBody>
          <a:bodyPr wrap="square">
            <a:spAutoFit/>
          </a:bodyPr>
          <a:lstStyle/>
          <a:p>
            <a:pPr algn="l"/>
            <a:r>
              <a:rPr sz="800" b="1">
                <a:solidFill>
                  <a:srgbClr val="FBBF24"/>
                </a:solidFill>
              </a:rPr>
              <a:t>  Copilot</a:t>
            </a:r>
          </a:p>
        </p:txBody>
      </p:sp>
      <p:sp>
        <p:nvSpPr>
          <p:cNvPr id="42" name="TextBox 41"/>
          <p:cNvSpPr txBox="1"/>
          <p:nvPr/>
        </p:nvSpPr>
        <p:spPr>
          <a:xfrm>
            <a:off x="1691640" y="6446520"/>
            <a:ext cx="4297680" cy="182880"/>
          </a:xfrm>
          <a:prstGeom prst="rect">
            <a:avLst/>
          </a:prstGeom>
          <a:noFill/>
        </p:spPr>
        <p:txBody>
          <a:bodyPr wrap="square">
            <a:spAutoFit/>
          </a:bodyPr>
          <a:lstStyle/>
          <a:p>
            <a:pPr algn="l"/>
            <a:r>
              <a:rPr sz="800" b="0">
                <a:solidFill>
                  <a:srgbClr val="FFFFFF"/>
                </a:solidFill>
              </a:rPr>
              <a:t>  Full backend + frontend implementation</a:t>
            </a:r>
          </a:p>
        </p:txBody>
      </p:sp>
      <p:sp>
        <p:nvSpPr>
          <p:cNvPr id="43" name="TextBox 42"/>
          <p:cNvSpPr txBox="1"/>
          <p:nvPr/>
        </p:nvSpPr>
        <p:spPr>
          <a:xfrm>
            <a:off x="6035040" y="6446520"/>
            <a:ext cx="5486400" cy="182880"/>
          </a:xfrm>
          <a:prstGeom prst="rect">
            <a:avLst/>
          </a:prstGeom>
          <a:noFill/>
        </p:spPr>
        <p:txBody>
          <a:bodyPr wrap="square">
            <a:spAutoFit/>
          </a:bodyPr>
          <a:lstStyle/>
          <a:p>
            <a:pPr algn="l"/>
            <a:r>
              <a:rPr sz="800" b="0">
                <a:solidFill>
                  <a:srgbClr val="94A3B8"/>
                </a:solidFill>
              </a:rPr>
              <a:t>  Built from engineered prompt with my ongoing review</a:t>
            </a:r>
          </a:p>
        </p:txBody>
      </p:sp>
      <p:sp>
        <p:nvSpPr>
          <p:cNvPr id="44" name="Rectangle 43"/>
          <p:cNvSpPr/>
          <p:nvPr/>
        </p:nvSpPr>
        <p:spPr>
          <a:xfrm>
            <a:off x="457200" y="6647688"/>
            <a:ext cx="11247120" cy="18288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6647688"/>
            <a:ext cx="1143000" cy="182880"/>
          </a:xfrm>
          <a:prstGeom prst="rect">
            <a:avLst/>
          </a:prstGeom>
          <a:noFill/>
        </p:spPr>
        <p:txBody>
          <a:bodyPr wrap="square">
            <a:spAutoFit/>
          </a:bodyPr>
          <a:lstStyle/>
          <a:p>
            <a:pPr algn="l"/>
            <a:r>
              <a:rPr sz="800" b="1">
                <a:solidFill>
                  <a:srgbClr val="FBBF24"/>
                </a:solidFill>
              </a:rPr>
              <a:t>  Copilot</a:t>
            </a:r>
          </a:p>
        </p:txBody>
      </p:sp>
      <p:sp>
        <p:nvSpPr>
          <p:cNvPr id="46" name="TextBox 45"/>
          <p:cNvSpPr txBox="1"/>
          <p:nvPr/>
        </p:nvSpPr>
        <p:spPr>
          <a:xfrm>
            <a:off x="1691640" y="6647688"/>
            <a:ext cx="4297680" cy="182880"/>
          </a:xfrm>
          <a:prstGeom prst="rect">
            <a:avLst/>
          </a:prstGeom>
          <a:noFill/>
        </p:spPr>
        <p:txBody>
          <a:bodyPr wrap="square">
            <a:spAutoFit/>
          </a:bodyPr>
          <a:lstStyle/>
          <a:p>
            <a:pPr algn="l"/>
            <a:r>
              <a:rPr sz="800" b="0">
                <a:solidFill>
                  <a:srgbClr val="FFFFFF"/>
                </a:solidFill>
              </a:rPr>
              <a:t>  Architecture refinement</a:t>
            </a:r>
          </a:p>
        </p:txBody>
      </p:sp>
      <p:sp>
        <p:nvSpPr>
          <p:cNvPr id="47" name="TextBox 46"/>
          <p:cNvSpPr txBox="1"/>
          <p:nvPr/>
        </p:nvSpPr>
        <p:spPr>
          <a:xfrm>
            <a:off x="6035040" y="6647688"/>
            <a:ext cx="5486400" cy="182880"/>
          </a:xfrm>
          <a:prstGeom prst="rect">
            <a:avLst/>
          </a:prstGeom>
          <a:noFill/>
        </p:spPr>
        <p:txBody>
          <a:bodyPr wrap="square">
            <a:spAutoFit/>
          </a:bodyPr>
          <a:lstStyle/>
          <a:p>
            <a:pPr algn="l"/>
            <a:r>
              <a:rPr sz="800" b="0">
                <a:solidFill>
                  <a:srgbClr val="94A3B8"/>
                </a:solidFill>
              </a:rPr>
              <a:t>  JWT→sessions debate; median vs mean; REST vs GraphQL</a:t>
            </a:r>
          </a:p>
        </p:txBody>
      </p:sp>
      <p:sp>
        <p:nvSpPr>
          <p:cNvPr id="48" name="Rectangle 47"/>
          <p:cNvSpPr/>
          <p:nvPr/>
        </p:nvSpPr>
        <p:spPr>
          <a:xfrm>
            <a:off x="457200" y="6848856"/>
            <a:ext cx="11247120" cy="1828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920" y="6848856"/>
            <a:ext cx="1143000" cy="182880"/>
          </a:xfrm>
          <a:prstGeom prst="rect">
            <a:avLst/>
          </a:prstGeom>
          <a:noFill/>
        </p:spPr>
        <p:txBody>
          <a:bodyPr wrap="square">
            <a:spAutoFit/>
          </a:bodyPr>
          <a:lstStyle/>
          <a:p>
            <a:pPr algn="l"/>
            <a:r>
              <a:rPr sz="800" b="1">
                <a:solidFill>
                  <a:srgbClr val="FBBF24"/>
                </a:solidFill>
              </a:rPr>
              <a:t>  Copilot</a:t>
            </a:r>
          </a:p>
        </p:txBody>
      </p:sp>
      <p:sp>
        <p:nvSpPr>
          <p:cNvPr id="50" name="TextBox 49"/>
          <p:cNvSpPr txBox="1"/>
          <p:nvPr/>
        </p:nvSpPr>
        <p:spPr>
          <a:xfrm>
            <a:off x="1691640" y="6848856"/>
            <a:ext cx="4297680" cy="182880"/>
          </a:xfrm>
          <a:prstGeom prst="rect">
            <a:avLst/>
          </a:prstGeom>
          <a:noFill/>
        </p:spPr>
        <p:txBody>
          <a:bodyPr wrap="square">
            <a:spAutoFit/>
          </a:bodyPr>
          <a:lstStyle/>
          <a:p>
            <a:pPr algn="l"/>
            <a:r>
              <a:rPr sz="800" b="0">
                <a:solidFill>
                  <a:srgbClr val="FFFFFF"/>
                </a:solidFill>
              </a:rPr>
              <a:t>  Deployment debugging</a:t>
            </a:r>
          </a:p>
        </p:txBody>
      </p:sp>
      <p:sp>
        <p:nvSpPr>
          <p:cNvPr id="51" name="TextBox 50"/>
          <p:cNvSpPr txBox="1"/>
          <p:nvPr/>
        </p:nvSpPr>
        <p:spPr>
          <a:xfrm>
            <a:off x="6035040" y="6848856"/>
            <a:ext cx="5486400" cy="182880"/>
          </a:xfrm>
          <a:prstGeom prst="rect">
            <a:avLst/>
          </a:prstGeom>
          <a:noFill/>
        </p:spPr>
        <p:txBody>
          <a:bodyPr wrap="square">
            <a:spAutoFit/>
          </a:bodyPr>
          <a:lstStyle/>
          <a:p>
            <a:pPr algn="l"/>
            <a:r>
              <a:rPr sz="800" b="0">
                <a:solidFill>
                  <a:srgbClr val="94A3B8"/>
                </a:solidFill>
              </a:rPr>
              <a:t>  CORS regex fix; Railway config; DB URL confusion</a:t>
            </a:r>
          </a:p>
        </p:txBody>
      </p:sp>
      <p:sp>
        <p:nvSpPr>
          <p:cNvPr id="52" name="Rectangle 51"/>
          <p:cNvSpPr/>
          <p:nvPr/>
        </p:nvSpPr>
        <p:spPr>
          <a:xfrm>
            <a:off x="457200" y="7050024"/>
            <a:ext cx="11247120" cy="18288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2920" y="7050024"/>
            <a:ext cx="1143000" cy="182880"/>
          </a:xfrm>
          <a:prstGeom prst="rect">
            <a:avLst/>
          </a:prstGeom>
          <a:noFill/>
        </p:spPr>
        <p:txBody>
          <a:bodyPr wrap="square">
            <a:spAutoFit/>
          </a:bodyPr>
          <a:lstStyle/>
          <a:p>
            <a:pPr algn="l"/>
            <a:r>
              <a:rPr sz="800" b="1">
                <a:solidFill>
                  <a:srgbClr val="FBBF24"/>
                </a:solidFill>
              </a:rPr>
              <a:t>  Copilot</a:t>
            </a:r>
          </a:p>
        </p:txBody>
      </p:sp>
      <p:sp>
        <p:nvSpPr>
          <p:cNvPr id="54" name="TextBox 53"/>
          <p:cNvSpPr txBox="1"/>
          <p:nvPr/>
        </p:nvSpPr>
        <p:spPr>
          <a:xfrm>
            <a:off x="1691640" y="7050024"/>
            <a:ext cx="4297680" cy="182880"/>
          </a:xfrm>
          <a:prstGeom prst="rect">
            <a:avLst/>
          </a:prstGeom>
          <a:noFill/>
        </p:spPr>
        <p:txBody>
          <a:bodyPr wrap="square">
            <a:spAutoFit/>
          </a:bodyPr>
          <a:lstStyle/>
          <a:p>
            <a:pPr algn="l"/>
            <a:r>
              <a:rPr sz="800" b="0">
                <a:solidFill>
                  <a:srgbClr val="FFFFFF"/>
                </a:solidFill>
              </a:rPr>
              <a:t>  Test review + report/slides</a:t>
            </a:r>
          </a:p>
        </p:txBody>
      </p:sp>
      <p:sp>
        <p:nvSpPr>
          <p:cNvPr id="55" name="TextBox 54"/>
          <p:cNvSpPr txBox="1"/>
          <p:nvPr/>
        </p:nvSpPr>
        <p:spPr>
          <a:xfrm>
            <a:off x="6035040" y="7050024"/>
            <a:ext cx="5486400" cy="182880"/>
          </a:xfrm>
          <a:prstGeom prst="rect">
            <a:avLst/>
          </a:prstGeom>
          <a:noFill/>
        </p:spPr>
        <p:txBody>
          <a:bodyPr wrap="square">
            <a:spAutoFit/>
          </a:bodyPr>
          <a:lstStyle/>
          <a:p>
            <a:pPr algn="l"/>
            <a:r>
              <a:rPr sz="800" b="0">
                <a:solidFill>
                  <a:srgbClr val="94A3B8"/>
                </a:solidFill>
              </a:rPr>
              <a:t>  Identified edge cases; structured documentation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548640"/>
          </a:xfrm>
          <a:prstGeom prst="rect">
            <a:avLst/>
          </a:prstGeom>
          <a:noFill/>
        </p:spPr>
        <p:txBody>
          <a:bodyPr wrap="square">
            <a:spAutoFit/>
          </a:bodyPr>
          <a:lstStyle/>
          <a:p>
            <a:pPr algn="l"/>
            <a:r>
              <a:rPr sz="3200" b="1">
                <a:solidFill>
                  <a:srgbClr val="FFFFFF"/>
                </a:solidFill>
              </a:rPr>
              <a:t>Version Control Practices</a:t>
            </a:r>
          </a:p>
        </p:txBody>
      </p:sp>
      <p:sp>
        <p:nvSpPr>
          <p:cNvPr id="4" name="Rectangle 3"/>
          <p:cNvSpPr/>
          <p:nvPr/>
        </p:nvSpPr>
        <p:spPr>
          <a:xfrm>
            <a:off x="365760" y="868680"/>
            <a:ext cx="1145743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05840"/>
            <a:ext cx="5486400" cy="411480"/>
          </a:xfrm>
          <a:prstGeom prst="rect">
            <a:avLst/>
          </a:prstGeom>
          <a:noFill/>
        </p:spPr>
        <p:txBody>
          <a:bodyPr wrap="square">
            <a:spAutoFit/>
          </a:bodyPr>
          <a:lstStyle/>
          <a:p>
            <a:pPr algn="l"/>
            <a:r>
              <a:rPr sz="1800" b="1">
                <a:solidFill>
                  <a:srgbClr val="38BDF8"/>
                </a:solidFill>
              </a:rPr>
              <a:t>GitHub Repository</a:t>
            </a:r>
          </a:p>
        </p:txBody>
      </p:sp>
      <p:sp>
        <p:nvSpPr>
          <p:cNvPr id="6" name="Rectangle 5"/>
          <p:cNvSpPr/>
          <p:nvPr/>
        </p:nvSpPr>
        <p:spPr>
          <a:xfrm>
            <a:off x="457200" y="1463040"/>
            <a:ext cx="5486400" cy="411480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554480"/>
            <a:ext cx="5120640" cy="384048"/>
          </a:xfrm>
          <a:prstGeom prst="rect">
            <a:avLst/>
          </a:prstGeom>
          <a:noFill/>
        </p:spPr>
        <p:txBody>
          <a:bodyPr wrap="square">
            <a:spAutoFit/>
          </a:bodyPr>
          <a:lstStyle/>
          <a:p>
            <a:pPr algn="l"/>
            <a:r>
              <a:rPr sz="1200" b="0">
                <a:solidFill>
                  <a:srgbClr val="34D399"/>
                </a:solidFill>
              </a:rPr>
              <a:t>✓  Public repository — visible commit history</a:t>
            </a:r>
          </a:p>
        </p:txBody>
      </p:sp>
      <p:sp>
        <p:nvSpPr>
          <p:cNvPr id="8" name="TextBox 7"/>
          <p:cNvSpPr txBox="1"/>
          <p:nvPr/>
        </p:nvSpPr>
        <p:spPr>
          <a:xfrm>
            <a:off x="594360" y="1965960"/>
            <a:ext cx="5120640" cy="384048"/>
          </a:xfrm>
          <a:prstGeom prst="rect">
            <a:avLst/>
          </a:prstGeom>
          <a:noFill/>
        </p:spPr>
        <p:txBody>
          <a:bodyPr wrap="square">
            <a:spAutoFit/>
          </a:bodyPr>
          <a:lstStyle/>
          <a:p>
            <a:pPr algn="l"/>
            <a:r>
              <a:rPr sz="1200" b="0">
                <a:solidFill>
                  <a:srgbClr val="34D399"/>
                </a:solidFill>
              </a:rPr>
              <a:t>✓  Consistent commits throughout development</a:t>
            </a:r>
          </a:p>
        </p:txBody>
      </p:sp>
      <p:sp>
        <p:nvSpPr>
          <p:cNvPr id="9" name="TextBox 8"/>
          <p:cNvSpPr txBox="1"/>
          <p:nvPr/>
        </p:nvSpPr>
        <p:spPr>
          <a:xfrm>
            <a:off x="594360" y="2377440"/>
            <a:ext cx="5120640" cy="384048"/>
          </a:xfrm>
          <a:prstGeom prst="rect">
            <a:avLst/>
          </a:prstGeom>
          <a:noFill/>
        </p:spPr>
        <p:txBody>
          <a:bodyPr wrap="square">
            <a:spAutoFit/>
          </a:bodyPr>
          <a:lstStyle/>
          <a:p>
            <a:pPr algn="l"/>
            <a:r>
              <a:rPr sz="1200" b="0">
                <a:solidFill>
                  <a:srgbClr val="34D399"/>
                </a:solidFill>
              </a:rPr>
              <a:t>✓  README.md with full setup instructions</a:t>
            </a:r>
          </a:p>
        </p:txBody>
      </p:sp>
      <p:sp>
        <p:nvSpPr>
          <p:cNvPr id="10" name="TextBox 9"/>
          <p:cNvSpPr txBox="1"/>
          <p:nvPr/>
        </p:nvSpPr>
        <p:spPr>
          <a:xfrm>
            <a:off x="594360" y="2788920"/>
            <a:ext cx="5120640" cy="384048"/>
          </a:xfrm>
          <a:prstGeom prst="rect">
            <a:avLst/>
          </a:prstGeom>
          <a:noFill/>
        </p:spPr>
        <p:txBody>
          <a:bodyPr wrap="square">
            <a:spAutoFit/>
          </a:bodyPr>
          <a:lstStyle/>
          <a:p>
            <a:pPr algn="l"/>
            <a:r>
              <a:rPr sz="1200" b="0">
                <a:solidFill>
                  <a:srgbClr val="34D399"/>
                </a:solidFill>
              </a:rPr>
              <a:t>✓  .gitignore excludes node_modules, .env files</a:t>
            </a:r>
          </a:p>
        </p:txBody>
      </p:sp>
      <p:sp>
        <p:nvSpPr>
          <p:cNvPr id="11" name="TextBox 10"/>
          <p:cNvSpPr txBox="1"/>
          <p:nvPr/>
        </p:nvSpPr>
        <p:spPr>
          <a:xfrm>
            <a:off x="594360" y="3200400"/>
            <a:ext cx="5120640" cy="384048"/>
          </a:xfrm>
          <a:prstGeom prst="rect">
            <a:avLst/>
          </a:prstGeom>
          <a:noFill/>
        </p:spPr>
        <p:txBody>
          <a:bodyPr wrap="square">
            <a:spAutoFit/>
          </a:bodyPr>
          <a:lstStyle/>
          <a:p>
            <a:pPr algn="l"/>
            <a:r>
              <a:rPr sz="1200" b="0">
                <a:solidFill>
                  <a:srgbClr val="34D399"/>
                </a:solidFill>
              </a:rPr>
              <a:t>✓  Separate backend/ and frontend/ workspaces</a:t>
            </a:r>
          </a:p>
        </p:txBody>
      </p:sp>
      <p:sp>
        <p:nvSpPr>
          <p:cNvPr id="12" name="TextBox 11"/>
          <p:cNvSpPr txBox="1"/>
          <p:nvPr/>
        </p:nvSpPr>
        <p:spPr>
          <a:xfrm>
            <a:off x="594360" y="3611880"/>
            <a:ext cx="5120640" cy="384048"/>
          </a:xfrm>
          <a:prstGeom prst="rect">
            <a:avLst/>
          </a:prstGeom>
          <a:noFill/>
        </p:spPr>
        <p:txBody>
          <a:bodyPr wrap="square">
            <a:spAutoFit/>
          </a:bodyPr>
          <a:lstStyle/>
          <a:p>
            <a:pPr algn="l"/>
            <a:r>
              <a:rPr sz="1200" b="0">
                <a:solidFill>
                  <a:srgbClr val="34D399"/>
                </a:solidFill>
              </a:rPr>
              <a:t>✓  Prisma migrations tracked in version control</a:t>
            </a:r>
          </a:p>
        </p:txBody>
      </p:sp>
      <p:sp>
        <p:nvSpPr>
          <p:cNvPr id="13" name="TextBox 12"/>
          <p:cNvSpPr txBox="1"/>
          <p:nvPr/>
        </p:nvSpPr>
        <p:spPr>
          <a:xfrm>
            <a:off x="594360" y="4023360"/>
            <a:ext cx="5120640" cy="384048"/>
          </a:xfrm>
          <a:prstGeom prst="rect">
            <a:avLst/>
          </a:prstGeom>
          <a:noFill/>
        </p:spPr>
        <p:txBody>
          <a:bodyPr wrap="square">
            <a:spAutoFit/>
          </a:bodyPr>
          <a:lstStyle/>
          <a:p>
            <a:pPr algn="l"/>
            <a:r>
              <a:rPr sz="1200" b="0">
                <a:solidFill>
                  <a:srgbClr val="34D399"/>
                </a:solidFill>
              </a:rPr>
              <a:t>✓  No secrets committed — all via env vars</a:t>
            </a:r>
          </a:p>
        </p:txBody>
      </p:sp>
      <p:sp>
        <p:nvSpPr>
          <p:cNvPr id="14" name="TextBox 13"/>
          <p:cNvSpPr txBox="1"/>
          <p:nvPr/>
        </p:nvSpPr>
        <p:spPr>
          <a:xfrm>
            <a:off x="594360" y="4434840"/>
            <a:ext cx="5120640" cy="384048"/>
          </a:xfrm>
          <a:prstGeom prst="rect">
            <a:avLst/>
          </a:prstGeom>
          <a:noFill/>
        </p:spPr>
        <p:txBody>
          <a:bodyPr wrap="square">
            <a:spAutoFit/>
          </a:bodyPr>
          <a:lstStyle/>
          <a:p>
            <a:pPr algn="l"/>
            <a:r>
              <a:rPr sz="1200" b="0">
                <a:solidFill>
                  <a:srgbClr val="34D399"/>
                </a:solidFill>
              </a:rPr>
              <a:t>✓  Data files excluded (large CSVs not in repo)</a:t>
            </a:r>
          </a:p>
        </p:txBody>
      </p:sp>
      <p:sp>
        <p:nvSpPr>
          <p:cNvPr id="15" name="TextBox 14"/>
          <p:cNvSpPr txBox="1"/>
          <p:nvPr/>
        </p:nvSpPr>
        <p:spPr>
          <a:xfrm>
            <a:off x="594360" y="4846320"/>
            <a:ext cx="5120640" cy="384048"/>
          </a:xfrm>
          <a:prstGeom prst="rect">
            <a:avLst/>
          </a:prstGeom>
          <a:noFill/>
        </p:spPr>
        <p:txBody>
          <a:bodyPr wrap="square">
            <a:spAutoFit/>
          </a:bodyPr>
          <a:lstStyle/>
          <a:p>
            <a:pPr algn="l"/>
            <a:r>
              <a:rPr sz="1200" b="0">
                <a:solidFill>
                  <a:srgbClr val="34D399"/>
                </a:solidFill>
              </a:rPr>
              <a:t>✓  Code corresponds to presented version</a:t>
            </a:r>
          </a:p>
        </p:txBody>
      </p:sp>
      <p:sp>
        <p:nvSpPr>
          <p:cNvPr id="16" name="TextBox 15"/>
          <p:cNvSpPr txBox="1"/>
          <p:nvPr/>
        </p:nvSpPr>
        <p:spPr>
          <a:xfrm>
            <a:off x="6309360" y="1005840"/>
            <a:ext cx="5394960" cy="411480"/>
          </a:xfrm>
          <a:prstGeom prst="rect">
            <a:avLst/>
          </a:prstGeom>
          <a:noFill/>
        </p:spPr>
        <p:txBody>
          <a:bodyPr wrap="square">
            <a:spAutoFit/>
          </a:bodyPr>
          <a:lstStyle/>
          <a:p>
            <a:pPr algn="l"/>
            <a:r>
              <a:rPr sz="1800" b="1">
                <a:solidFill>
                  <a:srgbClr val="38BDF8"/>
                </a:solidFill>
              </a:rPr>
              <a:t>Commit History Highlights</a:t>
            </a:r>
          </a:p>
        </p:txBody>
      </p:sp>
      <p:sp>
        <p:nvSpPr>
          <p:cNvPr id="17" name="Rectangle 16"/>
          <p:cNvSpPr/>
          <p:nvPr/>
        </p:nvSpPr>
        <p:spPr>
          <a:xfrm>
            <a:off x="6309360" y="1463040"/>
            <a:ext cx="5394960" cy="411480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46520" y="1554480"/>
            <a:ext cx="640080" cy="2743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1554480"/>
            <a:ext cx="640080" cy="274320"/>
          </a:xfrm>
          <a:prstGeom prst="rect">
            <a:avLst/>
          </a:prstGeom>
          <a:noFill/>
        </p:spPr>
        <p:txBody>
          <a:bodyPr wrap="square">
            <a:spAutoFit/>
          </a:bodyPr>
          <a:lstStyle/>
          <a:p>
            <a:pPr algn="ctr"/>
            <a:r>
              <a:rPr sz="900" b="1">
                <a:solidFill>
                  <a:srgbClr val="0F172A"/>
                </a:solidFill>
              </a:rPr>
              <a:t>init</a:t>
            </a:r>
          </a:p>
        </p:txBody>
      </p:sp>
      <p:sp>
        <p:nvSpPr>
          <p:cNvPr id="20" name="TextBox 19"/>
          <p:cNvSpPr txBox="1"/>
          <p:nvPr/>
        </p:nvSpPr>
        <p:spPr>
          <a:xfrm>
            <a:off x="7132320" y="1554480"/>
            <a:ext cx="4389120" cy="292608"/>
          </a:xfrm>
          <a:prstGeom prst="rect">
            <a:avLst/>
          </a:prstGeom>
          <a:noFill/>
        </p:spPr>
        <p:txBody>
          <a:bodyPr wrap="square">
            <a:spAutoFit/>
          </a:bodyPr>
          <a:lstStyle/>
          <a:p>
            <a:pPr algn="l"/>
            <a:r>
              <a:rPr sz="1000" b="0">
                <a:solidFill>
                  <a:srgbClr val="FFFFFF"/>
                </a:solidFill>
              </a:rPr>
              <a:t>Initial project structure, Express setup</a:t>
            </a:r>
          </a:p>
        </p:txBody>
      </p:sp>
      <p:sp>
        <p:nvSpPr>
          <p:cNvPr id="21" name="Rectangle 20"/>
          <p:cNvSpPr/>
          <p:nvPr/>
        </p:nvSpPr>
        <p:spPr>
          <a:xfrm>
            <a:off x="6446520" y="1892807"/>
            <a:ext cx="640080" cy="2743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1892807"/>
            <a:ext cx="640080" cy="274320"/>
          </a:xfrm>
          <a:prstGeom prst="rect">
            <a:avLst/>
          </a:prstGeom>
          <a:noFill/>
        </p:spPr>
        <p:txBody>
          <a:bodyPr wrap="square">
            <a:spAutoFit/>
          </a:bodyPr>
          <a:lstStyle/>
          <a:p>
            <a:pPr algn="ctr"/>
            <a:r>
              <a:rPr sz="900" b="1">
                <a:solidFill>
                  <a:srgbClr val="0F172A"/>
                </a:solidFill>
              </a:rPr>
              <a:t>feat</a:t>
            </a:r>
          </a:p>
        </p:txBody>
      </p:sp>
      <p:sp>
        <p:nvSpPr>
          <p:cNvPr id="23" name="TextBox 22"/>
          <p:cNvSpPr txBox="1"/>
          <p:nvPr/>
        </p:nvSpPr>
        <p:spPr>
          <a:xfrm>
            <a:off x="7132320" y="1892807"/>
            <a:ext cx="4389120" cy="292608"/>
          </a:xfrm>
          <a:prstGeom prst="rect">
            <a:avLst/>
          </a:prstGeom>
          <a:noFill/>
        </p:spPr>
        <p:txBody>
          <a:bodyPr wrap="square">
            <a:spAutoFit/>
          </a:bodyPr>
          <a:lstStyle/>
          <a:p>
            <a:pPr algn="l"/>
            <a:r>
              <a:rPr sz="1000" b="0">
                <a:solidFill>
                  <a:srgbClr val="FFFFFF"/>
                </a:solidFill>
              </a:rPr>
              <a:t>Prisma schema + migration for property_sales</a:t>
            </a:r>
          </a:p>
        </p:txBody>
      </p:sp>
      <p:sp>
        <p:nvSpPr>
          <p:cNvPr id="24" name="Rectangle 23"/>
          <p:cNvSpPr/>
          <p:nvPr/>
        </p:nvSpPr>
        <p:spPr>
          <a:xfrm>
            <a:off x="6446520" y="2231136"/>
            <a:ext cx="640080" cy="2743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2231136"/>
            <a:ext cx="640080" cy="274320"/>
          </a:xfrm>
          <a:prstGeom prst="rect">
            <a:avLst/>
          </a:prstGeom>
          <a:noFill/>
        </p:spPr>
        <p:txBody>
          <a:bodyPr wrap="square">
            <a:spAutoFit/>
          </a:bodyPr>
          <a:lstStyle/>
          <a:p>
            <a:pPr algn="ctr"/>
            <a:r>
              <a:rPr sz="900" b="1">
                <a:solidFill>
                  <a:srgbClr val="0F172A"/>
                </a:solidFill>
              </a:rPr>
              <a:t>feat</a:t>
            </a:r>
          </a:p>
        </p:txBody>
      </p:sp>
      <p:sp>
        <p:nvSpPr>
          <p:cNvPr id="26" name="TextBox 25"/>
          <p:cNvSpPr txBox="1"/>
          <p:nvPr/>
        </p:nvSpPr>
        <p:spPr>
          <a:xfrm>
            <a:off x="7132320" y="2231136"/>
            <a:ext cx="4389120" cy="292608"/>
          </a:xfrm>
          <a:prstGeom prst="rect">
            <a:avLst/>
          </a:prstGeom>
          <a:noFill/>
        </p:spPr>
        <p:txBody>
          <a:bodyPr wrap="square">
            <a:spAutoFit/>
          </a:bodyPr>
          <a:lstStyle/>
          <a:p>
            <a:pPr algn="l"/>
            <a:r>
              <a:rPr sz="1000" b="0">
                <a:solidFill>
                  <a:srgbClr val="FFFFFF"/>
                </a:solidFill>
              </a:rPr>
              <a:t>Auth service: bcrypt + crypto session tokens</a:t>
            </a:r>
          </a:p>
        </p:txBody>
      </p:sp>
      <p:sp>
        <p:nvSpPr>
          <p:cNvPr id="27" name="Rectangle 26"/>
          <p:cNvSpPr/>
          <p:nvPr/>
        </p:nvSpPr>
        <p:spPr>
          <a:xfrm>
            <a:off x="6446520" y="2569463"/>
            <a:ext cx="640080" cy="2743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2569463"/>
            <a:ext cx="640080" cy="274320"/>
          </a:xfrm>
          <a:prstGeom prst="rect">
            <a:avLst/>
          </a:prstGeom>
          <a:noFill/>
        </p:spPr>
        <p:txBody>
          <a:bodyPr wrap="square">
            <a:spAutoFit/>
          </a:bodyPr>
          <a:lstStyle/>
          <a:p>
            <a:pPr algn="ctr"/>
            <a:r>
              <a:rPr sz="900" b="1">
                <a:solidFill>
                  <a:srgbClr val="0F172A"/>
                </a:solidFill>
              </a:rPr>
              <a:t>feat</a:t>
            </a:r>
          </a:p>
        </p:txBody>
      </p:sp>
      <p:sp>
        <p:nvSpPr>
          <p:cNvPr id="29" name="TextBox 28"/>
          <p:cNvSpPr txBox="1"/>
          <p:nvPr/>
        </p:nvSpPr>
        <p:spPr>
          <a:xfrm>
            <a:off x="7132320" y="2569463"/>
            <a:ext cx="4389120" cy="292608"/>
          </a:xfrm>
          <a:prstGeom prst="rect">
            <a:avLst/>
          </a:prstGeom>
          <a:noFill/>
        </p:spPr>
        <p:txBody>
          <a:bodyPr wrap="square">
            <a:spAutoFit/>
          </a:bodyPr>
          <a:lstStyle/>
          <a:p>
            <a:pPr algn="l"/>
            <a:r>
              <a:rPr sz="1000" b="0">
                <a:solidFill>
                  <a:srgbClr val="FFFFFF"/>
                </a:solidFill>
              </a:rPr>
              <a:t>Property trends + heatmap endpoints</a:t>
            </a:r>
          </a:p>
        </p:txBody>
      </p:sp>
      <p:sp>
        <p:nvSpPr>
          <p:cNvPr id="30" name="Rectangle 29"/>
          <p:cNvSpPr/>
          <p:nvPr/>
        </p:nvSpPr>
        <p:spPr>
          <a:xfrm>
            <a:off x="6446520" y="2907791"/>
            <a:ext cx="640080" cy="2743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46520" y="2907791"/>
            <a:ext cx="640080" cy="274320"/>
          </a:xfrm>
          <a:prstGeom prst="rect">
            <a:avLst/>
          </a:prstGeom>
          <a:noFill/>
        </p:spPr>
        <p:txBody>
          <a:bodyPr wrap="square">
            <a:spAutoFit/>
          </a:bodyPr>
          <a:lstStyle/>
          <a:p>
            <a:pPr algn="ctr"/>
            <a:r>
              <a:rPr sz="900" b="1">
                <a:solidFill>
                  <a:srgbClr val="0F172A"/>
                </a:solidFill>
              </a:rPr>
              <a:t>feat</a:t>
            </a:r>
          </a:p>
        </p:txBody>
      </p:sp>
      <p:sp>
        <p:nvSpPr>
          <p:cNvPr id="32" name="TextBox 31"/>
          <p:cNvSpPr txBox="1"/>
          <p:nvPr/>
        </p:nvSpPr>
        <p:spPr>
          <a:xfrm>
            <a:off x="7132320" y="2907791"/>
            <a:ext cx="4389120" cy="292608"/>
          </a:xfrm>
          <a:prstGeom prst="rect">
            <a:avLst/>
          </a:prstGeom>
          <a:noFill/>
        </p:spPr>
        <p:txBody>
          <a:bodyPr wrap="square">
            <a:spAutoFit/>
          </a:bodyPr>
          <a:lstStyle/>
          <a:p>
            <a:pPr algn="l"/>
            <a:r>
              <a:rPr sz="1000" b="0">
                <a:solidFill>
                  <a:srgbClr val="FFFFFF"/>
                </a:solidFill>
              </a:rPr>
              <a:t>Market insights: 9 parallel aggregations</a:t>
            </a:r>
          </a:p>
        </p:txBody>
      </p:sp>
      <p:sp>
        <p:nvSpPr>
          <p:cNvPr id="33" name="Rectangle 32"/>
          <p:cNvSpPr/>
          <p:nvPr/>
        </p:nvSpPr>
        <p:spPr>
          <a:xfrm>
            <a:off x="6446520" y="3246120"/>
            <a:ext cx="640080" cy="2743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3246120"/>
            <a:ext cx="640080" cy="274320"/>
          </a:xfrm>
          <a:prstGeom prst="rect">
            <a:avLst/>
          </a:prstGeom>
          <a:noFill/>
        </p:spPr>
        <p:txBody>
          <a:bodyPr wrap="square">
            <a:spAutoFit/>
          </a:bodyPr>
          <a:lstStyle/>
          <a:p>
            <a:pPr algn="ctr"/>
            <a:r>
              <a:rPr sz="900" b="1">
                <a:solidFill>
                  <a:srgbClr val="0F172A"/>
                </a:solidFill>
              </a:rPr>
              <a:t>feat</a:t>
            </a:r>
          </a:p>
        </p:txBody>
      </p:sp>
      <p:sp>
        <p:nvSpPr>
          <p:cNvPr id="35" name="TextBox 34"/>
          <p:cNvSpPr txBox="1"/>
          <p:nvPr/>
        </p:nvSpPr>
        <p:spPr>
          <a:xfrm>
            <a:off x="7132320" y="3246120"/>
            <a:ext cx="4389120" cy="292608"/>
          </a:xfrm>
          <a:prstGeom prst="rect">
            <a:avLst/>
          </a:prstGeom>
          <a:noFill/>
        </p:spPr>
        <p:txBody>
          <a:bodyPr wrap="square">
            <a:spAutoFit/>
          </a:bodyPr>
          <a:lstStyle/>
          <a:p>
            <a:pPr algn="l"/>
            <a:r>
              <a:rPr sz="1000" b="0">
                <a:solidFill>
                  <a:srgbClr val="FFFFFF"/>
                </a:solidFill>
              </a:rPr>
              <a:t>Saved listings CRUD with auth guard</a:t>
            </a:r>
          </a:p>
        </p:txBody>
      </p:sp>
      <p:sp>
        <p:nvSpPr>
          <p:cNvPr id="36" name="Rectangle 35"/>
          <p:cNvSpPr/>
          <p:nvPr/>
        </p:nvSpPr>
        <p:spPr>
          <a:xfrm>
            <a:off x="6446520" y="3584448"/>
            <a:ext cx="640080" cy="2743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46520" y="3584448"/>
            <a:ext cx="640080" cy="274320"/>
          </a:xfrm>
          <a:prstGeom prst="rect">
            <a:avLst/>
          </a:prstGeom>
          <a:noFill/>
        </p:spPr>
        <p:txBody>
          <a:bodyPr wrap="square">
            <a:spAutoFit/>
          </a:bodyPr>
          <a:lstStyle/>
          <a:p>
            <a:pPr algn="ctr"/>
            <a:r>
              <a:rPr sz="900" b="1">
                <a:solidFill>
                  <a:srgbClr val="0F172A"/>
                </a:solidFill>
              </a:rPr>
              <a:t>feat</a:t>
            </a:r>
          </a:p>
        </p:txBody>
      </p:sp>
      <p:sp>
        <p:nvSpPr>
          <p:cNvPr id="38" name="TextBox 37"/>
          <p:cNvSpPr txBox="1"/>
          <p:nvPr/>
        </p:nvSpPr>
        <p:spPr>
          <a:xfrm>
            <a:off x="7132320" y="3584448"/>
            <a:ext cx="4389120" cy="292608"/>
          </a:xfrm>
          <a:prstGeom prst="rect">
            <a:avLst/>
          </a:prstGeom>
          <a:noFill/>
        </p:spPr>
        <p:txBody>
          <a:bodyPr wrap="square">
            <a:spAutoFit/>
          </a:bodyPr>
          <a:lstStyle/>
          <a:p>
            <a:pPr algn="l"/>
            <a:r>
              <a:rPr sz="1000" b="0">
                <a:solidFill>
                  <a:srgbClr val="FFFFFF"/>
                </a:solidFill>
              </a:rPr>
              <a:t>Vue 3 frontend: router, stores, views</a:t>
            </a:r>
          </a:p>
        </p:txBody>
      </p:sp>
      <p:sp>
        <p:nvSpPr>
          <p:cNvPr id="39" name="Rectangle 38"/>
          <p:cNvSpPr/>
          <p:nvPr/>
        </p:nvSpPr>
        <p:spPr>
          <a:xfrm>
            <a:off x="6446520" y="3922776"/>
            <a:ext cx="640080" cy="2743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46520" y="3922776"/>
            <a:ext cx="640080" cy="274320"/>
          </a:xfrm>
          <a:prstGeom prst="rect">
            <a:avLst/>
          </a:prstGeom>
          <a:noFill/>
        </p:spPr>
        <p:txBody>
          <a:bodyPr wrap="square">
            <a:spAutoFit/>
          </a:bodyPr>
          <a:lstStyle/>
          <a:p>
            <a:pPr algn="ctr"/>
            <a:r>
              <a:rPr sz="900" b="1">
                <a:solidFill>
                  <a:srgbClr val="0F172A"/>
                </a:solidFill>
              </a:rPr>
              <a:t>feat</a:t>
            </a:r>
          </a:p>
        </p:txBody>
      </p:sp>
      <p:sp>
        <p:nvSpPr>
          <p:cNvPr id="41" name="TextBox 40"/>
          <p:cNvSpPr txBox="1"/>
          <p:nvPr/>
        </p:nvSpPr>
        <p:spPr>
          <a:xfrm>
            <a:off x="7132320" y="3922776"/>
            <a:ext cx="4389120" cy="292608"/>
          </a:xfrm>
          <a:prstGeom prst="rect">
            <a:avLst/>
          </a:prstGeom>
          <a:noFill/>
        </p:spPr>
        <p:txBody>
          <a:bodyPr wrap="square">
            <a:spAutoFit/>
          </a:bodyPr>
          <a:lstStyle/>
          <a:p>
            <a:pPr algn="l"/>
            <a:r>
              <a:rPr sz="1000" b="0">
                <a:solidFill>
                  <a:srgbClr val="FFFFFF"/>
                </a:solidFill>
              </a:rPr>
              <a:t>Comparison view + dataCache Pinia store</a:t>
            </a:r>
          </a:p>
        </p:txBody>
      </p:sp>
      <p:sp>
        <p:nvSpPr>
          <p:cNvPr id="42" name="Rectangle 41"/>
          <p:cNvSpPr/>
          <p:nvPr/>
        </p:nvSpPr>
        <p:spPr>
          <a:xfrm>
            <a:off x="6446520" y="4261104"/>
            <a:ext cx="640080" cy="2743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46520" y="4261104"/>
            <a:ext cx="640080" cy="274320"/>
          </a:xfrm>
          <a:prstGeom prst="rect">
            <a:avLst/>
          </a:prstGeom>
          <a:noFill/>
        </p:spPr>
        <p:txBody>
          <a:bodyPr wrap="square">
            <a:spAutoFit/>
          </a:bodyPr>
          <a:lstStyle/>
          <a:p>
            <a:pPr algn="ctr"/>
            <a:r>
              <a:rPr sz="900" b="1">
                <a:solidFill>
                  <a:srgbClr val="0F172A"/>
                </a:solidFill>
              </a:rPr>
              <a:t>test</a:t>
            </a:r>
          </a:p>
        </p:txBody>
      </p:sp>
      <p:sp>
        <p:nvSpPr>
          <p:cNvPr id="44" name="TextBox 43"/>
          <p:cNvSpPr txBox="1"/>
          <p:nvPr/>
        </p:nvSpPr>
        <p:spPr>
          <a:xfrm>
            <a:off x="7132320" y="4261104"/>
            <a:ext cx="4389120" cy="292608"/>
          </a:xfrm>
          <a:prstGeom prst="rect">
            <a:avLst/>
          </a:prstGeom>
          <a:noFill/>
        </p:spPr>
        <p:txBody>
          <a:bodyPr wrap="square">
            <a:spAutoFit/>
          </a:bodyPr>
          <a:lstStyle/>
          <a:p>
            <a:pPr algn="l"/>
            <a:r>
              <a:rPr sz="1000" b="0">
                <a:solidFill>
                  <a:srgbClr val="FFFFFF"/>
                </a:solidFill>
              </a:rPr>
              <a:t>Vitest + Supertest integration test suites</a:t>
            </a:r>
          </a:p>
        </p:txBody>
      </p:sp>
      <p:sp>
        <p:nvSpPr>
          <p:cNvPr id="45" name="Rectangle 44"/>
          <p:cNvSpPr/>
          <p:nvPr/>
        </p:nvSpPr>
        <p:spPr>
          <a:xfrm>
            <a:off x="6446520" y="4599432"/>
            <a:ext cx="640080" cy="27432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46520" y="4599432"/>
            <a:ext cx="640080" cy="274320"/>
          </a:xfrm>
          <a:prstGeom prst="rect">
            <a:avLst/>
          </a:prstGeom>
          <a:noFill/>
        </p:spPr>
        <p:txBody>
          <a:bodyPr wrap="square">
            <a:spAutoFit/>
          </a:bodyPr>
          <a:lstStyle/>
          <a:p>
            <a:pPr algn="ctr"/>
            <a:r>
              <a:rPr sz="900" b="1">
                <a:solidFill>
                  <a:srgbClr val="0F172A"/>
                </a:solidFill>
              </a:rPr>
              <a:t>docs</a:t>
            </a:r>
          </a:p>
        </p:txBody>
      </p:sp>
      <p:sp>
        <p:nvSpPr>
          <p:cNvPr id="47" name="TextBox 46"/>
          <p:cNvSpPr txBox="1"/>
          <p:nvPr/>
        </p:nvSpPr>
        <p:spPr>
          <a:xfrm>
            <a:off x="7132320" y="4599432"/>
            <a:ext cx="4389120" cy="292608"/>
          </a:xfrm>
          <a:prstGeom prst="rect">
            <a:avLst/>
          </a:prstGeom>
          <a:noFill/>
        </p:spPr>
        <p:txBody>
          <a:bodyPr wrap="square">
            <a:spAutoFit/>
          </a:bodyPr>
          <a:lstStyle/>
          <a:p>
            <a:pPr algn="l"/>
            <a:r>
              <a:rPr sz="1000" b="0">
                <a:solidFill>
                  <a:srgbClr val="FFFFFF"/>
                </a:solidFill>
              </a:rPr>
              <a:t>Swagger JSDoc on all route files</a:t>
            </a:r>
          </a:p>
        </p:txBody>
      </p:sp>
      <p:sp>
        <p:nvSpPr>
          <p:cNvPr id="48" name="Rectangle 47"/>
          <p:cNvSpPr/>
          <p:nvPr/>
        </p:nvSpPr>
        <p:spPr>
          <a:xfrm>
            <a:off x="6446520" y="4937760"/>
            <a:ext cx="640080" cy="27432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46520" y="4937760"/>
            <a:ext cx="640080" cy="274320"/>
          </a:xfrm>
          <a:prstGeom prst="rect">
            <a:avLst/>
          </a:prstGeom>
          <a:noFill/>
        </p:spPr>
        <p:txBody>
          <a:bodyPr wrap="square">
            <a:spAutoFit/>
          </a:bodyPr>
          <a:lstStyle/>
          <a:p>
            <a:pPr algn="ctr"/>
            <a:r>
              <a:rPr sz="900" b="1">
                <a:solidFill>
                  <a:srgbClr val="0F172A"/>
                </a:solidFill>
              </a:rPr>
              <a:t>deploy</a:t>
            </a:r>
          </a:p>
        </p:txBody>
      </p:sp>
      <p:sp>
        <p:nvSpPr>
          <p:cNvPr id="50" name="TextBox 49"/>
          <p:cNvSpPr txBox="1"/>
          <p:nvPr/>
        </p:nvSpPr>
        <p:spPr>
          <a:xfrm>
            <a:off x="7132320" y="4937760"/>
            <a:ext cx="4389120" cy="292608"/>
          </a:xfrm>
          <a:prstGeom prst="rect">
            <a:avLst/>
          </a:prstGeom>
          <a:noFill/>
        </p:spPr>
        <p:txBody>
          <a:bodyPr wrap="square">
            <a:spAutoFit/>
          </a:bodyPr>
          <a:lstStyle/>
          <a:p>
            <a:pPr algn="l"/>
            <a:r>
              <a:rPr sz="1000" b="0">
                <a:solidFill>
                  <a:srgbClr val="FFFFFF"/>
                </a:solidFill>
              </a:rPr>
              <a:t>Railway + Vercel production config</a:t>
            </a:r>
          </a:p>
        </p:txBody>
      </p:sp>
      <p:sp>
        <p:nvSpPr>
          <p:cNvPr id="51" name="Rectangle 50"/>
          <p:cNvSpPr/>
          <p:nvPr/>
        </p:nvSpPr>
        <p:spPr>
          <a:xfrm>
            <a:off x="457200" y="5715000"/>
            <a:ext cx="11247120" cy="54864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94360" y="5760720"/>
            <a:ext cx="10972800" cy="457200"/>
          </a:xfrm>
          <a:prstGeom prst="rect">
            <a:avLst/>
          </a:prstGeom>
          <a:noFill/>
        </p:spPr>
        <p:txBody>
          <a:bodyPr wrap="square">
            <a:spAutoFit/>
          </a:bodyPr>
          <a:lstStyle/>
          <a:p>
            <a:pPr algn="ctr"/>
            <a:r>
              <a:rPr sz="1200" b="0">
                <a:solidFill>
                  <a:srgbClr val="FBBF24"/>
                </a:solidFill>
              </a:rPr>
              <a:t>All deliverables accessible from repo: README.md links to API docs, technical report, and presentation slides.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548640"/>
          </a:xfrm>
          <a:prstGeom prst="rect">
            <a:avLst/>
          </a:prstGeom>
          <a:noFill/>
        </p:spPr>
        <p:txBody>
          <a:bodyPr wrap="square">
            <a:spAutoFit/>
          </a:bodyPr>
          <a:lstStyle/>
          <a:p>
            <a:pPr algn="l"/>
            <a:r>
              <a:rPr sz="3000" b="1">
                <a:solidFill>
                  <a:srgbClr val="FFFFFF"/>
                </a:solidFill>
              </a:rPr>
              <a:t>Challenges, Limitations &amp; Future Work</a:t>
            </a:r>
          </a:p>
        </p:txBody>
      </p:sp>
      <p:sp>
        <p:nvSpPr>
          <p:cNvPr id="4" name="Rectangle 3"/>
          <p:cNvSpPr/>
          <p:nvPr/>
        </p:nvSpPr>
        <p:spPr>
          <a:xfrm>
            <a:off x="365760" y="868680"/>
            <a:ext cx="1145743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05840"/>
            <a:ext cx="5486400" cy="411480"/>
          </a:xfrm>
          <a:prstGeom prst="rect">
            <a:avLst/>
          </a:prstGeom>
          <a:noFill/>
        </p:spPr>
        <p:txBody>
          <a:bodyPr wrap="square">
            <a:spAutoFit/>
          </a:bodyPr>
          <a:lstStyle/>
          <a:p>
            <a:pPr algn="l"/>
            <a:r>
              <a:rPr sz="1800" b="1">
                <a:solidFill>
                  <a:srgbClr val="F87171"/>
                </a:solidFill>
              </a:rPr>
              <a:t>Challenges Overcome</a:t>
            </a:r>
          </a:p>
        </p:txBody>
      </p:sp>
      <p:sp>
        <p:nvSpPr>
          <p:cNvPr id="6" name="Rectangle 5"/>
          <p:cNvSpPr/>
          <p:nvPr/>
        </p:nvSpPr>
        <p:spPr>
          <a:xfrm>
            <a:off x="457200" y="1508760"/>
            <a:ext cx="2560320" cy="123444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81912"/>
            <a:ext cx="2377440" cy="320040"/>
          </a:xfrm>
          <a:prstGeom prst="rect">
            <a:avLst/>
          </a:prstGeom>
          <a:noFill/>
        </p:spPr>
        <p:txBody>
          <a:bodyPr wrap="square">
            <a:spAutoFit/>
          </a:bodyPr>
          <a:lstStyle/>
          <a:p>
            <a:pPr algn="l"/>
            <a:r>
              <a:rPr sz="1200" b="1">
                <a:solidFill>
                  <a:srgbClr val="F87171"/>
                </a:solidFill>
              </a:rPr>
              <a:t>Deployment Pain</a:t>
            </a:r>
          </a:p>
        </p:txBody>
      </p:sp>
      <p:sp>
        <p:nvSpPr>
          <p:cNvPr id="8" name="TextBox 7"/>
          <p:cNvSpPr txBox="1"/>
          <p:nvPr/>
        </p:nvSpPr>
        <p:spPr>
          <a:xfrm>
            <a:off x="548640" y="1920240"/>
            <a:ext cx="2377440" cy="777240"/>
          </a:xfrm>
          <a:prstGeom prst="rect">
            <a:avLst/>
          </a:prstGeom>
          <a:noFill/>
        </p:spPr>
        <p:txBody>
          <a:bodyPr wrap="square">
            <a:spAutoFit/>
          </a:bodyPr>
          <a:lstStyle/>
          <a:p>
            <a:pPr algn="l"/>
            <a:r>
              <a:rPr sz="1000" b="0">
                <a:solidFill>
                  <a:srgbClr val="FFFFFF"/>
                </a:solidFill>
              </a:rPr>
              <a:t>Railway build failures, CORS rejections,
DB URL confusion — most time-consuming
part of the entire project.</a:t>
            </a:r>
          </a:p>
        </p:txBody>
      </p:sp>
      <p:sp>
        <p:nvSpPr>
          <p:cNvPr id="9" name="Rectangle 8"/>
          <p:cNvSpPr/>
          <p:nvPr/>
        </p:nvSpPr>
        <p:spPr>
          <a:xfrm>
            <a:off x="3200400" y="1508760"/>
            <a:ext cx="2560320" cy="123444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1840" y="1581912"/>
            <a:ext cx="2377440" cy="320040"/>
          </a:xfrm>
          <a:prstGeom prst="rect">
            <a:avLst/>
          </a:prstGeom>
          <a:noFill/>
        </p:spPr>
        <p:txBody>
          <a:bodyPr wrap="square">
            <a:spAutoFit/>
          </a:bodyPr>
          <a:lstStyle/>
          <a:p>
            <a:pPr algn="l"/>
            <a:r>
              <a:rPr sz="1200" b="1">
                <a:solidFill>
                  <a:srgbClr val="F87171"/>
                </a:solidFill>
              </a:rPr>
              <a:t>Data Volume</a:t>
            </a:r>
          </a:p>
        </p:txBody>
      </p:sp>
      <p:sp>
        <p:nvSpPr>
          <p:cNvPr id="11" name="TextBox 10"/>
          <p:cNvSpPr txBox="1"/>
          <p:nvPr/>
        </p:nvSpPr>
        <p:spPr>
          <a:xfrm>
            <a:off x="3291840" y="1920240"/>
            <a:ext cx="2377440" cy="777240"/>
          </a:xfrm>
          <a:prstGeom prst="rect">
            <a:avLst/>
          </a:prstGeom>
          <a:noFill/>
        </p:spPr>
        <p:txBody>
          <a:bodyPr wrap="square">
            <a:spAutoFit/>
          </a:bodyPr>
          <a:lstStyle/>
          <a:p>
            <a:pPr algn="l"/>
            <a:r>
              <a:rPr sz="1000" b="0">
                <a:solidFill>
                  <a:srgbClr val="FFFFFF"/>
                </a:solidFill>
              </a:rPr>
              <a:t>500k+ records — needed 7 indexes on
filter columns + batch import tuning
for acceptable query performance.</a:t>
            </a:r>
          </a:p>
        </p:txBody>
      </p:sp>
      <p:sp>
        <p:nvSpPr>
          <p:cNvPr id="12" name="Rectangle 11"/>
          <p:cNvSpPr/>
          <p:nvPr/>
        </p:nvSpPr>
        <p:spPr>
          <a:xfrm>
            <a:off x="457200" y="2926080"/>
            <a:ext cx="2560320" cy="123444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999232"/>
            <a:ext cx="2377440" cy="320040"/>
          </a:xfrm>
          <a:prstGeom prst="rect">
            <a:avLst/>
          </a:prstGeom>
          <a:noFill/>
        </p:spPr>
        <p:txBody>
          <a:bodyPr wrap="square">
            <a:spAutoFit/>
          </a:bodyPr>
          <a:lstStyle/>
          <a:p>
            <a:pPr algn="l"/>
            <a:r>
              <a:rPr sz="1200" b="1">
                <a:solidFill>
                  <a:srgbClr val="F87171"/>
                </a:solidFill>
              </a:rPr>
              <a:t>CORS Split-Deploy</a:t>
            </a:r>
          </a:p>
        </p:txBody>
      </p:sp>
      <p:sp>
        <p:nvSpPr>
          <p:cNvPr id="14" name="TextBox 13"/>
          <p:cNvSpPr txBox="1"/>
          <p:nvPr/>
        </p:nvSpPr>
        <p:spPr>
          <a:xfrm>
            <a:off x="548640" y="3337560"/>
            <a:ext cx="2377440" cy="777240"/>
          </a:xfrm>
          <a:prstGeom prst="rect">
            <a:avLst/>
          </a:prstGeom>
          <a:noFill/>
        </p:spPr>
        <p:txBody>
          <a:bodyPr wrap="square">
            <a:spAutoFit/>
          </a:bodyPr>
          <a:lstStyle/>
          <a:p>
            <a:pPr algn="l"/>
            <a:r>
              <a:rPr sz="1000" b="0">
                <a:solidFill>
                  <a:srgbClr val="FFFFFF"/>
                </a:solidFill>
              </a:rPr>
              <a:t>Vercel generates unique preview URLs.
Regex origin check was the solution
but took hours to diagnose.</a:t>
            </a:r>
          </a:p>
        </p:txBody>
      </p:sp>
      <p:sp>
        <p:nvSpPr>
          <p:cNvPr id="15" name="Rectangle 14"/>
          <p:cNvSpPr/>
          <p:nvPr/>
        </p:nvSpPr>
        <p:spPr>
          <a:xfrm>
            <a:off x="3200400" y="2926080"/>
            <a:ext cx="2560320" cy="123444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91840" y="2999232"/>
            <a:ext cx="2377440" cy="320040"/>
          </a:xfrm>
          <a:prstGeom prst="rect">
            <a:avLst/>
          </a:prstGeom>
          <a:noFill/>
        </p:spPr>
        <p:txBody>
          <a:bodyPr wrap="square">
            <a:spAutoFit/>
          </a:bodyPr>
          <a:lstStyle/>
          <a:p>
            <a:pPr algn="l"/>
            <a:r>
              <a:rPr sz="1200" b="1">
                <a:solidFill>
                  <a:srgbClr val="F87171"/>
                </a:solidFill>
              </a:rPr>
              <a:t>Session vs JWT</a:t>
            </a:r>
          </a:p>
        </p:txBody>
      </p:sp>
      <p:sp>
        <p:nvSpPr>
          <p:cNvPr id="17" name="TextBox 16"/>
          <p:cNvSpPr txBox="1"/>
          <p:nvPr/>
        </p:nvSpPr>
        <p:spPr>
          <a:xfrm>
            <a:off x="3291840" y="3337560"/>
            <a:ext cx="2377440" cy="777240"/>
          </a:xfrm>
          <a:prstGeom prst="rect">
            <a:avLst/>
          </a:prstGeom>
          <a:noFill/>
        </p:spPr>
        <p:txBody>
          <a:bodyPr wrap="square">
            <a:spAutoFit/>
          </a:bodyPr>
          <a:lstStyle/>
          <a:p>
            <a:pPr algn="l"/>
            <a:r>
              <a:rPr sz="1000" b="0">
                <a:solidFill>
                  <a:srgbClr val="FFFFFF"/>
                </a:solidFill>
              </a:rPr>
              <a:t>JWTs can't be revoked on logout.
Switched to DB sessions — added
complexity but real security benefit.</a:t>
            </a:r>
          </a:p>
        </p:txBody>
      </p:sp>
      <p:sp>
        <p:nvSpPr>
          <p:cNvPr id="18" name="Rectangle 17"/>
          <p:cNvSpPr/>
          <p:nvPr/>
        </p:nvSpPr>
        <p:spPr>
          <a:xfrm>
            <a:off x="457200" y="4343400"/>
            <a:ext cx="2560320" cy="123444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416552"/>
            <a:ext cx="2377440" cy="320040"/>
          </a:xfrm>
          <a:prstGeom prst="rect">
            <a:avLst/>
          </a:prstGeom>
          <a:noFill/>
        </p:spPr>
        <p:txBody>
          <a:bodyPr wrap="square">
            <a:spAutoFit/>
          </a:bodyPr>
          <a:lstStyle/>
          <a:p>
            <a:pPr algn="l"/>
            <a:r>
              <a:rPr sz="1200" b="1">
                <a:solidFill>
                  <a:srgbClr val="F87171"/>
                </a:solidFill>
              </a:rPr>
              <a:t>TypeScript Strictness</a:t>
            </a:r>
          </a:p>
        </p:txBody>
      </p:sp>
      <p:sp>
        <p:nvSpPr>
          <p:cNvPr id="20" name="TextBox 19"/>
          <p:cNvSpPr txBox="1"/>
          <p:nvPr/>
        </p:nvSpPr>
        <p:spPr>
          <a:xfrm>
            <a:off x="548640" y="4754880"/>
            <a:ext cx="2377440" cy="777240"/>
          </a:xfrm>
          <a:prstGeom prst="rect">
            <a:avLst/>
          </a:prstGeom>
          <a:noFill/>
        </p:spPr>
        <p:txBody>
          <a:bodyPr wrap="square">
            <a:spAutoFit/>
          </a:bodyPr>
          <a:lstStyle/>
          <a:p>
            <a:pPr algn="l"/>
            <a:r>
              <a:rPr sz="1000" b="0">
                <a:solidFill>
                  <a:srgbClr val="FFFFFF"/>
                </a:solidFill>
              </a:rPr>
              <a:t>Strict mode caught real bugs:
optional params used as strings,
nullable aggregate results.</a:t>
            </a:r>
          </a:p>
        </p:txBody>
      </p:sp>
      <p:sp>
        <p:nvSpPr>
          <p:cNvPr id="21" name="Rectangle 20"/>
          <p:cNvSpPr/>
          <p:nvPr/>
        </p:nvSpPr>
        <p:spPr>
          <a:xfrm>
            <a:off x="3200400" y="4343400"/>
            <a:ext cx="2560320" cy="123444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91840" y="4416552"/>
            <a:ext cx="2377440" cy="320040"/>
          </a:xfrm>
          <a:prstGeom prst="rect">
            <a:avLst/>
          </a:prstGeom>
          <a:noFill/>
        </p:spPr>
        <p:txBody>
          <a:bodyPr wrap="square">
            <a:spAutoFit/>
          </a:bodyPr>
          <a:lstStyle/>
          <a:p>
            <a:pPr algn="l"/>
            <a:r>
              <a:rPr sz="1200" b="1">
                <a:solidFill>
                  <a:srgbClr val="F87171"/>
                </a:solidFill>
              </a:rPr>
              <a:t>AI Limitations</a:t>
            </a:r>
          </a:p>
        </p:txBody>
      </p:sp>
      <p:sp>
        <p:nvSpPr>
          <p:cNvPr id="23" name="TextBox 22"/>
          <p:cNvSpPr txBox="1"/>
          <p:nvPr/>
        </p:nvSpPr>
        <p:spPr>
          <a:xfrm>
            <a:off x="3291840" y="4754880"/>
            <a:ext cx="2377440" cy="777240"/>
          </a:xfrm>
          <a:prstGeom prst="rect">
            <a:avLst/>
          </a:prstGeom>
          <a:noFill/>
        </p:spPr>
        <p:txBody>
          <a:bodyPr wrap="square">
            <a:spAutoFit/>
          </a:bodyPr>
          <a:lstStyle/>
          <a:p>
            <a:pPr algn="l"/>
            <a:r>
              <a:rPr sz="1000" b="0">
                <a:solidFill>
                  <a:srgbClr val="FFFFFF"/>
                </a:solidFill>
              </a:rPr>
              <a:t>AI was least helpful for deployment.
Couldn't see Railway logs or Vercel
build output — manual trial and error.</a:t>
            </a:r>
          </a:p>
        </p:txBody>
      </p:sp>
      <p:sp>
        <p:nvSpPr>
          <p:cNvPr id="24" name="TextBox 23"/>
          <p:cNvSpPr txBox="1"/>
          <p:nvPr/>
        </p:nvSpPr>
        <p:spPr>
          <a:xfrm>
            <a:off x="6217920" y="1005840"/>
            <a:ext cx="5486400" cy="411480"/>
          </a:xfrm>
          <a:prstGeom prst="rect">
            <a:avLst/>
          </a:prstGeom>
          <a:noFill/>
        </p:spPr>
        <p:txBody>
          <a:bodyPr wrap="square">
            <a:spAutoFit/>
          </a:bodyPr>
          <a:lstStyle/>
          <a:p>
            <a:pPr algn="l"/>
            <a:r>
              <a:rPr sz="1800" b="1">
                <a:solidFill>
                  <a:srgbClr val="FBBF24"/>
                </a:solidFill>
              </a:rPr>
              <a:t>Limitations &amp; Future Work</a:t>
            </a:r>
          </a:p>
        </p:txBody>
      </p:sp>
      <p:sp>
        <p:nvSpPr>
          <p:cNvPr id="25" name="TextBox 24"/>
          <p:cNvSpPr txBox="1"/>
          <p:nvPr/>
        </p:nvSpPr>
        <p:spPr>
          <a:xfrm>
            <a:off x="6263640" y="1508760"/>
            <a:ext cx="5577840" cy="384048"/>
          </a:xfrm>
          <a:prstGeom prst="rect">
            <a:avLst/>
          </a:prstGeom>
          <a:noFill/>
        </p:spPr>
        <p:txBody>
          <a:bodyPr wrap="square">
            <a:spAutoFit/>
          </a:bodyPr>
          <a:lstStyle/>
          <a:p>
            <a:pPr algn="l"/>
            <a:r>
              <a:rPr sz="1100" b="0">
                <a:solidFill>
                  <a:srgbClr val="FBBF24"/>
                </a:solidFill>
              </a:rPr>
              <a:t>⚠️  Median price is approximate (no SQL PERCENTILE)</a:t>
            </a:r>
          </a:p>
        </p:txBody>
      </p:sp>
      <p:sp>
        <p:nvSpPr>
          <p:cNvPr id="26" name="TextBox 25"/>
          <p:cNvSpPr txBox="1"/>
          <p:nvPr/>
        </p:nvSpPr>
        <p:spPr>
          <a:xfrm>
            <a:off x="6263640" y="1920240"/>
            <a:ext cx="5577840" cy="384048"/>
          </a:xfrm>
          <a:prstGeom prst="rect">
            <a:avLst/>
          </a:prstGeom>
          <a:noFill/>
        </p:spPr>
        <p:txBody>
          <a:bodyPr wrap="square">
            <a:spAutoFit/>
          </a:bodyPr>
          <a:lstStyle/>
          <a:p>
            <a:pPr algn="l"/>
            <a:r>
              <a:rPr sz="1100" b="0">
                <a:solidFill>
                  <a:srgbClr val="FBBF24"/>
                </a:solidFill>
              </a:rPr>
              <a:t>⚠️  No rate limiting on public endpoints yet</a:t>
            </a:r>
          </a:p>
        </p:txBody>
      </p:sp>
      <p:sp>
        <p:nvSpPr>
          <p:cNvPr id="27" name="TextBox 26"/>
          <p:cNvSpPr txBox="1"/>
          <p:nvPr/>
        </p:nvSpPr>
        <p:spPr>
          <a:xfrm>
            <a:off x="6263640" y="2331720"/>
            <a:ext cx="5577840" cy="384048"/>
          </a:xfrm>
          <a:prstGeom prst="rect">
            <a:avLst/>
          </a:prstGeom>
          <a:noFill/>
        </p:spPr>
        <p:txBody>
          <a:bodyPr wrap="square">
            <a:spAutoFit/>
          </a:bodyPr>
          <a:lstStyle/>
          <a:p>
            <a:pPr algn="l"/>
            <a:r>
              <a:rPr sz="1100" b="0">
                <a:solidFill>
                  <a:srgbClr val="FBBF24"/>
                </a:solidFill>
              </a:rPr>
              <a:t>⚠️  MarketReport cache model defined but unused</a:t>
            </a:r>
          </a:p>
        </p:txBody>
      </p:sp>
      <p:sp>
        <p:nvSpPr>
          <p:cNvPr id="28" name="TextBox 27"/>
          <p:cNvSpPr txBox="1"/>
          <p:nvPr/>
        </p:nvSpPr>
        <p:spPr>
          <a:xfrm>
            <a:off x="6263640" y="2743200"/>
            <a:ext cx="5577840" cy="384048"/>
          </a:xfrm>
          <a:prstGeom prst="rect">
            <a:avLst/>
          </a:prstGeom>
          <a:noFill/>
        </p:spPr>
        <p:txBody>
          <a:bodyPr wrap="square">
            <a:spAutoFit/>
          </a:bodyPr>
          <a:lstStyle/>
          <a:p>
            <a:pPr algn="l"/>
            <a:r>
              <a:rPr sz="1100" b="0">
                <a:solidFill>
                  <a:srgbClr val="FBBF24"/>
                </a:solidFill>
              </a:rPr>
              <a:t>⚠️  Heatmap is county-level text (no coordinates)</a:t>
            </a:r>
          </a:p>
        </p:txBody>
      </p:sp>
      <p:sp>
        <p:nvSpPr>
          <p:cNvPr id="29" name="TextBox 28"/>
          <p:cNvSpPr txBox="1"/>
          <p:nvPr/>
        </p:nvSpPr>
        <p:spPr>
          <a:xfrm>
            <a:off x="6263640" y="3154680"/>
            <a:ext cx="5577840" cy="384048"/>
          </a:xfrm>
          <a:prstGeom prst="rect">
            <a:avLst/>
          </a:prstGeom>
          <a:noFill/>
        </p:spPr>
        <p:txBody>
          <a:bodyPr wrap="square">
            <a:spAutoFit/>
          </a:bodyPr>
          <a:lstStyle/>
          <a:p>
            <a:pPr algn="l"/>
            <a:r>
              <a:rPr sz="1100" b="0">
                <a:solidFill>
                  <a:srgbClr val="FBBF24"/>
                </a:solidFill>
              </a:rPr>
              <a:t>⚠️  Static dataset — no incremental monthly updates</a:t>
            </a:r>
          </a:p>
        </p:txBody>
      </p:sp>
      <p:sp>
        <p:nvSpPr>
          <p:cNvPr id="30" name="TextBox 29"/>
          <p:cNvSpPr txBox="1"/>
          <p:nvPr/>
        </p:nvSpPr>
        <p:spPr>
          <a:xfrm>
            <a:off x="6217920" y="3611880"/>
            <a:ext cx="5486400" cy="411480"/>
          </a:xfrm>
          <a:prstGeom prst="rect">
            <a:avLst/>
          </a:prstGeom>
          <a:noFill/>
        </p:spPr>
        <p:txBody>
          <a:bodyPr wrap="square">
            <a:spAutoFit/>
          </a:bodyPr>
          <a:lstStyle/>
          <a:p>
            <a:pPr algn="l"/>
            <a:r>
              <a:rPr sz="1800" b="1">
                <a:solidFill>
                  <a:srgbClr val="34D399"/>
                </a:solidFill>
              </a:rPr>
              <a:t>Future Development</a:t>
            </a:r>
          </a:p>
        </p:txBody>
      </p:sp>
      <p:sp>
        <p:nvSpPr>
          <p:cNvPr id="31" name="TextBox 30"/>
          <p:cNvSpPr txBox="1"/>
          <p:nvPr/>
        </p:nvSpPr>
        <p:spPr>
          <a:xfrm>
            <a:off x="6263640" y="4069080"/>
            <a:ext cx="5577840" cy="384048"/>
          </a:xfrm>
          <a:prstGeom prst="rect">
            <a:avLst/>
          </a:prstGeom>
          <a:noFill/>
        </p:spPr>
        <p:txBody>
          <a:bodyPr wrap="square">
            <a:spAutoFit/>
          </a:bodyPr>
          <a:lstStyle/>
          <a:p>
            <a:pPr algn="l"/>
            <a:r>
              <a:rPr sz="1100" b="0">
                <a:solidFill>
                  <a:srgbClr val="34D399"/>
                </a:solidFill>
              </a:rPr>
              <a:t>🚀  PostGIS → real map-based heatmaps</a:t>
            </a:r>
          </a:p>
        </p:txBody>
      </p:sp>
      <p:sp>
        <p:nvSpPr>
          <p:cNvPr id="32" name="TextBox 31"/>
          <p:cNvSpPr txBox="1"/>
          <p:nvPr/>
        </p:nvSpPr>
        <p:spPr>
          <a:xfrm>
            <a:off x="6263640" y="4480560"/>
            <a:ext cx="5577840" cy="384048"/>
          </a:xfrm>
          <a:prstGeom prst="rect">
            <a:avLst/>
          </a:prstGeom>
          <a:noFill/>
        </p:spPr>
        <p:txBody>
          <a:bodyPr wrap="square">
            <a:spAutoFit/>
          </a:bodyPr>
          <a:lstStyle/>
          <a:p>
            <a:pPr algn="l"/>
            <a:r>
              <a:rPr sz="1100" b="0">
                <a:solidFill>
                  <a:srgbClr val="34D399"/>
                </a:solidFill>
              </a:rPr>
              <a:t>🚀  Cron job → monthly HMLR data updates</a:t>
            </a:r>
          </a:p>
        </p:txBody>
      </p:sp>
      <p:sp>
        <p:nvSpPr>
          <p:cNvPr id="33" name="TextBox 32"/>
          <p:cNvSpPr txBox="1"/>
          <p:nvPr/>
        </p:nvSpPr>
        <p:spPr>
          <a:xfrm>
            <a:off x="6263640" y="4892040"/>
            <a:ext cx="5577840" cy="384048"/>
          </a:xfrm>
          <a:prstGeom prst="rect">
            <a:avLst/>
          </a:prstGeom>
          <a:noFill/>
        </p:spPr>
        <p:txBody>
          <a:bodyPr wrap="square">
            <a:spAutoFit/>
          </a:bodyPr>
          <a:lstStyle/>
          <a:p>
            <a:pPr algn="l"/>
            <a:r>
              <a:rPr sz="1100" b="0">
                <a:solidFill>
                  <a:srgbClr val="34D399"/>
                </a:solidFill>
              </a:rPr>
              <a:t>🚀  Redis/materialised views → analytics caching</a:t>
            </a:r>
          </a:p>
        </p:txBody>
      </p:sp>
      <p:sp>
        <p:nvSpPr>
          <p:cNvPr id="34" name="TextBox 33"/>
          <p:cNvSpPr txBox="1"/>
          <p:nvPr/>
        </p:nvSpPr>
        <p:spPr>
          <a:xfrm>
            <a:off x="6263640" y="5303520"/>
            <a:ext cx="5577840" cy="384048"/>
          </a:xfrm>
          <a:prstGeom prst="rect">
            <a:avLst/>
          </a:prstGeom>
          <a:noFill/>
        </p:spPr>
        <p:txBody>
          <a:bodyPr wrap="square">
            <a:spAutoFit/>
          </a:bodyPr>
          <a:lstStyle/>
          <a:p>
            <a:pPr algn="l"/>
            <a:r>
              <a:rPr sz="1100" b="0">
                <a:solidFill>
                  <a:srgbClr val="34D399"/>
                </a:solidFill>
              </a:rPr>
              <a:t>🚀  express-rate-limit → production safety</a:t>
            </a:r>
          </a:p>
        </p:txBody>
      </p:sp>
      <p:sp>
        <p:nvSpPr>
          <p:cNvPr id="35" name="TextBox 34"/>
          <p:cNvSpPr txBox="1"/>
          <p:nvPr/>
        </p:nvSpPr>
        <p:spPr>
          <a:xfrm>
            <a:off x="6263640" y="5715000"/>
            <a:ext cx="5577840" cy="384048"/>
          </a:xfrm>
          <a:prstGeom prst="rect">
            <a:avLst/>
          </a:prstGeom>
          <a:noFill/>
        </p:spPr>
        <p:txBody>
          <a:bodyPr wrap="square">
            <a:spAutoFit/>
          </a:bodyPr>
          <a:lstStyle/>
          <a:p>
            <a:pPr algn="l"/>
            <a:r>
              <a:rPr sz="1100" b="0">
                <a:solidFill>
                  <a:srgbClr val="34D399"/>
                </a:solidFill>
              </a:rPr>
              <a:t>🚀  WebSocket → real-time price alerts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548640"/>
          </a:xfrm>
          <a:prstGeom prst="rect">
            <a:avLst/>
          </a:prstGeom>
          <a:noFill/>
        </p:spPr>
        <p:txBody>
          <a:bodyPr wrap="square">
            <a:spAutoFit/>
          </a:bodyPr>
          <a:lstStyle/>
          <a:p>
            <a:pPr algn="l"/>
            <a:r>
              <a:rPr sz="3200" b="1">
                <a:solidFill>
                  <a:srgbClr val="FFFFFF"/>
                </a:solidFill>
              </a:rPr>
              <a:t>Deliverables Summary</a:t>
            </a:r>
          </a:p>
        </p:txBody>
      </p:sp>
      <p:sp>
        <p:nvSpPr>
          <p:cNvPr id="4" name="Rectangle 3"/>
          <p:cNvSpPr/>
          <p:nvPr/>
        </p:nvSpPr>
        <p:spPr>
          <a:xfrm>
            <a:off x="365760" y="868680"/>
            <a:ext cx="1145743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05840"/>
            <a:ext cx="5577840" cy="242316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097280"/>
            <a:ext cx="5303520" cy="457200"/>
          </a:xfrm>
          <a:prstGeom prst="rect">
            <a:avLst/>
          </a:prstGeom>
          <a:noFill/>
        </p:spPr>
        <p:txBody>
          <a:bodyPr wrap="square">
            <a:spAutoFit/>
          </a:bodyPr>
          <a:lstStyle/>
          <a:p>
            <a:pPr algn="l"/>
            <a:r>
              <a:rPr sz="1600" b="1">
                <a:solidFill>
                  <a:srgbClr val="34D399"/>
                </a:solidFill>
              </a:rPr>
              <a:t>✅  Code Repository</a:t>
            </a:r>
          </a:p>
        </p:txBody>
      </p:sp>
      <p:sp>
        <p:nvSpPr>
          <p:cNvPr id="7" name="TextBox 6"/>
          <p:cNvSpPr txBox="1"/>
          <p:nvPr/>
        </p:nvSpPr>
        <p:spPr>
          <a:xfrm>
            <a:off x="594360" y="1600200"/>
            <a:ext cx="5303520" cy="320040"/>
          </a:xfrm>
          <a:prstGeom prst="rect">
            <a:avLst/>
          </a:prstGeom>
          <a:noFill/>
        </p:spPr>
        <p:txBody>
          <a:bodyPr wrap="square">
            <a:spAutoFit/>
          </a:bodyPr>
          <a:lstStyle/>
          <a:p>
            <a:pPr algn="l"/>
            <a:r>
              <a:rPr sz="1100" b="0">
                <a:solidFill>
                  <a:srgbClr val="FFFFFF"/>
                </a:solidFill>
              </a:rPr>
              <a:t>  Public GitHub repository</a:t>
            </a:r>
          </a:p>
        </p:txBody>
      </p:sp>
      <p:sp>
        <p:nvSpPr>
          <p:cNvPr id="8" name="TextBox 7"/>
          <p:cNvSpPr txBox="1"/>
          <p:nvPr/>
        </p:nvSpPr>
        <p:spPr>
          <a:xfrm>
            <a:off x="594360" y="1947672"/>
            <a:ext cx="5303520" cy="320040"/>
          </a:xfrm>
          <a:prstGeom prst="rect">
            <a:avLst/>
          </a:prstGeom>
          <a:noFill/>
        </p:spPr>
        <p:txBody>
          <a:bodyPr wrap="square">
            <a:spAutoFit/>
          </a:bodyPr>
          <a:lstStyle/>
          <a:p>
            <a:pPr algn="l"/>
            <a:r>
              <a:rPr sz="1100" b="0">
                <a:solidFill>
                  <a:srgbClr val="FFFFFF"/>
                </a:solidFill>
              </a:rPr>
              <a:t>  Visible commit history throughout development</a:t>
            </a:r>
          </a:p>
        </p:txBody>
      </p:sp>
      <p:sp>
        <p:nvSpPr>
          <p:cNvPr id="9" name="TextBox 8"/>
          <p:cNvSpPr txBox="1"/>
          <p:nvPr/>
        </p:nvSpPr>
        <p:spPr>
          <a:xfrm>
            <a:off x="594360" y="2295144"/>
            <a:ext cx="5303520" cy="320040"/>
          </a:xfrm>
          <a:prstGeom prst="rect">
            <a:avLst/>
          </a:prstGeom>
          <a:noFill/>
        </p:spPr>
        <p:txBody>
          <a:bodyPr wrap="square">
            <a:spAutoFit/>
          </a:bodyPr>
          <a:lstStyle/>
          <a:p>
            <a:pPr algn="l"/>
            <a:r>
              <a:rPr sz="1100" b="0">
                <a:solidFill>
                  <a:srgbClr val="FFFFFF"/>
                </a:solidFill>
              </a:rPr>
              <a:t>  README.md with full setup instructions</a:t>
            </a:r>
          </a:p>
        </p:txBody>
      </p:sp>
      <p:sp>
        <p:nvSpPr>
          <p:cNvPr id="10" name="TextBox 9"/>
          <p:cNvSpPr txBox="1"/>
          <p:nvPr/>
        </p:nvSpPr>
        <p:spPr>
          <a:xfrm>
            <a:off x="594360" y="2642616"/>
            <a:ext cx="5303520" cy="320040"/>
          </a:xfrm>
          <a:prstGeom prst="rect">
            <a:avLst/>
          </a:prstGeom>
          <a:noFill/>
        </p:spPr>
        <p:txBody>
          <a:bodyPr wrap="square">
            <a:spAutoFit/>
          </a:bodyPr>
          <a:lstStyle/>
          <a:p>
            <a:pPr algn="l"/>
            <a:r>
              <a:rPr sz="1100" b="0">
                <a:solidFill>
                  <a:srgbClr val="FFFFFF"/>
                </a:solidFill>
              </a:rPr>
              <a:t>  All code runnable — matches presented version</a:t>
            </a:r>
          </a:p>
        </p:txBody>
      </p:sp>
      <p:sp>
        <p:nvSpPr>
          <p:cNvPr id="11" name="TextBox 10"/>
          <p:cNvSpPr txBox="1"/>
          <p:nvPr/>
        </p:nvSpPr>
        <p:spPr>
          <a:xfrm>
            <a:off x="594360" y="2990088"/>
            <a:ext cx="5303520" cy="320040"/>
          </a:xfrm>
          <a:prstGeom prst="rect">
            <a:avLst/>
          </a:prstGeom>
          <a:noFill/>
        </p:spPr>
        <p:txBody>
          <a:bodyPr wrap="square">
            <a:spAutoFit/>
          </a:bodyPr>
          <a:lstStyle/>
          <a:p>
            <a:pPr algn="l"/>
            <a:r>
              <a:rPr sz="1100" b="0">
                <a:solidFill>
                  <a:srgbClr val="FFFFFF"/>
                </a:solidFill>
              </a:rPr>
              <a:t>  backend/ and frontend/ workspaces</a:t>
            </a:r>
          </a:p>
        </p:txBody>
      </p:sp>
      <p:sp>
        <p:nvSpPr>
          <p:cNvPr id="12" name="Rectangle 11"/>
          <p:cNvSpPr/>
          <p:nvPr/>
        </p:nvSpPr>
        <p:spPr>
          <a:xfrm>
            <a:off x="6309360" y="1005840"/>
            <a:ext cx="5577840" cy="242316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097280"/>
            <a:ext cx="5303520" cy="457200"/>
          </a:xfrm>
          <a:prstGeom prst="rect">
            <a:avLst/>
          </a:prstGeom>
          <a:noFill/>
        </p:spPr>
        <p:txBody>
          <a:bodyPr wrap="square">
            <a:spAutoFit/>
          </a:bodyPr>
          <a:lstStyle/>
          <a:p>
            <a:pPr algn="l"/>
            <a:r>
              <a:rPr sz="1600" b="1">
                <a:solidFill>
                  <a:srgbClr val="34D399"/>
                </a:solidFill>
              </a:rPr>
              <a:t>✅  API Documentation</a:t>
            </a:r>
          </a:p>
        </p:txBody>
      </p:sp>
      <p:sp>
        <p:nvSpPr>
          <p:cNvPr id="14" name="TextBox 13"/>
          <p:cNvSpPr txBox="1"/>
          <p:nvPr/>
        </p:nvSpPr>
        <p:spPr>
          <a:xfrm>
            <a:off x="6446520" y="1600200"/>
            <a:ext cx="5303520" cy="320040"/>
          </a:xfrm>
          <a:prstGeom prst="rect">
            <a:avLst/>
          </a:prstGeom>
          <a:noFill/>
        </p:spPr>
        <p:txBody>
          <a:bodyPr wrap="square">
            <a:spAutoFit/>
          </a:bodyPr>
          <a:lstStyle/>
          <a:p>
            <a:pPr algn="l"/>
            <a:r>
              <a:rPr sz="1100" b="0">
                <a:solidFill>
                  <a:srgbClr val="FFFFFF"/>
                </a:solidFill>
              </a:rPr>
              <a:t>  Swagger UI at /api/docs (interactive)</a:t>
            </a:r>
          </a:p>
        </p:txBody>
      </p:sp>
      <p:sp>
        <p:nvSpPr>
          <p:cNvPr id="15" name="TextBox 14"/>
          <p:cNvSpPr txBox="1"/>
          <p:nvPr/>
        </p:nvSpPr>
        <p:spPr>
          <a:xfrm>
            <a:off x="6446520" y="1947672"/>
            <a:ext cx="5303520" cy="320040"/>
          </a:xfrm>
          <a:prstGeom prst="rect">
            <a:avLst/>
          </a:prstGeom>
          <a:noFill/>
        </p:spPr>
        <p:txBody>
          <a:bodyPr wrap="square">
            <a:spAutoFit/>
          </a:bodyPr>
          <a:lstStyle/>
          <a:p>
            <a:pPr algn="l"/>
            <a:r>
              <a:rPr sz="1100" b="0">
                <a:solidFill>
                  <a:srgbClr val="FFFFFF"/>
                </a:solidFill>
              </a:rPr>
              <a:t>  OpenAPI JSON at /api/docs.json</a:t>
            </a:r>
          </a:p>
        </p:txBody>
      </p:sp>
      <p:sp>
        <p:nvSpPr>
          <p:cNvPr id="16" name="TextBox 15"/>
          <p:cNvSpPr txBox="1"/>
          <p:nvPr/>
        </p:nvSpPr>
        <p:spPr>
          <a:xfrm>
            <a:off x="6446520" y="2295144"/>
            <a:ext cx="5303520" cy="320040"/>
          </a:xfrm>
          <a:prstGeom prst="rect">
            <a:avLst/>
          </a:prstGeom>
          <a:noFill/>
        </p:spPr>
        <p:txBody>
          <a:bodyPr wrap="square">
            <a:spAutoFit/>
          </a:bodyPr>
          <a:lstStyle/>
          <a:p>
            <a:pPr algn="l"/>
            <a:r>
              <a:rPr sz="1100" b="0">
                <a:solidFill>
                  <a:srgbClr val="FFFFFF"/>
                </a:solidFill>
              </a:rPr>
              <a:t>  Every endpoint documented with JSDoc</a:t>
            </a:r>
          </a:p>
        </p:txBody>
      </p:sp>
      <p:sp>
        <p:nvSpPr>
          <p:cNvPr id="17" name="TextBox 16"/>
          <p:cNvSpPr txBox="1"/>
          <p:nvPr/>
        </p:nvSpPr>
        <p:spPr>
          <a:xfrm>
            <a:off x="6446520" y="2642616"/>
            <a:ext cx="5303520" cy="320040"/>
          </a:xfrm>
          <a:prstGeom prst="rect">
            <a:avLst/>
          </a:prstGeom>
          <a:noFill/>
        </p:spPr>
        <p:txBody>
          <a:bodyPr wrap="square">
            <a:spAutoFit/>
          </a:bodyPr>
          <a:lstStyle/>
          <a:p>
            <a:pPr algn="l"/>
            <a:r>
              <a:rPr sz="1100" b="0">
                <a:solidFill>
                  <a:srgbClr val="FFFFFF"/>
                </a:solidFill>
              </a:rPr>
              <a:t>  Example requests and responses</a:t>
            </a:r>
          </a:p>
        </p:txBody>
      </p:sp>
      <p:sp>
        <p:nvSpPr>
          <p:cNvPr id="18" name="TextBox 17"/>
          <p:cNvSpPr txBox="1"/>
          <p:nvPr/>
        </p:nvSpPr>
        <p:spPr>
          <a:xfrm>
            <a:off x="6446520" y="2990088"/>
            <a:ext cx="5303520" cy="320040"/>
          </a:xfrm>
          <a:prstGeom prst="rect">
            <a:avLst/>
          </a:prstGeom>
          <a:noFill/>
        </p:spPr>
        <p:txBody>
          <a:bodyPr wrap="square">
            <a:spAutoFit/>
          </a:bodyPr>
          <a:lstStyle/>
          <a:p>
            <a:pPr algn="l"/>
            <a:r>
              <a:rPr sz="1100" b="0">
                <a:solidFill>
                  <a:srgbClr val="FFFFFF"/>
                </a:solidFill>
              </a:rPr>
              <a:t>  Auth process and error codes documented</a:t>
            </a:r>
          </a:p>
        </p:txBody>
      </p:sp>
      <p:sp>
        <p:nvSpPr>
          <p:cNvPr id="19" name="Rectangle 18"/>
          <p:cNvSpPr/>
          <p:nvPr/>
        </p:nvSpPr>
        <p:spPr>
          <a:xfrm>
            <a:off x="457200" y="3611880"/>
            <a:ext cx="5577840" cy="242316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703320"/>
            <a:ext cx="5303520" cy="457200"/>
          </a:xfrm>
          <a:prstGeom prst="rect">
            <a:avLst/>
          </a:prstGeom>
          <a:noFill/>
        </p:spPr>
        <p:txBody>
          <a:bodyPr wrap="square">
            <a:spAutoFit/>
          </a:bodyPr>
          <a:lstStyle/>
          <a:p>
            <a:pPr algn="l"/>
            <a:r>
              <a:rPr sz="1600" b="1">
                <a:solidFill>
                  <a:srgbClr val="34D399"/>
                </a:solidFill>
              </a:rPr>
              <a:t>✅  Technical Report</a:t>
            </a:r>
          </a:p>
        </p:txBody>
      </p:sp>
      <p:sp>
        <p:nvSpPr>
          <p:cNvPr id="21" name="TextBox 20"/>
          <p:cNvSpPr txBox="1"/>
          <p:nvPr/>
        </p:nvSpPr>
        <p:spPr>
          <a:xfrm>
            <a:off x="594360" y="4206240"/>
            <a:ext cx="5303520" cy="320040"/>
          </a:xfrm>
          <a:prstGeom prst="rect">
            <a:avLst/>
          </a:prstGeom>
          <a:noFill/>
        </p:spPr>
        <p:txBody>
          <a:bodyPr wrap="square">
            <a:spAutoFit/>
          </a:bodyPr>
          <a:lstStyle/>
          <a:p>
            <a:pPr algn="l"/>
            <a:r>
              <a:rPr sz="1100" b="0">
                <a:solidFill>
                  <a:srgbClr val="FFFFFF"/>
                </a:solidFill>
              </a:rPr>
              <a:t>  5-page report (docs/TECHNICAL_REPORT.md)</a:t>
            </a:r>
          </a:p>
        </p:txBody>
      </p:sp>
      <p:sp>
        <p:nvSpPr>
          <p:cNvPr id="22" name="TextBox 21"/>
          <p:cNvSpPr txBox="1"/>
          <p:nvPr/>
        </p:nvSpPr>
        <p:spPr>
          <a:xfrm>
            <a:off x="594360" y="4553712"/>
            <a:ext cx="5303520" cy="320040"/>
          </a:xfrm>
          <a:prstGeom prst="rect">
            <a:avLst/>
          </a:prstGeom>
          <a:noFill/>
        </p:spPr>
        <p:txBody>
          <a:bodyPr wrap="square">
            <a:spAutoFit/>
          </a:bodyPr>
          <a:lstStyle/>
          <a:p>
            <a:pPr algn="l"/>
            <a:r>
              <a:rPr sz="1100" b="0">
                <a:solidFill>
                  <a:srgbClr val="FFFFFF"/>
                </a:solidFill>
              </a:rPr>
              <a:t>  Stack justification with alternatives considered</a:t>
            </a:r>
          </a:p>
        </p:txBody>
      </p:sp>
      <p:sp>
        <p:nvSpPr>
          <p:cNvPr id="23" name="TextBox 22"/>
          <p:cNvSpPr txBox="1"/>
          <p:nvPr/>
        </p:nvSpPr>
        <p:spPr>
          <a:xfrm>
            <a:off x="594360" y="4901184"/>
            <a:ext cx="5303520" cy="320040"/>
          </a:xfrm>
          <a:prstGeom prst="rect">
            <a:avLst/>
          </a:prstGeom>
          <a:noFill/>
        </p:spPr>
        <p:txBody>
          <a:bodyPr wrap="square">
            <a:spAutoFit/>
          </a:bodyPr>
          <a:lstStyle/>
          <a:p>
            <a:pPr algn="l"/>
            <a:r>
              <a:rPr sz="1100" b="0">
                <a:solidFill>
                  <a:srgbClr val="FFFFFF"/>
                </a:solidFill>
              </a:rPr>
              <a:t>  Architecture, security, and testing sections</a:t>
            </a:r>
          </a:p>
        </p:txBody>
      </p:sp>
      <p:sp>
        <p:nvSpPr>
          <p:cNvPr id="24" name="TextBox 23"/>
          <p:cNvSpPr txBox="1"/>
          <p:nvPr/>
        </p:nvSpPr>
        <p:spPr>
          <a:xfrm>
            <a:off x="594360" y="5248656"/>
            <a:ext cx="5303520" cy="320040"/>
          </a:xfrm>
          <a:prstGeom prst="rect">
            <a:avLst/>
          </a:prstGeom>
          <a:noFill/>
        </p:spPr>
        <p:txBody>
          <a:bodyPr wrap="square">
            <a:spAutoFit/>
          </a:bodyPr>
          <a:lstStyle/>
          <a:p>
            <a:pPr algn="l"/>
            <a:r>
              <a:rPr sz="1100" b="0">
                <a:solidFill>
                  <a:srgbClr val="FFFFFF"/>
                </a:solidFill>
              </a:rPr>
              <a:t>  Challenges, limitations, future work</a:t>
            </a:r>
          </a:p>
        </p:txBody>
      </p:sp>
      <p:sp>
        <p:nvSpPr>
          <p:cNvPr id="25" name="TextBox 24"/>
          <p:cNvSpPr txBox="1"/>
          <p:nvPr/>
        </p:nvSpPr>
        <p:spPr>
          <a:xfrm>
            <a:off x="594360" y="5596128"/>
            <a:ext cx="5303520" cy="320040"/>
          </a:xfrm>
          <a:prstGeom prst="rect">
            <a:avLst/>
          </a:prstGeom>
          <a:noFill/>
        </p:spPr>
        <p:txBody>
          <a:bodyPr wrap="square">
            <a:spAutoFit/>
          </a:bodyPr>
          <a:lstStyle/>
          <a:p>
            <a:pPr algn="l"/>
            <a:r>
              <a:rPr sz="1100" b="0">
                <a:solidFill>
                  <a:srgbClr val="FFFFFF"/>
                </a:solidFill>
              </a:rPr>
              <a:t>  GenAI declaration with reflective analysis</a:t>
            </a:r>
          </a:p>
        </p:txBody>
      </p:sp>
      <p:sp>
        <p:nvSpPr>
          <p:cNvPr id="26" name="Rectangle 25"/>
          <p:cNvSpPr/>
          <p:nvPr/>
        </p:nvSpPr>
        <p:spPr>
          <a:xfrm>
            <a:off x="6309360" y="3611880"/>
            <a:ext cx="5577840" cy="242316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3703320"/>
            <a:ext cx="5303520" cy="457200"/>
          </a:xfrm>
          <a:prstGeom prst="rect">
            <a:avLst/>
          </a:prstGeom>
          <a:noFill/>
        </p:spPr>
        <p:txBody>
          <a:bodyPr wrap="square">
            <a:spAutoFit/>
          </a:bodyPr>
          <a:lstStyle/>
          <a:p>
            <a:pPr algn="l"/>
            <a:r>
              <a:rPr sz="1600" b="1">
                <a:solidFill>
                  <a:srgbClr val="34D399"/>
                </a:solidFill>
              </a:rPr>
              <a:t>✅  Presentation Slides</a:t>
            </a:r>
          </a:p>
        </p:txBody>
      </p:sp>
      <p:sp>
        <p:nvSpPr>
          <p:cNvPr id="28" name="TextBox 27"/>
          <p:cNvSpPr txBox="1"/>
          <p:nvPr/>
        </p:nvSpPr>
        <p:spPr>
          <a:xfrm>
            <a:off x="6446520" y="4206240"/>
            <a:ext cx="5303520" cy="320040"/>
          </a:xfrm>
          <a:prstGeom prst="rect">
            <a:avLst/>
          </a:prstGeom>
          <a:noFill/>
        </p:spPr>
        <p:txBody>
          <a:bodyPr wrap="square">
            <a:spAutoFit/>
          </a:bodyPr>
          <a:lstStyle/>
          <a:p>
            <a:pPr algn="l"/>
            <a:r>
              <a:rPr sz="1100" b="0">
                <a:solidFill>
                  <a:srgbClr val="FFFFFF"/>
                </a:solidFill>
              </a:rPr>
              <a:t>  This presentation (PPTX)</a:t>
            </a:r>
          </a:p>
        </p:txBody>
      </p:sp>
      <p:sp>
        <p:nvSpPr>
          <p:cNvPr id="29" name="TextBox 28"/>
          <p:cNvSpPr txBox="1"/>
          <p:nvPr/>
        </p:nvSpPr>
        <p:spPr>
          <a:xfrm>
            <a:off x="6446520" y="4553712"/>
            <a:ext cx="5303520" cy="320040"/>
          </a:xfrm>
          <a:prstGeom prst="rect">
            <a:avLst/>
          </a:prstGeom>
          <a:noFill/>
        </p:spPr>
        <p:txBody>
          <a:bodyPr wrap="square">
            <a:spAutoFit/>
          </a:bodyPr>
          <a:lstStyle/>
          <a:p>
            <a:pPr algn="l"/>
            <a:r>
              <a:rPr sz="1100" b="0">
                <a:solidFill>
                  <a:srgbClr val="FFFFFF"/>
                </a:solidFill>
              </a:rPr>
              <a:t>  Version control section ✓</a:t>
            </a:r>
          </a:p>
        </p:txBody>
      </p:sp>
      <p:sp>
        <p:nvSpPr>
          <p:cNvPr id="30" name="TextBox 29"/>
          <p:cNvSpPr txBox="1"/>
          <p:nvPr/>
        </p:nvSpPr>
        <p:spPr>
          <a:xfrm>
            <a:off x="6446520" y="4901184"/>
            <a:ext cx="5303520" cy="320040"/>
          </a:xfrm>
          <a:prstGeom prst="rect">
            <a:avLst/>
          </a:prstGeom>
          <a:noFill/>
        </p:spPr>
        <p:txBody>
          <a:bodyPr wrap="square">
            <a:spAutoFit/>
          </a:bodyPr>
          <a:lstStyle/>
          <a:p>
            <a:pPr algn="l"/>
            <a:r>
              <a:rPr sz="1100" b="0">
                <a:solidFill>
                  <a:srgbClr val="FFFFFF"/>
                </a:solidFill>
              </a:rPr>
              <a:t>  API documentation section ✓</a:t>
            </a:r>
          </a:p>
        </p:txBody>
      </p:sp>
      <p:sp>
        <p:nvSpPr>
          <p:cNvPr id="31" name="TextBox 30"/>
          <p:cNvSpPr txBox="1"/>
          <p:nvPr/>
        </p:nvSpPr>
        <p:spPr>
          <a:xfrm>
            <a:off x="6446520" y="5248656"/>
            <a:ext cx="5303520" cy="320040"/>
          </a:xfrm>
          <a:prstGeom prst="rect">
            <a:avLst/>
          </a:prstGeom>
          <a:noFill/>
        </p:spPr>
        <p:txBody>
          <a:bodyPr wrap="square">
            <a:spAutoFit/>
          </a:bodyPr>
          <a:lstStyle/>
          <a:p>
            <a:pPr algn="l"/>
            <a:r>
              <a:rPr sz="1100" b="0">
                <a:solidFill>
                  <a:srgbClr val="FFFFFF"/>
                </a:solidFill>
              </a:rPr>
              <a:t>  Technical report highlights ✓</a:t>
            </a:r>
          </a:p>
        </p:txBody>
      </p:sp>
      <p:sp>
        <p:nvSpPr>
          <p:cNvPr id="32" name="TextBox 31"/>
          <p:cNvSpPr txBox="1"/>
          <p:nvPr/>
        </p:nvSpPr>
        <p:spPr>
          <a:xfrm>
            <a:off x="6446520" y="5596128"/>
            <a:ext cx="5303520" cy="320040"/>
          </a:xfrm>
          <a:prstGeom prst="rect">
            <a:avLst/>
          </a:prstGeom>
          <a:noFill/>
        </p:spPr>
        <p:txBody>
          <a:bodyPr wrap="square">
            <a:spAutoFit/>
          </a:bodyPr>
          <a:lstStyle/>
          <a:p>
            <a:pPr algn="l"/>
            <a:r>
              <a:rPr sz="1100" b="0">
                <a:solidFill>
                  <a:srgbClr val="FFFFFF"/>
                </a:solidFill>
              </a:rPr>
              <a:t>  All deliverables covered ✓</a:t>
            </a:r>
          </a:p>
        </p:txBody>
      </p:sp>
      <p:sp>
        <p:nvSpPr>
          <p:cNvPr id="33" name="TextBox 32"/>
          <p:cNvSpPr txBox="1"/>
          <p:nvPr/>
        </p:nvSpPr>
        <p:spPr>
          <a:xfrm>
            <a:off x="457200" y="6446520"/>
            <a:ext cx="11247120" cy="320040"/>
          </a:xfrm>
          <a:prstGeom prst="rect">
            <a:avLst/>
          </a:prstGeom>
          <a:noFill/>
        </p:spPr>
        <p:txBody>
          <a:bodyPr wrap="square">
            <a:spAutoFit/>
          </a:bodyPr>
          <a:lstStyle/>
          <a:p>
            <a:pPr algn="ctr"/>
            <a:r>
              <a:rPr sz="1100" b="0">
                <a:solidFill>
                  <a:srgbClr val="94A3B8"/>
                </a:solidFill>
              </a:rPr>
              <a:t>All deliverables linked from README.md  •  Report submitted as PDF  •  Slides submitted as PPTX  •  Repo is public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0"/>
            <a:ext cx="10972800" cy="1097280"/>
          </a:xfrm>
          <a:prstGeom prst="rect">
            <a:avLst/>
          </a:prstGeom>
          <a:noFill/>
        </p:spPr>
        <p:txBody>
          <a:bodyPr wrap="square">
            <a:spAutoFit/>
          </a:bodyPr>
          <a:lstStyle/>
          <a:p>
            <a:pPr algn="ctr"/>
            <a:r>
              <a:rPr sz="5400" b="1">
                <a:solidFill>
                  <a:srgbClr val="FFFFFF"/>
                </a:solidFill>
              </a:rPr>
              <a:t>Thank You</a:t>
            </a:r>
          </a:p>
        </p:txBody>
      </p:sp>
      <p:sp>
        <p:nvSpPr>
          <p:cNvPr id="4" name="TextBox 3"/>
          <p:cNvSpPr txBox="1"/>
          <p:nvPr/>
        </p:nvSpPr>
        <p:spPr>
          <a:xfrm>
            <a:off x="457200" y="2651760"/>
            <a:ext cx="10972800" cy="640080"/>
          </a:xfrm>
          <a:prstGeom prst="rect">
            <a:avLst/>
          </a:prstGeom>
          <a:noFill/>
        </p:spPr>
        <p:txBody>
          <a:bodyPr wrap="square">
            <a:spAutoFit/>
          </a:bodyPr>
          <a:lstStyle/>
          <a:p>
            <a:pPr algn="ctr"/>
            <a:r>
              <a:rPr sz="2800" b="0">
                <a:solidFill>
                  <a:srgbClr val="38BDF8"/>
                </a:solidFill>
              </a:rPr>
              <a:t>Questions &amp; Answers</a:t>
            </a:r>
          </a:p>
        </p:txBody>
      </p:sp>
      <p:sp>
        <p:nvSpPr>
          <p:cNvPr id="5" name="Rectangle 4"/>
          <p:cNvSpPr/>
          <p:nvPr/>
        </p:nvSpPr>
        <p:spPr>
          <a:xfrm>
            <a:off x="365760" y="3474720"/>
            <a:ext cx="11457432" cy="25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657600"/>
            <a:ext cx="10972800" cy="411480"/>
          </a:xfrm>
          <a:prstGeom prst="rect">
            <a:avLst/>
          </a:prstGeom>
          <a:noFill/>
        </p:spPr>
        <p:txBody>
          <a:bodyPr wrap="square">
            <a:spAutoFit/>
          </a:bodyPr>
          <a:lstStyle/>
          <a:p>
            <a:pPr algn="ctr"/>
            <a:r>
              <a:rPr sz="1600" b="1">
                <a:solidFill>
                  <a:srgbClr val="FBBF24"/>
                </a:solidFill>
              </a:rPr>
              <a:t>Anticipated Questions</a:t>
            </a:r>
          </a:p>
        </p:txBody>
      </p:sp>
      <p:sp>
        <p:nvSpPr>
          <p:cNvPr id="7" name="Rectangle 6"/>
          <p:cNvSpPr/>
          <p:nvPr/>
        </p:nvSpPr>
        <p:spPr>
          <a:xfrm>
            <a:off x="457200" y="4160520"/>
            <a:ext cx="5577840" cy="105156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233672"/>
            <a:ext cx="5303520" cy="365760"/>
          </a:xfrm>
          <a:prstGeom prst="rect">
            <a:avLst/>
          </a:prstGeom>
          <a:noFill/>
        </p:spPr>
        <p:txBody>
          <a:bodyPr wrap="square">
            <a:spAutoFit/>
          </a:bodyPr>
          <a:lstStyle/>
          <a:p>
            <a:pPr algn="l"/>
            <a:r>
              <a:rPr sz="1200" b="1">
                <a:solidFill>
                  <a:srgbClr val="38BDF8"/>
                </a:solidFill>
              </a:rPr>
              <a:t>Q: Why sessions over JWTs?</a:t>
            </a:r>
          </a:p>
        </p:txBody>
      </p:sp>
      <p:sp>
        <p:nvSpPr>
          <p:cNvPr id="9" name="TextBox 8"/>
          <p:cNvSpPr txBox="1"/>
          <p:nvPr/>
        </p:nvSpPr>
        <p:spPr>
          <a:xfrm>
            <a:off x="594360" y="4617720"/>
            <a:ext cx="5303520" cy="548640"/>
          </a:xfrm>
          <a:prstGeom prst="rect">
            <a:avLst/>
          </a:prstGeom>
          <a:noFill/>
        </p:spPr>
        <p:txBody>
          <a:bodyPr wrap="square">
            <a:spAutoFit/>
          </a:bodyPr>
          <a:lstStyle/>
          <a:p>
            <a:pPr algn="l"/>
            <a:r>
              <a:rPr sz="1000" b="0">
                <a:solidFill>
                  <a:srgbClr val="FFFFFF"/>
                </a:solidFill>
              </a:rPr>
              <a:t>Instant revocation on logout — JWTs can't be invalidated without a blocklist. One extra DB read per auth check is acceptable with indexed token column.</a:t>
            </a:r>
          </a:p>
        </p:txBody>
      </p:sp>
      <p:sp>
        <p:nvSpPr>
          <p:cNvPr id="10" name="Rectangle 9"/>
          <p:cNvSpPr/>
          <p:nvPr/>
        </p:nvSpPr>
        <p:spPr>
          <a:xfrm>
            <a:off x="6309360" y="4160520"/>
            <a:ext cx="5577840" cy="105156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4233672"/>
            <a:ext cx="5303520" cy="365760"/>
          </a:xfrm>
          <a:prstGeom prst="rect">
            <a:avLst/>
          </a:prstGeom>
          <a:noFill/>
        </p:spPr>
        <p:txBody>
          <a:bodyPr wrap="square">
            <a:spAutoFit/>
          </a:bodyPr>
          <a:lstStyle/>
          <a:p>
            <a:pPr algn="l"/>
            <a:r>
              <a:rPr sz="1200" b="1">
                <a:solidFill>
                  <a:srgbClr val="38BDF8"/>
                </a:solidFill>
              </a:rPr>
              <a:t>Q: What was your biggest struggle?</a:t>
            </a:r>
          </a:p>
        </p:txBody>
      </p:sp>
      <p:sp>
        <p:nvSpPr>
          <p:cNvPr id="12" name="TextBox 11"/>
          <p:cNvSpPr txBox="1"/>
          <p:nvPr/>
        </p:nvSpPr>
        <p:spPr>
          <a:xfrm>
            <a:off x="6446520" y="4617720"/>
            <a:ext cx="5303520" cy="548640"/>
          </a:xfrm>
          <a:prstGeom prst="rect">
            <a:avLst/>
          </a:prstGeom>
          <a:noFill/>
        </p:spPr>
        <p:txBody>
          <a:bodyPr wrap="square">
            <a:spAutoFit/>
          </a:bodyPr>
          <a:lstStyle/>
          <a:p>
            <a:pPr algn="l"/>
            <a:r>
              <a:rPr sz="1000" b="0">
                <a:solidFill>
                  <a:srgbClr val="FFFFFF"/>
                </a:solidFill>
              </a:rPr>
              <a:t>Deployment. Railway build failures, CORS preflight rejections with Vercel, DB URL confusion (internal vs external). AI couldn't help much here — manual trial and error.</a:t>
            </a:r>
          </a:p>
        </p:txBody>
      </p:sp>
      <p:sp>
        <p:nvSpPr>
          <p:cNvPr id="13" name="Rectangle 12"/>
          <p:cNvSpPr/>
          <p:nvPr/>
        </p:nvSpPr>
        <p:spPr>
          <a:xfrm>
            <a:off x="457200" y="5303520"/>
            <a:ext cx="5577840" cy="105156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5376672"/>
            <a:ext cx="5303520" cy="365760"/>
          </a:xfrm>
          <a:prstGeom prst="rect">
            <a:avLst/>
          </a:prstGeom>
          <a:noFill/>
        </p:spPr>
        <p:txBody>
          <a:bodyPr wrap="square">
            <a:spAutoFit/>
          </a:bodyPr>
          <a:lstStyle/>
          <a:p>
            <a:pPr algn="l"/>
            <a:r>
              <a:rPr sz="1200" b="1">
                <a:solidFill>
                  <a:srgbClr val="38BDF8"/>
                </a:solidFill>
              </a:rPr>
              <a:t>Q: How did you use 3 different AI tools?</a:t>
            </a:r>
          </a:p>
        </p:txBody>
      </p:sp>
      <p:sp>
        <p:nvSpPr>
          <p:cNvPr id="15" name="TextBox 14"/>
          <p:cNvSpPr txBox="1"/>
          <p:nvPr/>
        </p:nvSpPr>
        <p:spPr>
          <a:xfrm>
            <a:off x="594360" y="5760720"/>
            <a:ext cx="5303520" cy="548640"/>
          </a:xfrm>
          <a:prstGeom prst="rect">
            <a:avLst/>
          </a:prstGeom>
          <a:noFill/>
        </p:spPr>
        <p:txBody>
          <a:bodyPr wrap="square">
            <a:spAutoFit/>
          </a:bodyPr>
          <a:lstStyle/>
          <a:p>
            <a:pPr algn="l"/>
            <a:r>
              <a:rPr sz="1000" b="0">
                <a:solidFill>
                  <a:srgbClr val="FFFFFF"/>
                </a:solidFill>
              </a:rPr>
              <a:t>Gemini for ideation + requirements, ChatGPT to engineer a precise build prompt, Copilot/Claude to implement. Each tool chosen for its strength. I reviewed everything.</a:t>
            </a:r>
          </a:p>
        </p:txBody>
      </p:sp>
      <p:sp>
        <p:nvSpPr>
          <p:cNvPr id="16" name="Rectangle 15"/>
          <p:cNvSpPr/>
          <p:nvPr/>
        </p:nvSpPr>
        <p:spPr>
          <a:xfrm>
            <a:off x="6309360" y="5303520"/>
            <a:ext cx="5577840" cy="105156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5376672"/>
            <a:ext cx="5303520" cy="365760"/>
          </a:xfrm>
          <a:prstGeom prst="rect">
            <a:avLst/>
          </a:prstGeom>
          <a:noFill/>
        </p:spPr>
        <p:txBody>
          <a:bodyPr wrap="square">
            <a:spAutoFit/>
          </a:bodyPr>
          <a:lstStyle/>
          <a:p>
            <a:pPr algn="l"/>
            <a:r>
              <a:rPr sz="1200" b="1">
                <a:solidFill>
                  <a:srgbClr val="38BDF8"/>
                </a:solidFill>
              </a:rPr>
              <a:t>Q: How do you handle 500k+ records?</a:t>
            </a:r>
          </a:p>
        </p:txBody>
      </p:sp>
      <p:sp>
        <p:nvSpPr>
          <p:cNvPr id="18" name="TextBox 17"/>
          <p:cNvSpPr txBox="1"/>
          <p:nvPr/>
        </p:nvSpPr>
        <p:spPr>
          <a:xfrm>
            <a:off x="6446520" y="5760720"/>
            <a:ext cx="5303520" cy="548640"/>
          </a:xfrm>
          <a:prstGeom prst="rect">
            <a:avLst/>
          </a:prstGeom>
          <a:noFill/>
        </p:spPr>
        <p:txBody>
          <a:bodyPr wrap="square">
            <a:spAutoFit/>
          </a:bodyPr>
          <a:lstStyle/>
          <a:p>
            <a:pPr algn="l"/>
            <a:r>
              <a:rPr sz="1000" b="0">
                <a:solidFill>
                  <a:srgbClr val="FFFFFF"/>
                </a:solidFill>
              </a:rPr>
              <a:t>7 indexes on filter columns for fast queries. Batch import (500/batch) with streaming CSV parser. In-DB aggregation for heatmap, in-app for trend calculations.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